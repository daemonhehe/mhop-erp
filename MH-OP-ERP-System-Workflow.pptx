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410f44cbab64c34" /><Relationship Type="http://schemas.openxmlformats.org/officeDocument/2006/relationships/extended-properties" Target="/docProps/app.xml" Id="R05343a737bbc4e08" /><Relationship Type="http://schemas.openxmlformats.org/officeDocument/2006/relationships/officeDocument" Target="/ppt/presentation.xml" Id="R905232978fe74b81" /></Relationships>
</file>

<file path=ppt/presentation.xml><?xml version="1.0" encoding="utf-8"?>
<p:presentation xmlns:p="http://schemas.openxmlformats.org/presentationml/2006/main">
  <p:sldMasterIdLst>
    <p:sldMasterId xmlns:r="http://schemas.openxmlformats.org/officeDocument/2006/relationships" id="2147483648" r:id="Rcca14b0f0e2845f7"/>
  </p:sldMasterIdLst>
  <p:notesMasterIdLst>
    <p:notesMasterId xmlns:r="http://schemas.openxmlformats.org/officeDocument/2006/relationships" r:id="Ra57dd30215404a9d"/>
  </p:notesMasterIdLst>
  <p:sldIdLst>
    <p:sldId xmlns:r="http://schemas.openxmlformats.org/officeDocument/2006/relationships" id="256" r:id="Rc01498cd200e4f09"/>
    <p:sldId xmlns:r="http://schemas.openxmlformats.org/officeDocument/2006/relationships" id="257" r:id="R3ddef9635c084ac7"/>
    <p:sldId xmlns:r="http://schemas.openxmlformats.org/officeDocument/2006/relationships" id="258" r:id="R4393cae73be14ad8"/>
    <p:sldId xmlns:r="http://schemas.openxmlformats.org/officeDocument/2006/relationships" id="259" r:id="R69694f7895684ac5"/>
    <p:sldId xmlns:r="http://schemas.openxmlformats.org/officeDocument/2006/relationships" id="260" r:id="R2fbc8b28974147fa"/>
    <p:sldId xmlns:r="http://schemas.openxmlformats.org/officeDocument/2006/relationships" id="261" r:id="R05a8599388a4423c"/>
    <p:sldId xmlns:r="http://schemas.openxmlformats.org/officeDocument/2006/relationships" id="262" r:id="R944e92490a8e457c"/>
    <p:sldId xmlns:r="http://schemas.openxmlformats.org/officeDocument/2006/relationships" id="263" r:id="R0b8a9e53a5794bba"/>
    <p:sldId xmlns:r="http://schemas.openxmlformats.org/officeDocument/2006/relationships" id="264" r:id="R539f63af752744b2"/>
    <p:sldId xmlns:r="http://schemas.openxmlformats.org/officeDocument/2006/relationships" id="265" r:id="R67c68d3f4bf14680"/>
    <p:sldId xmlns:r="http://schemas.openxmlformats.org/officeDocument/2006/relationships" id="266" r:id="R0a1a9ebfa51d4810"/>
    <p:sldId xmlns:r="http://schemas.openxmlformats.org/officeDocument/2006/relationships" id="267" r:id="R870fe29ff800431a"/>
    <p:sldId xmlns:r="http://schemas.openxmlformats.org/officeDocument/2006/relationships" id="268" r:id="R782db56fff114be6"/>
    <p:sldId xmlns:r="http://schemas.openxmlformats.org/officeDocument/2006/relationships" id="269" r:id="Rf57d5ab551494723"/>
    <p:sldId xmlns:r="http://schemas.openxmlformats.org/officeDocument/2006/relationships" id="270" r:id="R4c07bf91da6f4f06"/>
    <p:sldId xmlns:r="http://schemas.openxmlformats.org/officeDocument/2006/relationships" id="271" r:id="R8bd7d1b5ccbe441e"/>
    <p:sldId xmlns:r="http://schemas.openxmlformats.org/officeDocument/2006/relationships" id="272" r:id="R8ab50c66c2b74509"/>
    <p:sldId xmlns:r="http://schemas.openxmlformats.org/officeDocument/2006/relationships" id="273" r:id="Rfcc1a13817f7432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ab18be7f1fe424b" /><Relationship Type="http://schemas.openxmlformats.org/officeDocument/2006/relationships/slideMaster" Target="/ppt/slideMasters/slideMaster1.xml" Id="Rcca14b0f0e2845f7" /><Relationship Type="http://schemas.openxmlformats.org/officeDocument/2006/relationships/notesMaster" Target="/ppt/notesMasters/notesMaster1.xml" Id="Ra57dd30215404a9d" /><Relationship Type="http://schemas.openxmlformats.org/officeDocument/2006/relationships/presProps" Target="/ppt/presProps.xml" Id="Ree7f8d0fc9084e14" /><Relationship Type="http://schemas.openxmlformats.org/officeDocument/2006/relationships/tableStyles" Target="/ppt/tableStyles.xml" Id="Rfb5bb27380de43ac" /><Relationship Type="http://schemas.openxmlformats.org/officeDocument/2006/relationships/slide" Target="/ppt/slides/slide1.xml" Id="Rc01498cd200e4f09" /><Relationship Type="http://schemas.openxmlformats.org/officeDocument/2006/relationships/slide" Target="/ppt/slides/slide2.xml" Id="R3ddef9635c084ac7" /><Relationship Type="http://schemas.openxmlformats.org/officeDocument/2006/relationships/slide" Target="/ppt/slides/slide3.xml" Id="R4393cae73be14ad8" /><Relationship Type="http://schemas.openxmlformats.org/officeDocument/2006/relationships/slide" Target="/ppt/slides/slide4.xml" Id="R69694f7895684ac5" /><Relationship Type="http://schemas.openxmlformats.org/officeDocument/2006/relationships/slide" Target="/ppt/slides/slide5.xml" Id="R2fbc8b28974147fa" /><Relationship Type="http://schemas.openxmlformats.org/officeDocument/2006/relationships/slide" Target="/ppt/slides/slide6.xml" Id="R05a8599388a4423c" /><Relationship Type="http://schemas.openxmlformats.org/officeDocument/2006/relationships/slide" Target="/ppt/slides/slide7.xml" Id="R944e92490a8e457c" /><Relationship Type="http://schemas.openxmlformats.org/officeDocument/2006/relationships/slide" Target="/ppt/slides/slide8.xml" Id="R0b8a9e53a5794bba" /><Relationship Type="http://schemas.openxmlformats.org/officeDocument/2006/relationships/slide" Target="/ppt/slides/slide9.xml" Id="R539f63af752744b2" /><Relationship Type="http://schemas.openxmlformats.org/officeDocument/2006/relationships/slide" Target="/ppt/slides/slide10.xml" Id="R67c68d3f4bf14680" /><Relationship Type="http://schemas.openxmlformats.org/officeDocument/2006/relationships/slide" Target="/ppt/slides/slide11.xml" Id="R0a1a9ebfa51d4810" /><Relationship Type="http://schemas.openxmlformats.org/officeDocument/2006/relationships/slide" Target="/ppt/slides/slide12.xml" Id="R870fe29ff800431a" /><Relationship Type="http://schemas.openxmlformats.org/officeDocument/2006/relationships/slide" Target="/ppt/slides/slide13.xml" Id="R782db56fff114be6" /><Relationship Type="http://schemas.openxmlformats.org/officeDocument/2006/relationships/slide" Target="/ppt/slides/slide14.xml" Id="Rf57d5ab551494723" /><Relationship Type="http://schemas.openxmlformats.org/officeDocument/2006/relationships/slide" Target="/ppt/slides/slide15.xml" Id="R4c07bf91da6f4f06" /><Relationship Type="http://schemas.openxmlformats.org/officeDocument/2006/relationships/slide" Target="/ppt/slides/slide16.xml" Id="R8bd7d1b5ccbe441e" /><Relationship Type="http://schemas.openxmlformats.org/officeDocument/2006/relationships/slide" Target="/ppt/slides/slide17.xml" Id="R8ab50c66c2b74509" /><Relationship Type="http://schemas.openxmlformats.org/officeDocument/2006/relationships/slide" Target="/ppt/slides/slide18.xml" Id="Rfcc1a13817f7432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35174624c9945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1fb44b3878d498d" /><Relationship Type="http://schemas.openxmlformats.org/officeDocument/2006/relationships/notesMaster" Target="/ppt/notesMasters/notesMaster1.xml" Id="R55cdc4d7ddac4c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d1d371b84a23427a" /><Relationship Type="http://schemas.openxmlformats.org/officeDocument/2006/relationships/notesMaster" Target="/ppt/notesMasters/notesMaster1.xml" Id="Rdf232b2cbc494de3" /></Relationships>
</file>

<file path=ppt/notesSlides/_rels/notesSlide3.xml.rels>&#65279;<?xml version="1.0" encoding="utf-8"?><Relationships xmlns="http://schemas.openxmlformats.org/package/2006/relationships"><Relationship Type="http://schemas.openxmlformats.org/officeDocument/2006/relationships/slide" Target="/ppt/slides/slide3.xml" Id="R3c92b781c4dd4012" /><Relationship Type="http://schemas.openxmlformats.org/officeDocument/2006/relationships/notesMaster" Target="/ppt/notesMasters/notesMaster1.xml" Id="R8df22198630049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a7b390a0e54c4885" /><Relationship Type="http://schemas.openxmlformats.org/officeDocument/2006/relationships/notesMaster" Target="/ppt/notesMasters/notesMaster1.xml" Id="R723b362d58654fdf" /></Relationships>
</file>

<file path=ppt/notesSlides/_rels/notesSlide5.xml.rels>&#65279;<?xml version="1.0" encoding="utf-8"?><Relationships xmlns="http://schemas.openxmlformats.org/package/2006/relationships"><Relationship Type="http://schemas.openxmlformats.org/officeDocument/2006/relationships/slide" Target="/ppt/slides/slide5.xml" Id="Rccac736f5e1a4deb" /><Relationship Type="http://schemas.openxmlformats.org/officeDocument/2006/relationships/notesMaster" Target="/ppt/notesMasters/notesMaster1.xml" Id="R5eeff59aca9f484c" /></Relationships>
</file>

<file path=ppt/notesSlides/_rels/notesSlide6.xml.rels>&#65279;<?xml version="1.0" encoding="utf-8"?><Relationships xmlns="http://schemas.openxmlformats.org/package/2006/relationships"><Relationship Type="http://schemas.openxmlformats.org/officeDocument/2006/relationships/slide" Target="/ppt/slides/slide6.xml" Id="R4d4c778bdc19476d" /><Relationship Type="http://schemas.openxmlformats.org/officeDocument/2006/relationships/notesMaster" Target="/ppt/notesMasters/notesMaster1.xml" Id="R5420cb9c0153401f" /></Relationships>
</file>

<file path=ppt/notesSlides/_rels/notesSlide7.xml.rels>&#65279;<?xml version="1.0" encoding="utf-8"?><Relationships xmlns="http://schemas.openxmlformats.org/package/2006/relationships"><Relationship Type="http://schemas.openxmlformats.org/officeDocument/2006/relationships/slide" Target="/ppt/slides/slide7.xml" Id="Rcffeba496f154782" /><Relationship Type="http://schemas.openxmlformats.org/officeDocument/2006/relationships/notesMaster" Target="/ppt/notesMasters/notesMaster1.xml" Id="R5b7047d7d1644477" /></Relationships>
</file>

<file path=ppt/notesSlides/_rels/notesSlide8.xml.rels>&#65279;<?xml version="1.0" encoding="utf-8"?><Relationships xmlns="http://schemas.openxmlformats.org/package/2006/relationships"><Relationship Type="http://schemas.openxmlformats.org/officeDocument/2006/relationships/slide" Target="/ppt/slides/slide8.xml" Id="Rf161d0fc9a974c2e" /><Relationship Type="http://schemas.openxmlformats.org/officeDocument/2006/relationships/notesMaster" Target="/ppt/notesMasters/notesMaster1.xml" Id="R1b44884e01e146de" /></Relationships>
</file>

<file path=ppt/notesSlides/_rels/notesSlide9.xml.rels>&#65279;<?xml version="1.0" encoding="utf-8"?><Relationships xmlns="http://schemas.openxmlformats.org/package/2006/relationships"><Relationship Type="http://schemas.openxmlformats.org/officeDocument/2006/relationships/slide" Target="/ppt/slides/slide9.xml" Id="Re124256806964234" /><Relationship Type="http://schemas.openxmlformats.org/officeDocument/2006/relationships/notesMaster" Target="/ppt/notesMasters/notesMaster1.xml" Id="R33657ecf2a8442c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8f11b4b121c4a0f" /><Relationship Type="http://schemas.openxmlformats.org/officeDocument/2006/relationships/notesMaster" Target="/ppt/notesMasters/notesMaster1.xml" Id="Rd0e532b4e4bb459e"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edf181580f141a7" /><Relationship Type="http://schemas.openxmlformats.org/officeDocument/2006/relationships/notesMaster" Target="/ppt/notesMasters/notesMaster1.xml" Id="Rd61512419a3b41d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6875234b6c4b98" /><Relationship Type="http://schemas.openxmlformats.org/officeDocument/2006/relationships/notesMaster" Target="/ppt/notesMasters/notesMaster1.xml" Id="R6d21f80f9efe424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b336bc1dc1499b" /><Relationship Type="http://schemas.openxmlformats.org/officeDocument/2006/relationships/notesMaster" Target="/ppt/notesMasters/notesMaster1.xml" Id="R7b79da4958134ade"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f4f5b91c88c4d5b" /><Relationship Type="http://schemas.openxmlformats.org/officeDocument/2006/relationships/notesMaster" Target="/ppt/notesMasters/notesMaster1.xml" Id="Rcb17d6afd082459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b2c75b378854734" /><Relationship Type="http://schemas.openxmlformats.org/officeDocument/2006/relationships/notesMaster" Target="/ppt/notesMasters/notesMaster1.xml" Id="R34270e8e02354394"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2332a0b5b4fb4206" /><Relationship Type="http://schemas.openxmlformats.org/officeDocument/2006/relationships/notesMaster" Target="/ppt/notesMasters/notesMaster1.xml" Id="R10838cb3546148d5"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8b1eb67648e4924" /><Relationship Type="http://schemas.openxmlformats.org/officeDocument/2006/relationships/notesMaster" Target="/ppt/notesMasters/notesMaster1.xml" Id="R0e012219a767429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372b18ff3e44f03" /><Relationship Type="http://schemas.openxmlformats.org/officeDocument/2006/relationships/notesMaster" Target="/ppt/notesMasters/notesMaster1.xml" Id="Ra9f7da4ecf244b8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 by positioning the platform as the operating system for the whole MH OP business—not only an admin dashboard. It connects sales, stock, customer service, finance and automation around one database.</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customers and staff see different surfaces, but they do not create disconnected records. The shared database prevents different departments from maintaining competing spreadsheets.</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left to right. Emphasize the control points: price is taken from the database, payment is manually verified, inventory is reserved transactionally, and after-sales resolutions are not kept in a separate notebook.</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Products and variants control catalog presentation and pricing. Physical accessories can be quantity-based; high-value units can carry serial records. PUBG availability comes from the Account Vault so each sellable account is tracked individually.</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digital branch of fulfillment. The system tracks the account as inventory without exposing credentials. A digital-only order bypasses shipping and delivery-fee calculation.</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a gaming kit example. A bundle is a commercial offer, not a separate inventory pile. Its availability is always calculated from the underlying items.</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storefront helps customers decide without revealing operational data. Product price and availability come from the same records staff manage; the customer does not see internal quantities or cost prices.</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customer is not re-created for every order. The phone number and Telegram user ID allow sales, support and automation to work from the same history. Leads provide a visible recovery pipeline.</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that the browser cannot invent a cheaper price. The server calculates totals and reserves inventory in a single database transaction, preventing partial orders and overselling.</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not describe slip upload as automatic bank confirmation. The system organizes evidence and workflow; a staff member approves only after checking the provider account.</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Show the two fulfillment branches. Physical products can have serial or quantity stock and need delivery. PUBG accounts use an account record and secure rebind handover, without courier logic.</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professional receipt is a view of the order record, so staff do not manually rebuild it. The same source supports full vouchers and thermal printing.</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more than a ticket list. Eligibility is validated, inspection changes the unit state, and each resolution has an operational effect. Replacement consumes stock; refund affects the order and finance; warranty cost is recorded.</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purchase order is a commitment, not available inventory. Stock changes only after staff physically check and receive the goods. The receive action updates PO status, stock and latest cost together.</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Separate Command Center from ERP: the dashboard is the daily operational summary; ERP is the underlying purchasing, cost, expense and profitability workspace. No delivery batch profit logic is included.</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Automation communicates and routes work; it does not approve payments or override inventory controls. Webhooks are signed and internal adapters require bearer authentication.</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Studio does not generate an image inside the ERP. It uses the existing catalog photo and builds disciplined art direction for external image tools. This keeps costs optional and avoids inventing physical details.</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Close with ownership. Confirm production database setup, real credentials, webhook configuration, backups and acceptance testing before launch. The final goal is not more screens—it is one reliable workflow for the business.</a:t>
            </a:r>
          </a:p>
          <a:p xmlns:a="http://schemas.openxmlformats.org/drawingml/2006/main">
            <a:r>
              <a:t/>
            </a:r>
          </a:p>
          <a:p xmlns:a="http://schemas.openxmlformats.org/drawingml/2006/main">
            <a:r>
              <a:t>[Sources]</a:t>
            </a:r>
          </a:p>
          <a:p xmlns:a="http://schemas.openxmlformats.org/drawingml/2006/main">
            <a:r>
              <a:t>- Local system source: README.md</a:t>
            </a:r>
          </a:p>
          <a:p xmlns:a="http://schemas.openxmlformats.org/drawingml/2006/main">
            <a:r>
              <a:t>- Local operating guide: USER_MANUAL.md</a:t>
            </a:r>
          </a:p>
          <a:p xmlns:a="http://schemas.openxmlformats.org/drawingml/2006/main">
            <a:r>
              <a:t>- Client rules: lib/client-config.ts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b98b584b448428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462d2de2d7d4c6d" /><Relationship Type="http://schemas.openxmlformats.org/officeDocument/2006/relationships/slideLayout" Target="/ppt/slideLayouts/slideLayout1.xml" Id="R00549a9253dd4de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0549a9253dd4de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257c99ec9163446a" /><Relationship Type="http://schemas.openxmlformats.org/officeDocument/2006/relationships/notesSlide" Target="/ppt/notesSlides/notesSlide1.xml" Id="R88a96e97558644f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7f6712ff0f143b5" /><Relationship Type="http://schemas.openxmlformats.org/officeDocument/2006/relationships/notesSlide" Target="/ppt/notesSlides/notesSlide2.xml" Id="Rf576b62894ce4ab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e0b374e33f149be" /><Relationship Type="http://schemas.openxmlformats.org/officeDocument/2006/relationships/notesSlide" Target="/ppt/notesSlides/notesSlide3.xml" Id="R311ffa37e8b14c24"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3c5a3457468243e1" /><Relationship Type="http://schemas.openxmlformats.org/officeDocument/2006/relationships/notesSlide" Target="/ppt/notesSlides/notesSlide4.xml" Id="Rc6b607194d8a4624"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fb6fcedf7c38487e" /><Relationship Type="http://schemas.openxmlformats.org/officeDocument/2006/relationships/notesSlide" Target="/ppt/notesSlides/notesSlide5.xml" Id="R846a3ffca80b45f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68b07a3dde4b4899" /><Relationship Type="http://schemas.openxmlformats.org/officeDocument/2006/relationships/notesSlide" Target="/ppt/notesSlides/notesSlide6.xml" Id="R6ce151b7945841b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6bc8a90a97e44c6" /><Relationship Type="http://schemas.openxmlformats.org/officeDocument/2006/relationships/notesSlide" Target="/ppt/notesSlides/notesSlide7.xml" Id="R95be1f220a2647a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56896f4783024b6d" /><Relationship Type="http://schemas.openxmlformats.org/officeDocument/2006/relationships/notesSlide" Target="/ppt/notesSlides/notesSlide8.xml" Id="Rc7acc64a7a194d1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2e3bbc6d859b4804" /><Relationship Type="http://schemas.openxmlformats.org/officeDocument/2006/relationships/notesSlide" Target="/ppt/notesSlides/notesSlide9.xml" Id="R2e7fd107c2ad4fe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1e534e5dce9a456e" /><Relationship Type="http://schemas.openxmlformats.org/officeDocument/2006/relationships/notesSlide" Target="/ppt/notesSlides/notesSlide10.xml" Id="R50f5a6a1658b46e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f447ceec3da4aeb" /><Relationship Type="http://schemas.openxmlformats.org/officeDocument/2006/relationships/notesSlide" Target="/ppt/notesSlides/notesSlide11.xml" Id="R868e4102f1194e4f"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86603553128d4594" /><Relationship Type="http://schemas.openxmlformats.org/officeDocument/2006/relationships/notesSlide" Target="/ppt/notesSlides/notesSlide12.xml" Id="R782ea02f4beb4b1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7899b106fa645a7" /><Relationship Type="http://schemas.openxmlformats.org/officeDocument/2006/relationships/notesSlide" Target="/ppt/notesSlides/notesSlide13.xml" Id="Rbbea2ac7d9f446cb"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007f08b124b4def" /><Relationship Type="http://schemas.openxmlformats.org/officeDocument/2006/relationships/notesSlide" Target="/ppt/notesSlides/notesSlide14.xml" Id="R30c591de935f456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835ae604e3a43a6" /><Relationship Type="http://schemas.openxmlformats.org/officeDocument/2006/relationships/notesSlide" Target="/ppt/notesSlides/notesSlide15.xml" Id="R93da3bbd647544e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1cdafae12fc4e6b" /><Relationship Type="http://schemas.openxmlformats.org/officeDocument/2006/relationships/notesSlide" Target="/ppt/notesSlides/notesSlide16.xml" Id="Rf198f07947a74f9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035674472a74784" /><Relationship Type="http://schemas.openxmlformats.org/officeDocument/2006/relationships/notesSlide" Target="/ppt/notesSlides/notesSlide17.xml" Id="Rd208f8eeed374911"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99ff3c1687204749" /><Relationship Type="http://schemas.openxmlformats.org/officeDocument/2006/relationships/notesSlide" Target="/ppt/notesSlides/notesSlide18.xml" Id="Rfbfe41dbd09e4f8e"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BBFFE4CD-1C47-4637-9173-8F56097953D4}"/>
              </a:ext>
            </a:extLst>
          </p:cNvPr>
          <p:cNvSpPr>
            <a:spLocks xmlns:a="http://schemas.openxmlformats.org/drawingml/2006/main" noGrp="1"/>
          </p:cNvSpPr>
          <p:nvPr/>
        </p:nvSpPr>
        <p:spPr>
          <a:xfrm xmlns:a="http://schemas.openxmlformats.org/drawingml/2006/main">
            <a:off x="400050" y="361950"/>
            <a:ext cx="14097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CLIENT HANDOVER</a:t>
            </a:r>
          </a:p>
        </p:txBody>
      </p:sp>
      <p:sp>
        <p:nvSpPr>
          <p:cNvPr id="2" name="">
            <a:extLst xmlns:a="http://schemas.openxmlformats.org/drawingml/2006/main">
              <a:ext uri="{FF2B5EF4-FFF2-40B4-BE49-F238E27FC236}">
                <a16:creationId xmlns:a16="http://schemas.microsoft.com/office/drawing/2014/main" id="{B3173E06-CBFD-44F1-989A-BD502CBB3D64}"/>
              </a:ext>
            </a:extLst>
          </p:cNvPr>
          <p:cNvSpPr>
            <a:spLocks xmlns:a="http://schemas.openxmlformats.org/drawingml/2006/main" noGrp="1"/>
          </p:cNvSpPr>
          <p:nvPr/>
        </p:nvSpPr>
        <p:spPr>
          <a:xfrm xmlns:a="http://schemas.openxmlformats.org/drawingml/2006/main">
            <a:off x="400050" y="1676400"/>
            <a:ext cx="8858250" cy="1885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4950" b="1">
                <a:solidFill>
                  <a:srgbClr val="101010"/>
                </a:solidFill>
                <a:latin typeface="Helvetica Neue"/>
                <a:ea typeface="Helvetica Neue"/>
                <a:cs typeface="Helvetica Neue"/>
              </a:defRPr>
            </a:pPr>
            <a:r>
              <a:rPr sz="4950" b="1">
                <a:solidFill>
                  <a:srgbClr val="101010"/>
                </a:solidFill>
                <a:latin typeface="Helvetica Neue"/>
                <a:ea typeface="Helvetica Neue"/>
                <a:cs typeface="Helvetica Neue"/>
              </a:rPr>
              <a:t>MH OP Business</a:t>
            </a:r>
          </a:p>
          <a:p xmlns:a="http://schemas.openxmlformats.org/drawingml/2006/main">
            <a:pPr algn="l">
              <a:defRPr sz="4950" b="1">
                <a:solidFill>
                  <a:srgbClr val="101010"/>
                </a:solidFill>
                <a:latin typeface="Helvetica Neue"/>
                <a:ea typeface="Helvetica Neue"/>
                <a:cs typeface="Helvetica Neue"/>
              </a:defRPr>
            </a:pPr>
            <a:r>
              <a:rPr sz="4950" b="1">
                <a:solidFill>
                  <a:srgbClr val="101010"/>
                </a:solidFill>
                <a:latin typeface="Helvetica Neue"/>
                <a:ea typeface="Helvetica Neue"/>
                <a:cs typeface="Helvetica Neue"/>
              </a:rPr>
              <a:t>Operating System</a:t>
            </a:r>
          </a:p>
        </p:txBody>
      </p:sp>
      <p:sp>
        <p:nvSpPr>
          <p:cNvPr id="3" name="">
            <a:extLst xmlns:a="http://schemas.openxmlformats.org/drawingml/2006/main">
              <a:ext uri="{FF2B5EF4-FFF2-40B4-BE49-F238E27FC236}">
                <a16:creationId xmlns:a16="http://schemas.microsoft.com/office/drawing/2014/main" id="{829410ED-D1DE-4E78-8F9B-DED1A1E2AB05}"/>
              </a:ext>
            </a:extLst>
          </p:cNvPr>
          <p:cNvSpPr>
            <a:spLocks xmlns:a="http://schemas.openxmlformats.org/drawingml/2006/main" noGrp="1"/>
          </p:cNvSpPr>
          <p:nvPr/>
        </p:nvSpPr>
        <p:spPr>
          <a:xfrm xmlns:a="http://schemas.openxmlformats.org/drawingml/2006/main">
            <a:off x="400050" y="3962400"/>
            <a:ext cx="7239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0">
                <a:solidFill>
                  <a:srgbClr val="626262"/>
                </a:solidFill>
                <a:latin typeface="Helvetica Neue"/>
                <a:ea typeface="Helvetica Neue"/>
                <a:cs typeface="Helvetica Neue"/>
              </a:defRPr>
            </a:pPr>
            <a:r>
              <a:rPr sz="1875" b="0">
                <a:solidFill>
                  <a:srgbClr val="626262"/>
                </a:solidFill>
                <a:latin typeface="Helvetica Neue"/>
                <a:ea typeface="Helvetica Neue"/>
                <a:cs typeface="Helvetica Neue"/>
              </a:rPr>
              <a:t>End-to-end ERP, commerce and customer operations workflow</a:t>
            </a:r>
          </a:p>
        </p:txBody>
      </p:sp>
      <p:sp>
        <p:nvSpPr>
          <p:cNvPr id="4" name="">
            <a:extLst xmlns:a="http://schemas.openxmlformats.org/drawingml/2006/main">
              <a:ext uri="{FF2B5EF4-FFF2-40B4-BE49-F238E27FC236}">
                <a16:creationId xmlns:a16="http://schemas.microsoft.com/office/drawing/2014/main" id="{3132AA5D-1FD9-4760-A7C9-2E013495D165}"/>
              </a:ext>
            </a:extLst>
          </p:cNvPr>
          <p:cNvSpPr>
            <a:spLocks xmlns:a="http://schemas.openxmlformats.org/drawingml/2006/main" noGrp="1"/>
          </p:cNvSpPr>
          <p:nvPr/>
        </p:nvSpPr>
        <p:spPr>
          <a:xfrm xmlns:a="http://schemas.openxmlformats.org/drawingml/2006/main">
            <a:off x="8810625" y="1524000"/>
            <a:ext cx="2590800" cy="2590800"/>
          </a:xfrm>
          <a:prstGeom xmlns:a="http://schemas.openxmlformats.org/drawingml/2006/main" prst="roundRect">
            <a:avLst>
              <a:gd name="adj" fmla="val 11765"/>
            </a:avLst>
          </a:prstGeom>
          <a:solidFill xmlns:a="http://schemas.openxmlformats.org/drawingml/2006/main">
            <a:srgbClr val="171717"/>
          </a:solidFill>
          <a:ln xmlns:a="http://schemas.openxmlformats.org/drawingml/2006/main" w="9525">
            <a:solidFill>
              <a:srgbClr val="171717"/>
            </a:solidFill>
            <a:prstDash val="solid"/>
          </a:ln>
        </p:spPr>
      </p:sp>
      <p:sp>
        <p:nvSpPr>
          <p:cNvPr id="5" name="">
            <a:extLst xmlns:a="http://schemas.openxmlformats.org/drawingml/2006/main">
              <a:ext uri="{FF2B5EF4-FFF2-40B4-BE49-F238E27FC236}">
                <a16:creationId xmlns:a16="http://schemas.microsoft.com/office/drawing/2014/main" id="{0CA79B87-24E1-47DF-A1B2-1B2BC90CCB18}"/>
              </a:ext>
            </a:extLst>
          </p:cNvPr>
          <p:cNvSpPr>
            <a:spLocks xmlns:a="http://schemas.openxmlformats.org/drawingml/2006/main" noGrp="1"/>
          </p:cNvSpPr>
          <p:nvPr/>
        </p:nvSpPr>
        <p:spPr>
          <a:xfrm xmlns:a="http://schemas.openxmlformats.org/drawingml/2006/main">
            <a:off x="9124950" y="1924050"/>
            <a:ext cx="2000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ONE</a:t>
            </a:r>
          </a:p>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SOURCE</a:t>
            </a:r>
          </a:p>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OF TRUTH</a:t>
            </a:r>
          </a:p>
        </p:txBody>
      </p:sp>
      <p:sp>
        <p:nvSpPr>
          <p:cNvPr id="6" name="">
            <a:extLst xmlns:a="http://schemas.openxmlformats.org/drawingml/2006/main">
              <a:ext uri="{FF2B5EF4-FFF2-40B4-BE49-F238E27FC236}">
                <a16:creationId xmlns:a16="http://schemas.microsoft.com/office/drawing/2014/main" id="{439D662B-A291-4DD3-BD85-3782FD151C0C}"/>
              </a:ext>
            </a:extLst>
          </p:cNvPr>
          <p:cNvSpPr>
            <a:spLocks xmlns:a="http://schemas.openxmlformats.org/drawingml/2006/main" noGrp="1"/>
          </p:cNvSpPr>
          <p:nvPr/>
        </p:nvSpPr>
        <p:spPr>
          <a:xfrm xmlns:a="http://schemas.openxmlformats.org/drawingml/2006/main">
            <a:off x="9124950" y="3810000"/>
            <a:ext cx="99060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COMMERCE</a:t>
            </a:r>
          </a:p>
        </p:txBody>
      </p:sp>
      <p:sp>
        <p:nvSpPr>
          <p:cNvPr id="7" name="">
            <a:extLst xmlns:a="http://schemas.openxmlformats.org/drawingml/2006/main">
              <a:ext uri="{FF2B5EF4-FFF2-40B4-BE49-F238E27FC236}">
                <a16:creationId xmlns:a16="http://schemas.microsoft.com/office/drawing/2014/main" id="{83E87436-7980-44B9-9965-E8AD5D68CF0B}"/>
              </a:ext>
            </a:extLst>
          </p:cNvPr>
          <p:cNvSpPr>
            <a:spLocks xmlns:a="http://schemas.openxmlformats.org/drawingml/2006/main" noGrp="1"/>
          </p:cNvSpPr>
          <p:nvPr/>
        </p:nvSpPr>
        <p:spPr>
          <a:xfrm xmlns:a="http://schemas.openxmlformats.org/drawingml/2006/main">
            <a:off x="10229850" y="3810000"/>
            <a:ext cx="7239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ERP</a:t>
            </a:r>
          </a:p>
        </p:txBody>
      </p:sp>
      <p:sp>
        <p:nvSpPr>
          <p:cNvPr id="8" name="">
            <a:extLst xmlns:a="http://schemas.openxmlformats.org/drawingml/2006/main">
              <a:ext uri="{FF2B5EF4-FFF2-40B4-BE49-F238E27FC236}">
                <a16:creationId xmlns:a16="http://schemas.microsoft.com/office/drawing/2014/main" id="{2153EC4B-82D5-4E87-9CBB-5570A7E8C94A}"/>
              </a:ext>
            </a:extLst>
          </p:cNvPr>
          <p:cNvSpPr>
            <a:spLocks xmlns:a="http://schemas.openxmlformats.org/drawingml/2006/main" noGrp="1"/>
          </p:cNvSpPr>
          <p:nvPr/>
        </p:nvSpPr>
        <p:spPr>
          <a:xfrm xmlns:a="http://schemas.openxmlformats.org/drawingml/2006/main">
            <a:off x="400050" y="5962650"/>
            <a:ext cx="11010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9" name="">
            <a:extLst xmlns:a="http://schemas.openxmlformats.org/drawingml/2006/main">
              <a:ext uri="{FF2B5EF4-FFF2-40B4-BE49-F238E27FC236}">
                <a16:creationId xmlns:a16="http://schemas.microsoft.com/office/drawing/2014/main" id="{3711152B-372A-4362-AF1D-10FDDF09B093}"/>
              </a:ext>
            </a:extLst>
          </p:cNvPr>
          <p:cNvSpPr>
            <a:spLocks xmlns:a="http://schemas.openxmlformats.org/drawingml/2006/main" noGrp="1"/>
          </p:cNvSpPr>
          <p:nvPr/>
        </p:nvSpPr>
        <p:spPr>
          <a:xfrm xmlns:a="http://schemas.openxmlformats.org/drawingml/2006/main">
            <a:off x="400050" y="6191250"/>
            <a:ext cx="5715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defRPr sz="1125" b="0">
                <a:solidFill>
                  <a:srgbClr val="626262"/>
                </a:solidFill>
                <a:latin typeface="Helvetica Neue"/>
                <a:ea typeface="Helvetica Neue"/>
                <a:cs typeface="Helvetica Neue"/>
              </a:defRPr>
            </a:pPr>
            <a:r>
              <a:rPr sz="1125" b="0">
                <a:solidFill>
                  <a:srgbClr val="626262"/>
                </a:solidFill>
                <a:latin typeface="Helvetica Neue"/>
                <a:ea typeface="Helvetica Neue"/>
                <a:cs typeface="Helvetica Neue"/>
              </a:rPr>
              <a:t>Prepared for MH OP  •  Developed by Daemon</a:t>
            </a:r>
          </a:p>
        </p:txBody>
      </p:sp>
    </p:spTree>
    <p:extLst>
      <p:ext uri="{BB962C8B-B14F-4D97-AF65-F5344CB8AC3E}">
        <p14:creationId xmlns:p14="http://schemas.microsoft.com/office/powerpoint/2010/main" val="1676002903"/>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272BB984-E9AF-4C76-8E3D-08C45E87EE98}"/>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OPERATING MODEL</a:t>
            </a:r>
          </a:p>
        </p:txBody>
      </p:sp>
      <p:sp>
        <p:nvSpPr>
          <p:cNvPr id="2" name="">
            <a:extLst xmlns:a="http://schemas.openxmlformats.org/drawingml/2006/main">
              <a:ext uri="{FF2B5EF4-FFF2-40B4-BE49-F238E27FC236}">
                <a16:creationId xmlns:a16="http://schemas.microsoft.com/office/drawing/2014/main" id="{D2FFF91E-60DB-4671-9856-E74A5E9B7F31}"/>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One system, three operating surfaces</a:t>
            </a:r>
          </a:p>
        </p:txBody>
      </p:sp>
      <p:sp>
        <p:nvSpPr>
          <p:cNvPr id="3" name="">
            <a:extLst xmlns:a="http://schemas.openxmlformats.org/drawingml/2006/main">
              <a:ext uri="{FF2B5EF4-FFF2-40B4-BE49-F238E27FC236}">
                <a16:creationId xmlns:a16="http://schemas.microsoft.com/office/drawing/2014/main" id="{9C4A0936-7743-41C4-9EE5-137F7AEABE05}"/>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7C1131F9-40FA-421E-9BA5-1E5D37A98FDE}"/>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4AB039F-FA6B-4B28-AE13-D5CA3E2CA8A9}"/>
              </a:ext>
            </a:extLst>
          </p:cNvPr>
          <p:cNvSpPr>
            <a:spLocks xmlns:a="http://schemas.openxmlformats.org/drawingml/2006/main" noGrp="1"/>
          </p:cNvSpPr>
          <p:nvPr/>
        </p:nvSpPr>
        <p:spPr>
          <a:xfrm xmlns:a="http://schemas.openxmlformats.org/drawingml/2006/main">
            <a:off x="400050" y="1714500"/>
            <a:ext cx="3543300" cy="2647950"/>
          </a:xfrm>
          <a:prstGeom xmlns:a="http://schemas.openxmlformats.org/drawingml/2006/main" prst="roundRect">
            <a:avLst>
              <a:gd name="adj" fmla="val 6475"/>
            </a:avLst>
          </a:prstGeom>
          <a:solidFill xmlns:a="http://schemas.openxmlformats.org/drawingml/2006/main">
            <a:srgbClr val="F3F3F1"/>
          </a:solidFill>
          <a:ln xmlns:a="http://schemas.openxmlformats.org/drawingml/2006/main" w="9525">
            <a:solidFill>
              <a:srgbClr val="D9D9D5"/>
            </a:solidFill>
            <a:prstDash val="solid"/>
          </a:ln>
        </p:spPr>
      </p:sp>
      <p:sp>
        <p:nvSpPr>
          <p:cNvPr id="6" name="">
            <a:extLst xmlns:a="http://schemas.openxmlformats.org/drawingml/2006/main">
              <a:ext uri="{FF2B5EF4-FFF2-40B4-BE49-F238E27FC236}">
                <a16:creationId xmlns:a16="http://schemas.microsoft.com/office/drawing/2014/main" id="{66F76409-53F0-4DF8-8768-A7BCC4668551}"/>
              </a:ext>
            </a:extLst>
          </p:cNvPr>
          <p:cNvSpPr>
            <a:spLocks xmlns:a="http://schemas.openxmlformats.org/drawingml/2006/main" noGrp="1"/>
          </p:cNvSpPr>
          <p:nvPr/>
        </p:nvSpPr>
        <p:spPr>
          <a:xfrm xmlns:a="http://schemas.openxmlformats.org/drawingml/2006/main">
            <a:off x="628650" y="1943100"/>
            <a:ext cx="51435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D810DFAA-3B6D-4B78-BD39-FD0C90D913F0}"/>
              </a:ext>
            </a:extLst>
          </p:cNvPr>
          <p:cNvSpPr>
            <a:spLocks xmlns:a="http://schemas.openxmlformats.org/drawingml/2006/main" noGrp="1"/>
          </p:cNvSpPr>
          <p:nvPr/>
        </p:nvSpPr>
        <p:spPr>
          <a:xfrm xmlns:a="http://schemas.openxmlformats.org/drawingml/2006/main">
            <a:off x="628650" y="247650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01010"/>
                </a:solidFill>
                <a:latin typeface="Helvetica Neue"/>
                <a:ea typeface="Helvetica Neue"/>
                <a:cs typeface="Helvetica Neue"/>
              </a:defRPr>
            </a:pPr>
            <a:r>
              <a:rPr sz="1725" b="1">
                <a:solidFill>
                  <a:srgbClr val="101010"/>
                </a:solidFill>
                <a:latin typeface="Helvetica Neue"/>
                <a:ea typeface="Helvetica Neue"/>
                <a:cs typeface="Helvetica Neue"/>
              </a:rPr>
              <a:t>CUSTOMER COMMERCE</a:t>
            </a:r>
          </a:p>
        </p:txBody>
      </p:sp>
      <p:sp>
        <p:nvSpPr>
          <p:cNvPr id="8" name="">
            <a:extLst xmlns:a="http://schemas.openxmlformats.org/drawingml/2006/main">
              <a:ext uri="{FF2B5EF4-FFF2-40B4-BE49-F238E27FC236}">
                <a16:creationId xmlns:a16="http://schemas.microsoft.com/office/drawing/2014/main" id="{1E2C22E5-8F94-4B15-9C20-AED59089927E}"/>
              </a:ext>
            </a:extLst>
          </p:cNvPr>
          <p:cNvSpPr>
            <a:spLocks xmlns:a="http://schemas.openxmlformats.org/drawingml/2006/main" noGrp="1"/>
          </p:cNvSpPr>
          <p:nvPr/>
        </p:nvSpPr>
        <p:spPr>
          <a:xfrm xmlns:a="http://schemas.openxmlformats.org/drawingml/2006/main">
            <a:off x="628650" y="3105150"/>
            <a:ext cx="3009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Shop, compare, cart, checkout and public warranty lookup.</a:t>
            </a:r>
          </a:p>
        </p:txBody>
      </p:sp>
      <p:sp>
        <p:nvSpPr>
          <p:cNvPr id="9" name="">
            <a:extLst xmlns:a="http://schemas.openxmlformats.org/drawingml/2006/main">
              <a:ext uri="{FF2B5EF4-FFF2-40B4-BE49-F238E27FC236}">
                <a16:creationId xmlns:a16="http://schemas.microsoft.com/office/drawing/2014/main" id="{E74D1527-F0A6-4417-A958-A6D5312EA791}"/>
              </a:ext>
            </a:extLst>
          </p:cNvPr>
          <p:cNvSpPr>
            <a:spLocks xmlns:a="http://schemas.openxmlformats.org/drawingml/2006/main" noGrp="1"/>
          </p:cNvSpPr>
          <p:nvPr/>
        </p:nvSpPr>
        <p:spPr>
          <a:xfrm xmlns:a="http://schemas.openxmlformats.org/drawingml/2006/main">
            <a:off x="4324350" y="1714500"/>
            <a:ext cx="3543300" cy="2647950"/>
          </a:xfrm>
          <a:prstGeom xmlns:a="http://schemas.openxmlformats.org/drawingml/2006/main" prst="roundRect">
            <a:avLst>
              <a:gd name="adj" fmla="val 6475"/>
            </a:avLst>
          </a:prstGeom>
          <a:solidFill xmlns:a="http://schemas.openxmlformats.org/drawingml/2006/main">
            <a:srgbClr val="F3F3F1"/>
          </a:solidFill>
          <a:ln xmlns:a="http://schemas.openxmlformats.org/drawingml/2006/main" w="9525">
            <a:solidFill>
              <a:srgbClr val="D9D9D5"/>
            </a:solidFill>
            <a:prstDash val="solid"/>
          </a:ln>
        </p:spPr>
      </p:sp>
      <p:sp>
        <p:nvSpPr>
          <p:cNvPr id="10" name="">
            <a:extLst xmlns:a="http://schemas.openxmlformats.org/drawingml/2006/main">
              <a:ext uri="{FF2B5EF4-FFF2-40B4-BE49-F238E27FC236}">
                <a16:creationId xmlns:a16="http://schemas.microsoft.com/office/drawing/2014/main" id="{ABCCE593-BB97-4439-8546-67D1FAB8F622}"/>
              </a:ext>
            </a:extLst>
          </p:cNvPr>
          <p:cNvSpPr>
            <a:spLocks xmlns:a="http://schemas.openxmlformats.org/drawingml/2006/main" noGrp="1"/>
          </p:cNvSpPr>
          <p:nvPr/>
        </p:nvSpPr>
        <p:spPr>
          <a:xfrm xmlns:a="http://schemas.openxmlformats.org/drawingml/2006/main">
            <a:off x="4552950" y="1943100"/>
            <a:ext cx="51435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777DCA5B-7FE5-457A-9A71-7B1E43747C78}"/>
              </a:ext>
            </a:extLst>
          </p:cNvPr>
          <p:cNvSpPr>
            <a:spLocks xmlns:a="http://schemas.openxmlformats.org/drawingml/2006/main" noGrp="1"/>
          </p:cNvSpPr>
          <p:nvPr/>
        </p:nvSpPr>
        <p:spPr>
          <a:xfrm xmlns:a="http://schemas.openxmlformats.org/drawingml/2006/main">
            <a:off x="4552950" y="247650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01010"/>
                </a:solidFill>
                <a:latin typeface="Helvetica Neue"/>
                <a:ea typeface="Helvetica Neue"/>
                <a:cs typeface="Helvetica Neue"/>
              </a:defRPr>
            </a:pPr>
            <a:r>
              <a:rPr sz="1725" b="1">
                <a:solidFill>
                  <a:srgbClr val="101010"/>
                </a:solidFill>
                <a:latin typeface="Helvetica Neue"/>
                <a:ea typeface="Helvetica Neue"/>
                <a:cs typeface="Helvetica Neue"/>
              </a:rPr>
              <a:t>STAFF OPERATIONS</a:t>
            </a:r>
          </a:p>
        </p:txBody>
      </p:sp>
      <p:sp>
        <p:nvSpPr>
          <p:cNvPr id="12" name="">
            <a:extLst xmlns:a="http://schemas.openxmlformats.org/drawingml/2006/main">
              <a:ext uri="{FF2B5EF4-FFF2-40B4-BE49-F238E27FC236}">
                <a16:creationId xmlns:a16="http://schemas.microsoft.com/office/drawing/2014/main" id="{D437C881-43CF-4D3B-92F0-97CEA5C01665}"/>
              </a:ext>
            </a:extLst>
          </p:cNvPr>
          <p:cNvSpPr>
            <a:spLocks xmlns:a="http://schemas.openxmlformats.org/drawingml/2006/main" noGrp="1"/>
          </p:cNvSpPr>
          <p:nvPr/>
        </p:nvSpPr>
        <p:spPr>
          <a:xfrm xmlns:a="http://schemas.openxmlformats.org/drawingml/2006/main">
            <a:off x="4552950" y="3105150"/>
            <a:ext cx="3009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Orders, stock, account vault, receipts, tickets and customer records.</a:t>
            </a:r>
          </a:p>
        </p:txBody>
      </p:sp>
      <p:sp>
        <p:nvSpPr>
          <p:cNvPr id="13" name="">
            <a:extLst xmlns:a="http://schemas.openxmlformats.org/drawingml/2006/main">
              <a:ext uri="{FF2B5EF4-FFF2-40B4-BE49-F238E27FC236}">
                <a16:creationId xmlns:a16="http://schemas.microsoft.com/office/drawing/2014/main" id="{F57616B2-A8C0-45CB-BC82-EA017AA2762E}"/>
              </a:ext>
            </a:extLst>
          </p:cNvPr>
          <p:cNvSpPr>
            <a:spLocks xmlns:a="http://schemas.openxmlformats.org/drawingml/2006/main" noGrp="1"/>
          </p:cNvSpPr>
          <p:nvPr/>
        </p:nvSpPr>
        <p:spPr>
          <a:xfrm xmlns:a="http://schemas.openxmlformats.org/drawingml/2006/main">
            <a:off x="8248650" y="1714500"/>
            <a:ext cx="3543300" cy="2647950"/>
          </a:xfrm>
          <a:prstGeom xmlns:a="http://schemas.openxmlformats.org/drawingml/2006/main" prst="roundRect">
            <a:avLst>
              <a:gd name="adj" fmla="val 6475"/>
            </a:avLst>
          </a:prstGeom>
          <a:solidFill xmlns:a="http://schemas.openxmlformats.org/drawingml/2006/main">
            <a:srgbClr val="F3F3F1"/>
          </a:solidFill>
          <a:ln xmlns:a="http://schemas.openxmlformats.org/drawingml/2006/main" w="9525">
            <a:solidFill>
              <a:srgbClr val="D9D9D5"/>
            </a:solidFill>
            <a:prstDash val="solid"/>
          </a:ln>
        </p:spPr>
      </p:sp>
      <p:sp>
        <p:nvSpPr>
          <p:cNvPr id="14" name="">
            <a:extLst xmlns:a="http://schemas.openxmlformats.org/drawingml/2006/main">
              <a:ext uri="{FF2B5EF4-FFF2-40B4-BE49-F238E27FC236}">
                <a16:creationId xmlns:a16="http://schemas.microsoft.com/office/drawing/2014/main" id="{6CEF4029-7804-466B-A8B2-2611940FDDB8}"/>
              </a:ext>
            </a:extLst>
          </p:cNvPr>
          <p:cNvSpPr>
            <a:spLocks xmlns:a="http://schemas.openxmlformats.org/drawingml/2006/main" noGrp="1"/>
          </p:cNvSpPr>
          <p:nvPr/>
        </p:nvSpPr>
        <p:spPr>
          <a:xfrm xmlns:a="http://schemas.openxmlformats.org/drawingml/2006/main">
            <a:off x="8477250" y="1943100"/>
            <a:ext cx="514350" cy="285750"/>
          </a:xfrm>
          <a:prstGeom xmlns:a="http://schemas.openxmlformats.org/drawingml/2006/main" prst="roundRect">
            <a:avLst>
              <a:gd name="adj" fmla="val 50000"/>
            </a:avLst>
          </a:prstGeom>
          <a:solidFill xmlns:a="http://schemas.openxmlformats.org/drawingml/2006/main">
            <a:srgbClr val="DDE8FF"/>
          </a:solidFill>
          <a:ln xmlns:a="http://schemas.openxmlformats.org/drawingml/2006/main" w="9525">
            <a:solidFill>
              <a:srgbClr val="DDE8FF"/>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F2C88B97-63DD-4114-95BE-6A1E4CBAE8CA}"/>
              </a:ext>
            </a:extLst>
          </p:cNvPr>
          <p:cNvSpPr>
            <a:spLocks xmlns:a="http://schemas.openxmlformats.org/drawingml/2006/main" noGrp="1"/>
          </p:cNvSpPr>
          <p:nvPr/>
        </p:nvSpPr>
        <p:spPr>
          <a:xfrm xmlns:a="http://schemas.openxmlformats.org/drawingml/2006/main">
            <a:off x="8477250" y="2476500"/>
            <a:ext cx="3048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101010"/>
                </a:solidFill>
                <a:latin typeface="Helvetica Neue"/>
                <a:ea typeface="Helvetica Neue"/>
                <a:cs typeface="Helvetica Neue"/>
              </a:defRPr>
            </a:pPr>
            <a:r>
              <a:rPr sz="1725" b="1">
                <a:solidFill>
                  <a:srgbClr val="101010"/>
                </a:solidFill>
                <a:latin typeface="Helvetica Neue"/>
                <a:ea typeface="Helvetica Neue"/>
                <a:cs typeface="Helvetica Neue"/>
              </a:rPr>
              <a:t>AUTOMATION</a:t>
            </a:r>
          </a:p>
        </p:txBody>
      </p:sp>
      <p:sp>
        <p:nvSpPr>
          <p:cNvPr id="16" name="">
            <a:extLst xmlns:a="http://schemas.openxmlformats.org/drawingml/2006/main">
              <a:ext uri="{FF2B5EF4-FFF2-40B4-BE49-F238E27FC236}">
                <a16:creationId xmlns:a16="http://schemas.microsoft.com/office/drawing/2014/main" id="{BBB49342-B2E6-4776-B130-996CC37880BA}"/>
              </a:ext>
            </a:extLst>
          </p:cNvPr>
          <p:cNvSpPr>
            <a:spLocks xmlns:a="http://schemas.openxmlformats.org/drawingml/2006/main" noGrp="1"/>
          </p:cNvSpPr>
          <p:nvPr/>
        </p:nvSpPr>
        <p:spPr>
          <a:xfrm xmlns:a="http://schemas.openxmlformats.org/drawingml/2006/main">
            <a:off x="8477250" y="3105150"/>
            <a:ext cx="300990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Telegram bot, alerts, n8n workflows, live events and audit history.</a:t>
            </a:r>
          </a:p>
        </p:txBody>
      </p:sp>
      <p:sp>
        <p:nvSpPr>
          <p:cNvPr id="17" name="">
            <a:extLst xmlns:a="http://schemas.openxmlformats.org/drawingml/2006/main">
              <a:ext uri="{FF2B5EF4-FFF2-40B4-BE49-F238E27FC236}">
                <a16:creationId xmlns:a16="http://schemas.microsoft.com/office/drawing/2014/main" id="{B2289EA2-E59F-4C5C-B565-EEDA5B652C74}"/>
              </a:ext>
            </a:extLst>
          </p:cNvPr>
          <p:cNvSpPr>
            <a:spLocks xmlns:a="http://schemas.openxmlformats.org/drawingml/2006/main" noGrp="1"/>
          </p:cNvSpPr>
          <p:nvPr/>
        </p:nvSpPr>
        <p:spPr>
          <a:xfrm xmlns:a="http://schemas.openxmlformats.org/drawingml/2006/main">
            <a:off x="2352675" y="4819650"/>
            <a:ext cx="7486650" cy="990600"/>
          </a:xfrm>
          <a:prstGeom xmlns:a="http://schemas.openxmlformats.org/drawingml/2006/main" prst="roundRect">
            <a:avLst>
              <a:gd name="adj" fmla="val 15385"/>
            </a:avLst>
          </a:prstGeom>
          <a:solidFill xmlns:a="http://schemas.openxmlformats.org/drawingml/2006/main">
            <a:srgbClr val="171717"/>
          </a:solidFill>
          <a:ln xmlns:a="http://schemas.openxmlformats.org/drawingml/2006/main" w="9525">
            <a:solidFill>
              <a:srgbClr val="171717"/>
            </a:solidFill>
            <a:prstDash val="solid"/>
          </a:ln>
        </p:spPr>
      </p:sp>
      <p:sp>
        <p:nvSpPr>
          <p:cNvPr id="18" name="">
            <a:extLst xmlns:a="http://schemas.openxmlformats.org/drawingml/2006/main">
              <a:ext uri="{FF2B5EF4-FFF2-40B4-BE49-F238E27FC236}">
                <a16:creationId xmlns:a16="http://schemas.microsoft.com/office/drawing/2014/main" id="{25E4D2F7-AF40-46CB-8DFC-CB8F7FFDE4D5}"/>
              </a:ext>
            </a:extLst>
          </p:cNvPr>
          <p:cNvSpPr>
            <a:spLocks xmlns:a="http://schemas.openxmlformats.org/drawingml/2006/main" noGrp="1"/>
          </p:cNvSpPr>
          <p:nvPr/>
        </p:nvSpPr>
        <p:spPr>
          <a:xfrm xmlns:a="http://schemas.openxmlformats.org/drawingml/2006/main">
            <a:off x="2676525" y="5038725"/>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FFFFFF"/>
                </a:solidFill>
                <a:latin typeface="Helvetica Neue"/>
                <a:ea typeface="Helvetica Neue"/>
                <a:cs typeface="Helvetica Neue"/>
              </a:defRPr>
            </a:pPr>
            <a:r>
              <a:rPr sz="1350" b="1">
                <a:solidFill>
                  <a:srgbClr val="FFFFFF"/>
                </a:solidFill>
                <a:latin typeface="Helvetica Neue"/>
                <a:ea typeface="Helvetica Neue"/>
                <a:cs typeface="Helvetica Neue"/>
              </a:rPr>
              <a:t>CENTRAL DATABASE</a:t>
            </a:r>
          </a:p>
        </p:txBody>
      </p:sp>
      <p:sp>
        <p:nvSpPr>
          <p:cNvPr id="19" name="">
            <a:extLst xmlns:a="http://schemas.openxmlformats.org/drawingml/2006/main">
              <a:ext uri="{FF2B5EF4-FFF2-40B4-BE49-F238E27FC236}">
                <a16:creationId xmlns:a16="http://schemas.microsoft.com/office/drawing/2014/main" id="{BF1A732C-E14C-4ED6-9EFC-839D286D93D6}"/>
              </a:ext>
            </a:extLst>
          </p:cNvPr>
          <p:cNvSpPr>
            <a:spLocks xmlns:a="http://schemas.openxmlformats.org/drawingml/2006/main" noGrp="1"/>
          </p:cNvSpPr>
          <p:nvPr/>
        </p:nvSpPr>
        <p:spPr>
          <a:xfrm xmlns:a="http://schemas.openxmlformats.org/drawingml/2006/main">
            <a:off x="5029200" y="5010150"/>
            <a:ext cx="44767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518"/>
          </a:bodyPr>
          <a:lstStyle xmlns:a="http://schemas.openxmlformats.org/drawingml/2006/main"/>
          <a:p xmlns:a="http://schemas.openxmlformats.org/drawingml/2006/main">
            <a:pPr algn="l">
              <a:defRPr sz="1350" b="0">
                <a:solidFill>
                  <a:srgbClr val="FFFFFF"/>
                </a:solidFill>
                <a:latin typeface="Helvetica Neue"/>
                <a:ea typeface="Helvetica Neue"/>
                <a:cs typeface="Helvetica Neue"/>
              </a:defRPr>
            </a:pPr>
            <a:r>
              <a:rPr sz="1350" b="0">
                <a:solidFill>
                  <a:srgbClr val="FFFFFF"/>
                </a:solidFill>
                <a:latin typeface="Helvetica Neue"/>
                <a:ea typeface="Helvetica Neue"/>
                <a:cs typeface="Helvetica Neue"/>
              </a:rPr>
              <a:t>Products • customers • orders • stock • payments • warranty • finance • audit</a:t>
            </a:r>
          </a:p>
        </p:txBody>
      </p:sp>
    </p:spTree>
    <p:extLst>
      <p:ext uri="{BB962C8B-B14F-4D97-AF65-F5344CB8AC3E}">
        <p14:creationId xmlns:p14="http://schemas.microsoft.com/office/powerpoint/2010/main" val="1541890859"/>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7" name="">
            <a:extLst xmlns:a="http://schemas.openxmlformats.org/drawingml/2006/main">
              <a:ext uri="{FF2B5EF4-FFF2-40B4-BE49-F238E27FC236}">
                <a16:creationId xmlns:a16="http://schemas.microsoft.com/office/drawing/2014/main" id="{220BEA30-1DBF-4651-B24B-611740F2D549}"/>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END-TO-END WORKFLOW</a:t>
            </a:r>
          </a:p>
        </p:txBody>
      </p:sp>
      <p:sp>
        <p:nvSpPr>
          <p:cNvPr id="2" name="">
            <a:extLst xmlns:a="http://schemas.openxmlformats.org/drawingml/2006/main">
              <a:ext uri="{FF2B5EF4-FFF2-40B4-BE49-F238E27FC236}">
                <a16:creationId xmlns:a16="http://schemas.microsoft.com/office/drawing/2014/main" id="{AB72500F-BA5E-4ACC-9EBD-6325EE90C1B6}"/>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The complete business loop</a:t>
            </a:r>
          </a:p>
        </p:txBody>
      </p:sp>
      <p:sp>
        <p:nvSpPr>
          <p:cNvPr id="3" name="">
            <a:extLst xmlns:a="http://schemas.openxmlformats.org/drawingml/2006/main">
              <a:ext uri="{FF2B5EF4-FFF2-40B4-BE49-F238E27FC236}">
                <a16:creationId xmlns:a16="http://schemas.microsoft.com/office/drawing/2014/main" id="{0F25F112-38A4-4218-97D1-4D0E1AF92596}"/>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2B484C95-97F9-4E4D-9C26-9DC63CD5ABC0}"/>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C2E25A66-C5D6-45EE-9E10-10916099977B}"/>
              </a:ext>
            </a:extLst>
          </p:cNvPr>
          <p:cNvSpPr>
            <a:spLocks xmlns:a="http://schemas.openxmlformats.org/drawingml/2006/main" noGrp="1"/>
          </p:cNvSpPr>
          <p:nvPr/>
        </p:nvSpPr>
        <p:spPr>
          <a:xfrm xmlns:a="http://schemas.openxmlformats.org/drawingml/2006/main">
            <a:off x="1657350" y="2857500"/>
            <a:ext cx="685800" cy="0"/>
          </a:xfrm>
          <a:prstGeom xmlns:a="http://schemas.openxmlformats.org/drawingml/2006/main" prst="line">
            <a:avLst/>
          </a:prstGeom>
          <a:noFill xmlns:a="http://schemas.openxmlformats.org/drawingml/2006/main"/>
          <a:ln xmlns:a="http://schemas.openxmlformats.org/drawingml/2006/main" w="19050">
            <a:solidFill>
              <a:srgbClr val="101010"/>
            </a:solidFill>
            <a:prstDash val="solid"/>
          </a:ln>
        </p:spPr>
      </p:sp>
      <p:sp>
        <p:nvSpPr>
          <p:cNvPr id="6" name="">
            <a:extLst xmlns:a="http://schemas.openxmlformats.org/drawingml/2006/main">
              <a:ext uri="{FF2B5EF4-FFF2-40B4-BE49-F238E27FC236}">
                <a16:creationId xmlns:a16="http://schemas.microsoft.com/office/drawing/2014/main" id="{D5425B12-990A-41BC-9FF5-DEEAB2BC0113}"/>
              </a:ext>
            </a:extLst>
          </p:cNvPr>
          <p:cNvSpPr>
            <a:spLocks xmlns:a="http://schemas.openxmlformats.org/drawingml/2006/main" noGrp="1"/>
          </p:cNvSpPr>
          <p:nvPr/>
        </p:nvSpPr>
        <p:spPr>
          <a:xfrm xmlns:a="http://schemas.openxmlformats.org/drawingml/2006/main">
            <a:off x="400050" y="2152650"/>
            <a:ext cx="1371600" cy="1390650"/>
          </a:xfrm>
          <a:prstGeom xmlns:a="http://schemas.openxmlformats.org/drawingml/2006/main" prst="roundRect">
            <a:avLst>
              <a:gd name="adj" fmla="val 12500"/>
            </a:avLst>
          </a:prstGeom>
          <a:solidFill xmlns:a="http://schemas.openxmlformats.org/drawingml/2006/main">
            <a:srgbClr val="F3F3F1"/>
          </a:solidFill>
          <a:ln xmlns:a="http://schemas.openxmlformats.org/drawingml/2006/main" w="9525">
            <a:solidFill>
              <a:srgbClr val="D9D9D5"/>
            </a:solidFill>
            <a:prstDash val="solid"/>
          </a:ln>
        </p:spPr>
      </p:sp>
      <p:sp>
        <p:nvSpPr>
          <p:cNvPr id="7" name="">
            <a:extLst xmlns:a="http://schemas.openxmlformats.org/drawingml/2006/main">
              <a:ext uri="{FF2B5EF4-FFF2-40B4-BE49-F238E27FC236}">
                <a16:creationId xmlns:a16="http://schemas.microsoft.com/office/drawing/2014/main" id="{EFCC479F-171F-4CE8-88E1-FB28AB7D2C95}"/>
              </a:ext>
            </a:extLst>
          </p:cNvPr>
          <p:cNvSpPr>
            <a:spLocks xmlns:a="http://schemas.openxmlformats.org/drawingml/2006/main" noGrp="1"/>
          </p:cNvSpPr>
          <p:nvPr/>
        </p:nvSpPr>
        <p:spPr>
          <a:xfrm xmlns:a="http://schemas.openxmlformats.org/drawingml/2006/main">
            <a:off x="571500" y="2324100"/>
            <a:ext cx="40005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1</a:t>
            </a:r>
          </a:p>
        </p:txBody>
      </p:sp>
      <p:sp>
        <p:nvSpPr>
          <p:cNvPr id="8" name="">
            <a:extLst xmlns:a="http://schemas.openxmlformats.org/drawingml/2006/main">
              <a:ext uri="{FF2B5EF4-FFF2-40B4-BE49-F238E27FC236}">
                <a16:creationId xmlns:a16="http://schemas.microsoft.com/office/drawing/2014/main" id="{0263EAF1-ECB6-44A3-A68B-08BE920CCC46}"/>
              </a:ext>
            </a:extLst>
          </p:cNvPr>
          <p:cNvSpPr>
            <a:spLocks xmlns:a="http://schemas.openxmlformats.org/drawingml/2006/main" noGrp="1"/>
          </p:cNvSpPr>
          <p:nvPr/>
        </p:nvSpPr>
        <p:spPr>
          <a:xfrm xmlns:a="http://schemas.openxmlformats.org/drawingml/2006/main">
            <a:off x="571500" y="27432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Setup</a:t>
            </a:r>
          </a:p>
        </p:txBody>
      </p:sp>
      <p:sp>
        <p:nvSpPr>
          <p:cNvPr id="9" name="">
            <a:extLst xmlns:a="http://schemas.openxmlformats.org/drawingml/2006/main">
              <a:ext uri="{FF2B5EF4-FFF2-40B4-BE49-F238E27FC236}">
                <a16:creationId xmlns:a16="http://schemas.microsoft.com/office/drawing/2014/main" id="{3553B1B0-42AC-4A5C-93C9-B721C97C6808}"/>
              </a:ext>
            </a:extLst>
          </p:cNvPr>
          <p:cNvSpPr>
            <a:spLocks xmlns:a="http://schemas.openxmlformats.org/drawingml/2006/main" noGrp="1"/>
          </p:cNvSpPr>
          <p:nvPr/>
        </p:nvSpPr>
        <p:spPr>
          <a:xfrm xmlns:a="http://schemas.openxmlformats.org/drawingml/2006/main">
            <a:off x="571500" y="3105150"/>
            <a:ext cx="1028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626262"/>
                </a:solidFill>
                <a:latin typeface="Helvetica Neue"/>
                <a:ea typeface="Helvetica Neue"/>
                <a:cs typeface="Helvetica Neue"/>
              </a:defRPr>
            </a:pPr>
            <a:r>
              <a:rPr sz="1050" b="0">
                <a:solidFill>
                  <a:srgbClr val="626262"/>
                </a:solidFill>
                <a:latin typeface="Helvetica Neue"/>
                <a:ea typeface="Helvetica Neue"/>
                <a:cs typeface="Helvetica Neue"/>
              </a:rPr>
              <a:t>Catalog, costs, stock</a:t>
            </a:r>
          </a:p>
        </p:txBody>
      </p:sp>
      <p:sp>
        <p:nvSpPr>
          <p:cNvPr id="10" name="">
            <a:extLst xmlns:a="http://schemas.openxmlformats.org/drawingml/2006/main">
              <a:ext uri="{FF2B5EF4-FFF2-40B4-BE49-F238E27FC236}">
                <a16:creationId xmlns:a16="http://schemas.microsoft.com/office/drawing/2014/main" id="{F0577A96-99D2-479A-BA69-FCBF755846A3}"/>
              </a:ext>
            </a:extLst>
          </p:cNvPr>
          <p:cNvSpPr>
            <a:spLocks xmlns:a="http://schemas.openxmlformats.org/drawingml/2006/main" noGrp="1"/>
          </p:cNvSpPr>
          <p:nvPr/>
        </p:nvSpPr>
        <p:spPr>
          <a:xfrm xmlns:a="http://schemas.openxmlformats.org/drawingml/2006/main">
            <a:off x="3600450" y="2857500"/>
            <a:ext cx="685800" cy="0"/>
          </a:xfrm>
          <a:prstGeom xmlns:a="http://schemas.openxmlformats.org/drawingml/2006/main" prst="line">
            <a:avLst/>
          </a:prstGeom>
          <a:noFill xmlns:a="http://schemas.openxmlformats.org/drawingml/2006/main"/>
          <a:ln xmlns:a="http://schemas.openxmlformats.org/drawingml/2006/main" w="19050">
            <a:solidFill>
              <a:srgbClr val="101010"/>
            </a:solidFill>
            <a:prstDash val="solid"/>
          </a:ln>
        </p:spPr>
      </p:sp>
      <p:sp>
        <p:nvSpPr>
          <p:cNvPr id="11" name="">
            <a:extLst xmlns:a="http://schemas.openxmlformats.org/drawingml/2006/main">
              <a:ext uri="{FF2B5EF4-FFF2-40B4-BE49-F238E27FC236}">
                <a16:creationId xmlns:a16="http://schemas.microsoft.com/office/drawing/2014/main" id="{3B8F8725-E9CB-4035-A629-BCA9E2F67B75}"/>
              </a:ext>
            </a:extLst>
          </p:cNvPr>
          <p:cNvSpPr>
            <a:spLocks xmlns:a="http://schemas.openxmlformats.org/drawingml/2006/main" noGrp="1"/>
          </p:cNvSpPr>
          <p:nvPr/>
        </p:nvSpPr>
        <p:spPr>
          <a:xfrm xmlns:a="http://schemas.openxmlformats.org/drawingml/2006/main">
            <a:off x="2343150" y="2152650"/>
            <a:ext cx="1371600" cy="1390650"/>
          </a:xfrm>
          <a:prstGeom xmlns:a="http://schemas.openxmlformats.org/drawingml/2006/main" prst="roundRect">
            <a:avLst>
              <a:gd name="adj" fmla="val 12500"/>
            </a:avLst>
          </a:prstGeom>
          <a:solidFill xmlns:a="http://schemas.openxmlformats.org/drawingml/2006/main">
            <a:srgbClr val="F3F3F1"/>
          </a:solidFill>
          <a:ln xmlns:a="http://schemas.openxmlformats.org/drawingml/2006/main" w="9525">
            <a:solidFill>
              <a:srgbClr val="D9D9D5"/>
            </a:solidFill>
            <a:prstDash val="solid"/>
          </a:ln>
        </p:spPr>
      </p:sp>
      <p:sp>
        <p:nvSpPr>
          <p:cNvPr id="12" name="">
            <a:extLst xmlns:a="http://schemas.openxmlformats.org/drawingml/2006/main">
              <a:ext uri="{FF2B5EF4-FFF2-40B4-BE49-F238E27FC236}">
                <a16:creationId xmlns:a16="http://schemas.microsoft.com/office/drawing/2014/main" id="{F016515C-5D95-4879-82D2-1F737BFA90D8}"/>
              </a:ext>
            </a:extLst>
          </p:cNvPr>
          <p:cNvSpPr>
            <a:spLocks xmlns:a="http://schemas.openxmlformats.org/drawingml/2006/main" noGrp="1"/>
          </p:cNvSpPr>
          <p:nvPr/>
        </p:nvSpPr>
        <p:spPr>
          <a:xfrm xmlns:a="http://schemas.openxmlformats.org/drawingml/2006/main">
            <a:off x="2514600" y="2324100"/>
            <a:ext cx="40005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2</a:t>
            </a:r>
          </a:p>
        </p:txBody>
      </p:sp>
      <p:sp>
        <p:nvSpPr>
          <p:cNvPr id="13" name="">
            <a:extLst xmlns:a="http://schemas.openxmlformats.org/drawingml/2006/main">
              <a:ext uri="{FF2B5EF4-FFF2-40B4-BE49-F238E27FC236}">
                <a16:creationId xmlns:a16="http://schemas.microsoft.com/office/drawing/2014/main" id="{AACBD47A-44FB-41F5-B8CA-E31936321040}"/>
              </a:ext>
            </a:extLst>
          </p:cNvPr>
          <p:cNvSpPr>
            <a:spLocks xmlns:a="http://schemas.openxmlformats.org/drawingml/2006/main" noGrp="1"/>
          </p:cNvSpPr>
          <p:nvPr/>
        </p:nvSpPr>
        <p:spPr>
          <a:xfrm xmlns:a="http://schemas.openxmlformats.org/drawingml/2006/main">
            <a:off x="2514600" y="27432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Sell</a:t>
            </a:r>
          </a:p>
        </p:txBody>
      </p:sp>
      <p:sp>
        <p:nvSpPr>
          <p:cNvPr id="14" name="">
            <a:extLst xmlns:a="http://schemas.openxmlformats.org/drawingml/2006/main">
              <a:ext uri="{FF2B5EF4-FFF2-40B4-BE49-F238E27FC236}">
                <a16:creationId xmlns:a16="http://schemas.microsoft.com/office/drawing/2014/main" id="{7C2B8F81-EE51-4A5E-AB89-23127158B8B5}"/>
              </a:ext>
            </a:extLst>
          </p:cNvPr>
          <p:cNvSpPr>
            <a:spLocks xmlns:a="http://schemas.openxmlformats.org/drawingml/2006/main" noGrp="1"/>
          </p:cNvSpPr>
          <p:nvPr/>
        </p:nvSpPr>
        <p:spPr>
          <a:xfrm xmlns:a="http://schemas.openxmlformats.org/drawingml/2006/main">
            <a:off x="2514600" y="3105150"/>
            <a:ext cx="1028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626262"/>
                </a:solidFill>
                <a:latin typeface="Helvetica Neue"/>
                <a:ea typeface="Helvetica Neue"/>
                <a:cs typeface="Helvetica Neue"/>
              </a:defRPr>
            </a:pPr>
            <a:r>
              <a:rPr sz="1050" b="0">
                <a:solidFill>
                  <a:srgbClr val="626262"/>
                </a:solidFill>
                <a:latin typeface="Helvetica Neue"/>
                <a:ea typeface="Helvetica Neue"/>
                <a:cs typeface="Helvetica Neue"/>
              </a:rPr>
              <a:t>Shop, bot, checkout</a:t>
            </a:r>
          </a:p>
        </p:txBody>
      </p:sp>
      <p:sp>
        <p:nvSpPr>
          <p:cNvPr id="15" name="">
            <a:extLst xmlns:a="http://schemas.openxmlformats.org/drawingml/2006/main">
              <a:ext uri="{FF2B5EF4-FFF2-40B4-BE49-F238E27FC236}">
                <a16:creationId xmlns:a16="http://schemas.microsoft.com/office/drawing/2014/main" id="{86D176C6-A228-4055-9367-4DFD44E51FF4}"/>
              </a:ext>
            </a:extLst>
          </p:cNvPr>
          <p:cNvSpPr>
            <a:spLocks xmlns:a="http://schemas.openxmlformats.org/drawingml/2006/main" noGrp="1"/>
          </p:cNvSpPr>
          <p:nvPr/>
        </p:nvSpPr>
        <p:spPr>
          <a:xfrm xmlns:a="http://schemas.openxmlformats.org/drawingml/2006/main">
            <a:off x="5543550" y="2857500"/>
            <a:ext cx="685800" cy="0"/>
          </a:xfrm>
          <a:prstGeom xmlns:a="http://schemas.openxmlformats.org/drawingml/2006/main" prst="line">
            <a:avLst/>
          </a:prstGeom>
          <a:noFill xmlns:a="http://schemas.openxmlformats.org/drawingml/2006/main"/>
          <a:ln xmlns:a="http://schemas.openxmlformats.org/drawingml/2006/main" w="19050">
            <a:solidFill>
              <a:srgbClr val="101010"/>
            </a:solidFill>
            <a:prstDash val="solid"/>
          </a:ln>
        </p:spPr>
      </p:sp>
      <p:sp>
        <p:nvSpPr>
          <p:cNvPr id="16" name="">
            <a:extLst xmlns:a="http://schemas.openxmlformats.org/drawingml/2006/main">
              <a:ext uri="{FF2B5EF4-FFF2-40B4-BE49-F238E27FC236}">
                <a16:creationId xmlns:a16="http://schemas.microsoft.com/office/drawing/2014/main" id="{107BC1D5-2EF3-422B-902B-FA3D3BFF514D}"/>
              </a:ext>
            </a:extLst>
          </p:cNvPr>
          <p:cNvSpPr>
            <a:spLocks xmlns:a="http://schemas.openxmlformats.org/drawingml/2006/main" noGrp="1"/>
          </p:cNvSpPr>
          <p:nvPr/>
        </p:nvSpPr>
        <p:spPr>
          <a:xfrm xmlns:a="http://schemas.openxmlformats.org/drawingml/2006/main">
            <a:off x="4286250" y="2152650"/>
            <a:ext cx="1371600" cy="1390650"/>
          </a:xfrm>
          <a:prstGeom xmlns:a="http://schemas.openxmlformats.org/drawingml/2006/main" prst="roundRect">
            <a:avLst>
              <a:gd name="adj" fmla="val 12500"/>
            </a:avLst>
          </a:prstGeom>
          <a:solidFill xmlns:a="http://schemas.openxmlformats.org/drawingml/2006/main">
            <a:srgbClr val="FFF2EC"/>
          </a:solidFill>
          <a:ln xmlns:a="http://schemas.openxmlformats.org/drawingml/2006/main" w="9525">
            <a:solidFill>
              <a:srgbClr val="FF6B35"/>
            </a:solidFill>
            <a:prstDash val="solid"/>
          </a:ln>
        </p:spPr>
      </p:sp>
      <p:sp>
        <p:nvSpPr>
          <p:cNvPr id="17" name="">
            <a:extLst xmlns:a="http://schemas.openxmlformats.org/drawingml/2006/main">
              <a:ext uri="{FF2B5EF4-FFF2-40B4-BE49-F238E27FC236}">
                <a16:creationId xmlns:a16="http://schemas.microsoft.com/office/drawing/2014/main" id="{0456B67F-BD56-4B30-A491-39E704369101}"/>
              </a:ext>
            </a:extLst>
          </p:cNvPr>
          <p:cNvSpPr>
            <a:spLocks xmlns:a="http://schemas.openxmlformats.org/drawingml/2006/main" noGrp="1"/>
          </p:cNvSpPr>
          <p:nvPr/>
        </p:nvSpPr>
        <p:spPr>
          <a:xfrm xmlns:a="http://schemas.openxmlformats.org/drawingml/2006/main">
            <a:off x="4457700" y="2324100"/>
            <a:ext cx="40005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a:t>
            </a:r>
          </a:p>
        </p:txBody>
      </p:sp>
      <p:sp>
        <p:nvSpPr>
          <p:cNvPr id="18" name="">
            <a:extLst xmlns:a="http://schemas.openxmlformats.org/drawingml/2006/main">
              <a:ext uri="{FF2B5EF4-FFF2-40B4-BE49-F238E27FC236}">
                <a16:creationId xmlns:a16="http://schemas.microsoft.com/office/drawing/2014/main" id="{054EED70-59D1-4C55-9F3E-20CECCCC3E49}"/>
              </a:ext>
            </a:extLst>
          </p:cNvPr>
          <p:cNvSpPr>
            <a:spLocks xmlns:a="http://schemas.openxmlformats.org/drawingml/2006/main" noGrp="1"/>
          </p:cNvSpPr>
          <p:nvPr/>
        </p:nvSpPr>
        <p:spPr>
          <a:xfrm xmlns:a="http://schemas.openxmlformats.org/drawingml/2006/main">
            <a:off x="4457700" y="27432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Verify</a:t>
            </a:r>
          </a:p>
        </p:txBody>
      </p:sp>
      <p:sp>
        <p:nvSpPr>
          <p:cNvPr id="19" name="">
            <a:extLst xmlns:a="http://schemas.openxmlformats.org/drawingml/2006/main">
              <a:ext uri="{FF2B5EF4-FFF2-40B4-BE49-F238E27FC236}">
                <a16:creationId xmlns:a16="http://schemas.microsoft.com/office/drawing/2014/main" id="{57D9DE0D-86C0-45BC-8D6B-5B6E36B6F263}"/>
              </a:ext>
            </a:extLst>
          </p:cNvPr>
          <p:cNvSpPr>
            <a:spLocks xmlns:a="http://schemas.openxmlformats.org/drawingml/2006/main" noGrp="1"/>
          </p:cNvSpPr>
          <p:nvPr/>
        </p:nvSpPr>
        <p:spPr>
          <a:xfrm xmlns:a="http://schemas.openxmlformats.org/drawingml/2006/main">
            <a:off x="4457700" y="3105150"/>
            <a:ext cx="1028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626262"/>
                </a:solidFill>
                <a:latin typeface="Helvetica Neue"/>
                <a:ea typeface="Helvetica Neue"/>
                <a:cs typeface="Helvetica Neue"/>
              </a:defRPr>
            </a:pPr>
            <a:r>
              <a:rPr sz="1050" b="0">
                <a:solidFill>
                  <a:srgbClr val="626262"/>
                </a:solidFill>
                <a:latin typeface="Helvetica Neue"/>
                <a:ea typeface="Helvetica Neue"/>
                <a:cs typeface="Helvetica Neue"/>
              </a:rPr>
              <a:t>Slip and payment</a:t>
            </a:r>
          </a:p>
        </p:txBody>
      </p:sp>
      <p:sp>
        <p:nvSpPr>
          <p:cNvPr id="20" name="">
            <a:extLst xmlns:a="http://schemas.openxmlformats.org/drawingml/2006/main">
              <a:ext uri="{FF2B5EF4-FFF2-40B4-BE49-F238E27FC236}">
                <a16:creationId xmlns:a16="http://schemas.microsoft.com/office/drawing/2014/main" id="{257DD20C-EDA2-48F3-8118-779ACA2A07DA}"/>
              </a:ext>
            </a:extLst>
          </p:cNvPr>
          <p:cNvSpPr>
            <a:spLocks xmlns:a="http://schemas.openxmlformats.org/drawingml/2006/main" noGrp="1"/>
          </p:cNvSpPr>
          <p:nvPr/>
        </p:nvSpPr>
        <p:spPr>
          <a:xfrm xmlns:a="http://schemas.openxmlformats.org/drawingml/2006/main">
            <a:off x="7486650" y="2857500"/>
            <a:ext cx="685800" cy="0"/>
          </a:xfrm>
          <a:prstGeom xmlns:a="http://schemas.openxmlformats.org/drawingml/2006/main" prst="line">
            <a:avLst/>
          </a:prstGeom>
          <a:noFill xmlns:a="http://schemas.openxmlformats.org/drawingml/2006/main"/>
          <a:ln xmlns:a="http://schemas.openxmlformats.org/drawingml/2006/main" w="19050">
            <a:solidFill>
              <a:srgbClr val="101010"/>
            </a:solidFill>
            <a:prstDash val="solid"/>
          </a:ln>
        </p:spPr>
      </p:sp>
      <p:sp>
        <p:nvSpPr>
          <p:cNvPr id="21" name="">
            <a:extLst xmlns:a="http://schemas.openxmlformats.org/drawingml/2006/main">
              <a:ext uri="{FF2B5EF4-FFF2-40B4-BE49-F238E27FC236}">
                <a16:creationId xmlns:a16="http://schemas.microsoft.com/office/drawing/2014/main" id="{8837643C-7E00-473B-B2CD-9C59BDCF6FE5}"/>
              </a:ext>
            </a:extLst>
          </p:cNvPr>
          <p:cNvSpPr>
            <a:spLocks xmlns:a="http://schemas.openxmlformats.org/drawingml/2006/main" noGrp="1"/>
          </p:cNvSpPr>
          <p:nvPr/>
        </p:nvSpPr>
        <p:spPr>
          <a:xfrm xmlns:a="http://schemas.openxmlformats.org/drawingml/2006/main">
            <a:off x="6229350" y="2152650"/>
            <a:ext cx="1371600" cy="1390650"/>
          </a:xfrm>
          <a:prstGeom xmlns:a="http://schemas.openxmlformats.org/drawingml/2006/main" prst="roundRect">
            <a:avLst>
              <a:gd name="adj" fmla="val 12500"/>
            </a:avLst>
          </a:prstGeom>
          <a:solidFill xmlns:a="http://schemas.openxmlformats.org/drawingml/2006/main">
            <a:srgbClr val="F3F3F1"/>
          </a:solidFill>
          <a:ln xmlns:a="http://schemas.openxmlformats.org/drawingml/2006/main" w="9525">
            <a:solidFill>
              <a:srgbClr val="D9D9D5"/>
            </a:solidFill>
            <a:prstDash val="solid"/>
          </a:ln>
        </p:spPr>
      </p:sp>
      <p:sp>
        <p:nvSpPr>
          <p:cNvPr id="22" name="">
            <a:extLst xmlns:a="http://schemas.openxmlformats.org/drawingml/2006/main">
              <a:ext uri="{FF2B5EF4-FFF2-40B4-BE49-F238E27FC236}">
                <a16:creationId xmlns:a16="http://schemas.microsoft.com/office/drawing/2014/main" id="{3A0476F4-832F-47B5-BDB6-8840BE335DEC}"/>
              </a:ext>
            </a:extLst>
          </p:cNvPr>
          <p:cNvSpPr>
            <a:spLocks xmlns:a="http://schemas.openxmlformats.org/drawingml/2006/main" noGrp="1"/>
          </p:cNvSpPr>
          <p:nvPr/>
        </p:nvSpPr>
        <p:spPr>
          <a:xfrm xmlns:a="http://schemas.openxmlformats.org/drawingml/2006/main">
            <a:off x="6400800" y="2324100"/>
            <a:ext cx="40005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4</a:t>
            </a:r>
          </a:p>
        </p:txBody>
      </p:sp>
      <p:sp>
        <p:nvSpPr>
          <p:cNvPr id="23" name="">
            <a:extLst xmlns:a="http://schemas.openxmlformats.org/drawingml/2006/main">
              <a:ext uri="{FF2B5EF4-FFF2-40B4-BE49-F238E27FC236}">
                <a16:creationId xmlns:a16="http://schemas.microsoft.com/office/drawing/2014/main" id="{2D6109AA-E474-484B-B9A2-FD17FAC8AAD2}"/>
              </a:ext>
            </a:extLst>
          </p:cNvPr>
          <p:cNvSpPr>
            <a:spLocks xmlns:a="http://schemas.openxmlformats.org/drawingml/2006/main" noGrp="1"/>
          </p:cNvSpPr>
          <p:nvPr/>
        </p:nvSpPr>
        <p:spPr>
          <a:xfrm xmlns:a="http://schemas.openxmlformats.org/drawingml/2006/main">
            <a:off x="6400800" y="27432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Fulfill</a:t>
            </a:r>
          </a:p>
        </p:txBody>
      </p:sp>
      <p:sp>
        <p:nvSpPr>
          <p:cNvPr id="24" name="">
            <a:extLst xmlns:a="http://schemas.openxmlformats.org/drawingml/2006/main">
              <a:ext uri="{FF2B5EF4-FFF2-40B4-BE49-F238E27FC236}">
                <a16:creationId xmlns:a16="http://schemas.microsoft.com/office/drawing/2014/main" id="{0D02DA3A-194E-48A3-BD70-97BB3EE9631F}"/>
              </a:ext>
            </a:extLst>
          </p:cNvPr>
          <p:cNvSpPr>
            <a:spLocks xmlns:a="http://schemas.openxmlformats.org/drawingml/2006/main" noGrp="1"/>
          </p:cNvSpPr>
          <p:nvPr/>
        </p:nvSpPr>
        <p:spPr>
          <a:xfrm xmlns:a="http://schemas.openxmlformats.org/drawingml/2006/main">
            <a:off x="6400800" y="3105150"/>
            <a:ext cx="1028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626262"/>
                </a:solidFill>
                <a:latin typeface="Helvetica Neue"/>
                <a:ea typeface="Helvetica Neue"/>
                <a:cs typeface="Helvetica Neue"/>
              </a:defRPr>
            </a:pPr>
            <a:r>
              <a:rPr sz="1050" b="0">
                <a:solidFill>
                  <a:srgbClr val="626262"/>
                </a:solidFill>
                <a:latin typeface="Helvetica Neue"/>
                <a:ea typeface="Helvetica Neue"/>
                <a:cs typeface="Helvetica Neue"/>
              </a:rPr>
              <a:t>Dispatch or handover</a:t>
            </a:r>
          </a:p>
        </p:txBody>
      </p:sp>
      <p:sp>
        <p:nvSpPr>
          <p:cNvPr id="25" name="">
            <a:extLst xmlns:a="http://schemas.openxmlformats.org/drawingml/2006/main">
              <a:ext uri="{FF2B5EF4-FFF2-40B4-BE49-F238E27FC236}">
                <a16:creationId xmlns:a16="http://schemas.microsoft.com/office/drawing/2014/main" id="{2FA11097-35D9-40E2-8DFB-5C935B8A923C}"/>
              </a:ext>
            </a:extLst>
          </p:cNvPr>
          <p:cNvSpPr>
            <a:spLocks xmlns:a="http://schemas.openxmlformats.org/drawingml/2006/main" noGrp="1"/>
          </p:cNvSpPr>
          <p:nvPr/>
        </p:nvSpPr>
        <p:spPr>
          <a:xfrm xmlns:a="http://schemas.openxmlformats.org/drawingml/2006/main">
            <a:off x="9429750" y="2857500"/>
            <a:ext cx="685800" cy="0"/>
          </a:xfrm>
          <a:prstGeom xmlns:a="http://schemas.openxmlformats.org/drawingml/2006/main" prst="line">
            <a:avLst/>
          </a:prstGeom>
          <a:noFill xmlns:a="http://schemas.openxmlformats.org/drawingml/2006/main"/>
          <a:ln xmlns:a="http://schemas.openxmlformats.org/drawingml/2006/main" w="19050">
            <a:solidFill>
              <a:srgbClr val="101010"/>
            </a:solidFill>
            <a:prstDash val="solid"/>
          </a:ln>
        </p:spPr>
      </p:sp>
      <p:sp>
        <p:nvSpPr>
          <p:cNvPr id="26" name="">
            <a:extLst xmlns:a="http://schemas.openxmlformats.org/drawingml/2006/main">
              <a:ext uri="{FF2B5EF4-FFF2-40B4-BE49-F238E27FC236}">
                <a16:creationId xmlns:a16="http://schemas.microsoft.com/office/drawing/2014/main" id="{FB6F0EAF-04A9-4FD3-8EA1-A5E807832CC0}"/>
              </a:ext>
            </a:extLst>
          </p:cNvPr>
          <p:cNvSpPr>
            <a:spLocks xmlns:a="http://schemas.openxmlformats.org/drawingml/2006/main" noGrp="1"/>
          </p:cNvSpPr>
          <p:nvPr/>
        </p:nvSpPr>
        <p:spPr>
          <a:xfrm xmlns:a="http://schemas.openxmlformats.org/drawingml/2006/main">
            <a:off x="8172450" y="2152650"/>
            <a:ext cx="1371600" cy="1390650"/>
          </a:xfrm>
          <a:prstGeom xmlns:a="http://schemas.openxmlformats.org/drawingml/2006/main" prst="roundRect">
            <a:avLst>
              <a:gd name="adj" fmla="val 12500"/>
            </a:avLst>
          </a:prstGeom>
          <a:solidFill xmlns:a="http://schemas.openxmlformats.org/drawingml/2006/main">
            <a:srgbClr val="F3F3F1"/>
          </a:solidFill>
          <a:ln xmlns:a="http://schemas.openxmlformats.org/drawingml/2006/main" w="9525">
            <a:solidFill>
              <a:srgbClr val="D9D9D5"/>
            </a:solidFill>
            <a:prstDash val="solid"/>
          </a:ln>
        </p:spPr>
      </p:sp>
      <p:sp>
        <p:nvSpPr>
          <p:cNvPr id="27" name="">
            <a:extLst xmlns:a="http://schemas.openxmlformats.org/drawingml/2006/main">
              <a:ext uri="{FF2B5EF4-FFF2-40B4-BE49-F238E27FC236}">
                <a16:creationId xmlns:a16="http://schemas.microsoft.com/office/drawing/2014/main" id="{E88FDC18-EF4E-4EB9-985F-D63A063E4712}"/>
              </a:ext>
            </a:extLst>
          </p:cNvPr>
          <p:cNvSpPr>
            <a:spLocks xmlns:a="http://schemas.openxmlformats.org/drawingml/2006/main" noGrp="1"/>
          </p:cNvSpPr>
          <p:nvPr/>
        </p:nvSpPr>
        <p:spPr>
          <a:xfrm xmlns:a="http://schemas.openxmlformats.org/drawingml/2006/main">
            <a:off x="8343900" y="2324100"/>
            <a:ext cx="40005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5</a:t>
            </a:r>
          </a:p>
        </p:txBody>
      </p:sp>
      <p:sp>
        <p:nvSpPr>
          <p:cNvPr id="28" name="">
            <a:extLst xmlns:a="http://schemas.openxmlformats.org/drawingml/2006/main">
              <a:ext uri="{FF2B5EF4-FFF2-40B4-BE49-F238E27FC236}">
                <a16:creationId xmlns:a16="http://schemas.microsoft.com/office/drawing/2014/main" id="{F2434406-B12B-4A06-9F4F-DF37D8C898A6}"/>
              </a:ext>
            </a:extLst>
          </p:cNvPr>
          <p:cNvSpPr>
            <a:spLocks xmlns:a="http://schemas.openxmlformats.org/drawingml/2006/main" noGrp="1"/>
          </p:cNvSpPr>
          <p:nvPr/>
        </p:nvSpPr>
        <p:spPr>
          <a:xfrm xmlns:a="http://schemas.openxmlformats.org/drawingml/2006/main">
            <a:off x="8343900" y="27432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Support</a:t>
            </a:r>
          </a:p>
        </p:txBody>
      </p:sp>
      <p:sp>
        <p:nvSpPr>
          <p:cNvPr id="29" name="">
            <a:extLst xmlns:a="http://schemas.openxmlformats.org/drawingml/2006/main">
              <a:ext uri="{FF2B5EF4-FFF2-40B4-BE49-F238E27FC236}">
                <a16:creationId xmlns:a16="http://schemas.microsoft.com/office/drawing/2014/main" id="{6D3378DD-AA0C-4CFA-80AD-D88C9C28D340}"/>
              </a:ext>
            </a:extLst>
          </p:cNvPr>
          <p:cNvSpPr>
            <a:spLocks xmlns:a="http://schemas.openxmlformats.org/drawingml/2006/main" noGrp="1"/>
          </p:cNvSpPr>
          <p:nvPr/>
        </p:nvSpPr>
        <p:spPr>
          <a:xfrm xmlns:a="http://schemas.openxmlformats.org/drawingml/2006/main">
            <a:off x="8343900" y="3105150"/>
            <a:ext cx="1028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626262"/>
                </a:solidFill>
                <a:latin typeface="Helvetica Neue"/>
                <a:ea typeface="Helvetica Neue"/>
                <a:cs typeface="Helvetica Neue"/>
              </a:defRPr>
            </a:pPr>
            <a:r>
              <a:rPr sz="1050" b="0">
                <a:solidFill>
                  <a:srgbClr val="626262"/>
                </a:solidFill>
                <a:latin typeface="Helvetica Neue"/>
                <a:ea typeface="Helvetica Neue"/>
                <a:cs typeface="Helvetica Neue"/>
              </a:rPr>
              <a:t>Warranty and RMA</a:t>
            </a:r>
          </a:p>
        </p:txBody>
      </p:sp>
      <p:sp>
        <p:nvSpPr>
          <p:cNvPr id="30" name="">
            <a:extLst xmlns:a="http://schemas.openxmlformats.org/drawingml/2006/main">
              <a:ext uri="{FF2B5EF4-FFF2-40B4-BE49-F238E27FC236}">
                <a16:creationId xmlns:a16="http://schemas.microsoft.com/office/drawing/2014/main" id="{D678A1E6-F168-4005-9D00-CC7FCDD94B5C}"/>
              </a:ext>
            </a:extLst>
          </p:cNvPr>
          <p:cNvSpPr>
            <a:spLocks xmlns:a="http://schemas.openxmlformats.org/drawingml/2006/main" noGrp="1"/>
          </p:cNvSpPr>
          <p:nvPr/>
        </p:nvSpPr>
        <p:spPr>
          <a:xfrm xmlns:a="http://schemas.openxmlformats.org/drawingml/2006/main">
            <a:off x="10115550" y="2152650"/>
            <a:ext cx="1371600" cy="1390650"/>
          </a:xfrm>
          <a:prstGeom xmlns:a="http://schemas.openxmlformats.org/drawingml/2006/main" prst="roundRect">
            <a:avLst>
              <a:gd name="adj" fmla="val 12500"/>
            </a:avLst>
          </a:prstGeom>
          <a:solidFill xmlns:a="http://schemas.openxmlformats.org/drawingml/2006/main">
            <a:srgbClr val="F3F3F1"/>
          </a:solidFill>
          <a:ln xmlns:a="http://schemas.openxmlformats.org/drawingml/2006/main" w="9525">
            <a:solidFill>
              <a:srgbClr val="D9D9D5"/>
            </a:solidFill>
            <a:prstDash val="solid"/>
          </a:ln>
        </p:spPr>
      </p:sp>
      <p:sp>
        <p:nvSpPr>
          <p:cNvPr id="31" name="">
            <a:extLst xmlns:a="http://schemas.openxmlformats.org/drawingml/2006/main">
              <a:ext uri="{FF2B5EF4-FFF2-40B4-BE49-F238E27FC236}">
                <a16:creationId xmlns:a16="http://schemas.microsoft.com/office/drawing/2014/main" id="{42BEF6F1-EB89-482E-8374-2819FFE4EF53}"/>
              </a:ext>
            </a:extLst>
          </p:cNvPr>
          <p:cNvSpPr>
            <a:spLocks xmlns:a="http://schemas.openxmlformats.org/drawingml/2006/main" noGrp="1"/>
          </p:cNvSpPr>
          <p:nvPr/>
        </p:nvSpPr>
        <p:spPr>
          <a:xfrm xmlns:a="http://schemas.openxmlformats.org/drawingml/2006/main">
            <a:off x="10287000" y="2324100"/>
            <a:ext cx="40005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6</a:t>
            </a:r>
          </a:p>
        </p:txBody>
      </p:sp>
      <p:sp>
        <p:nvSpPr>
          <p:cNvPr id="32" name="">
            <a:extLst xmlns:a="http://schemas.openxmlformats.org/drawingml/2006/main">
              <a:ext uri="{FF2B5EF4-FFF2-40B4-BE49-F238E27FC236}">
                <a16:creationId xmlns:a16="http://schemas.microsoft.com/office/drawing/2014/main" id="{5566761C-731C-498F-8DC3-AB19AB7A2648}"/>
              </a:ext>
            </a:extLst>
          </p:cNvPr>
          <p:cNvSpPr>
            <a:spLocks xmlns:a="http://schemas.openxmlformats.org/drawingml/2006/main" noGrp="1"/>
          </p:cNvSpPr>
          <p:nvPr/>
        </p:nvSpPr>
        <p:spPr>
          <a:xfrm xmlns:a="http://schemas.openxmlformats.org/drawingml/2006/main">
            <a:off x="10287000" y="2743200"/>
            <a:ext cx="1047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952"/>
          </a:bodyPr>
          <a:lstStyle xmlns:a="http://schemas.openxmlformats.org/drawingml/2006/main"/>
          <a:p xmlns:a="http://schemas.openxmlformats.org/drawingml/2006/main">
            <a:pPr algn="l">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Measure</a:t>
            </a:r>
          </a:p>
        </p:txBody>
      </p:sp>
      <p:sp>
        <p:nvSpPr>
          <p:cNvPr id="33" name="">
            <a:extLst xmlns:a="http://schemas.openxmlformats.org/drawingml/2006/main">
              <a:ext uri="{FF2B5EF4-FFF2-40B4-BE49-F238E27FC236}">
                <a16:creationId xmlns:a16="http://schemas.microsoft.com/office/drawing/2014/main" id="{46D8BA58-8496-4248-AC7D-504AC13D1C86}"/>
              </a:ext>
            </a:extLst>
          </p:cNvPr>
          <p:cNvSpPr>
            <a:spLocks xmlns:a="http://schemas.openxmlformats.org/drawingml/2006/main" noGrp="1"/>
          </p:cNvSpPr>
          <p:nvPr/>
        </p:nvSpPr>
        <p:spPr>
          <a:xfrm xmlns:a="http://schemas.openxmlformats.org/drawingml/2006/main">
            <a:off x="10287000" y="3105150"/>
            <a:ext cx="10287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050" b="0">
                <a:solidFill>
                  <a:srgbClr val="626262"/>
                </a:solidFill>
                <a:latin typeface="Helvetica Neue"/>
                <a:ea typeface="Helvetica Neue"/>
                <a:cs typeface="Helvetica Neue"/>
              </a:defRPr>
            </a:pPr>
            <a:r>
              <a:rPr sz="1050" b="0">
                <a:solidFill>
                  <a:srgbClr val="626262"/>
                </a:solidFill>
                <a:latin typeface="Helvetica Neue"/>
                <a:ea typeface="Helvetica Neue"/>
                <a:cs typeface="Helvetica Neue"/>
              </a:rPr>
              <a:t>ERP and dashboard</a:t>
            </a:r>
          </a:p>
        </p:txBody>
      </p:sp>
      <p:sp>
        <p:nvSpPr>
          <p:cNvPr id="34" name="">
            <a:extLst xmlns:a="http://schemas.openxmlformats.org/drawingml/2006/main">
              <a:ext uri="{FF2B5EF4-FFF2-40B4-BE49-F238E27FC236}">
                <a16:creationId xmlns:a16="http://schemas.microsoft.com/office/drawing/2014/main" id="{87DCC4E2-94BD-4800-B15D-474F60ECB64C}"/>
              </a:ext>
            </a:extLst>
          </p:cNvPr>
          <p:cNvSpPr>
            <a:spLocks xmlns:a="http://schemas.openxmlformats.org/drawingml/2006/main" noGrp="1"/>
          </p:cNvSpPr>
          <p:nvPr/>
        </p:nvSpPr>
        <p:spPr>
          <a:xfrm xmlns:a="http://schemas.openxmlformats.org/drawingml/2006/main">
            <a:off x="400050" y="4171950"/>
            <a:ext cx="11087100" cy="1219200"/>
          </a:xfrm>
          <a:prstGeom xmlns:a="http://schemas.openxmlformats.org/drawingml/2006/main" prst="roundRect">
            <a:avLst>
              <a:gd name="adj" fmla="val 12500"/>
            </a:avLst>
          </a:prstGeom>
          <a:solidFill xmlns:a="http://schemas.openxmlformats.org/drawingml/2006/main">
            <a:srgbClr val="171717"/>
          </a:solidFill>
          <a:ln xmlns:a="http://schemas.openxmlformats.org/drawingml/2006/main" w="9525">
            <a:solidFill>
              <a:srgbClr val="171717"/>
            </a:solidFill>
            <a:prstDash val="solid"/>
          </a:ln>
        </p:spPr>
      </p:sp>
      <p:sp>
        <p:nvSpPr>
          <p:cNvPr id="35" name="">
            <a:extLst xmlns:a="http://schemas.openxmlformats.org/drawingml/2006/main">
              <a:ext uri="{FF2B5EF4-FFF2-40B4-BE49-F238E27FC236}">
                <a16:creationId xmlns:a16="http://schemas.microsoft.com/office/drawing/2014/main" id="{0E591024-D634-48B1-B905-AAC3BCBCCED3}"/>
              </a:ext>
            </a:extLst>
          </p:cNvPr>
          <p:cNvSpPr>
            <a:spLocks xmlns:a="http://schemas.openxmlformats.org/drawingml/2006/main" noGrp="1"/>
          </p:cNvSpPr>
          <p:nvPr/>
        </p:nvSpPr>
        <p:spPr>
          <a:xfrm xmlns:a="http://schemas.openxmlformats.org/drawingml/2006/main">
            <a:off x="666750" y="4400550"/>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8406"/>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Every confirmed event updates the next team</a:t>
            </a:r>
          </a:p>
        </p:txBody>
      </p:sp>
      <p:sp>
        <p:nvSpPr>
          <p:cNvPr id="36" name="">
            <a:extLst xmlns:a="http://schemas.openxmlformats.org/drawingml/2006/main">
              <a:ext uri="{FF2B5EF4-FFF2-40B4-BE49-F238E27FC236}">
                <a16:creationId xmlns:a16="http://schemas.microsoft.com/office/drawing/2014/main" id="{CCCB5021-3827-4471-9F0D-FE87CAD718BC}"/>
              </a:ext>
            </a:extLst>
          </p:cNvPr>
          <p:cNvSpPr>
            <a:spLocks xmlns:a="http://schemas.openxmlformats.org/drawingml/2006/main" noGrp="1"/>
          </p:cNvSpPr>
          <p:nvPr/>
        </p:nvSpPr>
        <p:spPr>
          <a:xfrm xmlns:a="http://schemas.openxmlformats.org/drawingml/2006/main">
            <a:off x="5257800" y="4352925"/>
            <a:ext cx="58674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E5E5E5"/>
                </a:solidFill>
                <a:latin typeface="Helvetica Neue"/>
                <a:ea typeface="Helvetica Neue"/>
                <a:cs typeface="Helvetica Neue"/>
              </a:defRPr>
            </a:pPr>
            <a:r>
              <a:rPr sz="1275" b="0">
                <a:solidFill>
                  <a:srgbClr val="E5E5E5"/>
                </a:solidFill>
                <a:latin typeface="Helvetica Neue"/>
                <a:ea typeface="Helvetica Neue"/>
                <a:cs typeface="Helvetica Neue"/>
              </a:rPr>
              <a:t>Payment approval unlocks fulfillment. Receiving updates stock. Replacement and refund decisions flow back into inventory and finance. The audit trail records who changed what.</a:t>
            </a:r>
          </a:p>
        </p:txBody>
      </p:sp>
    </p:spTree>
    <p:extLst>
      <p:ext uri="{BB962C8B-B14F-4D97-AF65-F5344CB8AC3E}">
        <p14:creationId xmlns:p14="http://schemas.microsoft.com/office/powerpoint/2010/main" val="40526777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4FF43382-EAC3-4BA4-BD1B-AA0EE88DD509}"/>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MASTER DATA</a:t>
            </a:r>
          </a:p>
        </p:txBody>
      </p:sp>
      <p:sp>
        <p:nvSpPr>
          <p:cNvPr id="2" name="">
            <a:extLst xmlns:a="http://schemas.openxmlformats.org/drawingml/2006/main">
              <a:ext uri="{FF2B5EF4-FFF2-40B4-BE49-F238E27FC236}">
                <a16:creationId xmlns:a16="http://schemas.microsoft.com/office/drawing/2014/main" id="{92BACC00-06F7-4404-A9E3-D235BFBFCF94}"/>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Products &amp; Stock separates two inventory models</a:t>
            </a:r>
          </a:p>
        </p:txBody>
      </p:sp>
      <p:sp>
        <p:nvSpPr>
          <p:cNvPr id="3" name="">
            <a:extLst xmlns:a="http://schemas.openxmlformats.org/drawingml/2006/main">
              <a:ext uri="{FF2B5EF4-FFF2-40B4-BE49-F238E27FC236}">
                <a16:creationId xmlns:a16="http://schemas.microsoft.com/office/drawing/2014/main" id="{89A4CF3A-D6D4-4A73-9D93-E47BC3A2FC44}"/>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F37E5766-4A00-41C3-8841-72B9FCD6DBE4}"/>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612F4DF2-B17D-43F9-AB0D-3D8E692EA61F}"/>
              </a:ext>
            </a:extLst>
          </p:cNvPr>
          <p:cNvSpPr>
            <a:spLocks xmlns:a="http://schemas.openxmlformats.org/drawingml/2006/main" noGrp="1"/>
          </p:cNvSpPr>
          <p:nvPr/>
        </p:nvSpPr>
        <p:spPr>
          <a:xfrm xmlns:a="http://schemas.openxmlformats.org/drawingml/2006/main">
            <a:off x="400050" y="1619250"/>
            <a:ext cx="5295900" cy="4000500"/>
          </a:xfrm>
          <a:prstGeom xmlns:a="http://schemas.openxmlformats.org/drawingml/2006/main" prst="roundRect">
            <a:avLst>
              <a:gd name="adj" fmla="val 4286"/>
            </a:avLst>
          </a:prstGeom>
          <a:solidFill xmlns:a="http://schemas.openxmlformats.org/drawingml/2006/main">
            <a:srgbClr val="F3F3F1"/>
          </a:solidFill>
          <a:ln xmlns:a="http://schemas.openxmlformats.org/drawingml/2006/main" w="9525">
            <a:solidFill>
              <a:srgbClr val="D9D9D5"/>
            </a:solidFill>
            <a:prstDash val="solid"/>
          </a:ln>
        </p:spPr>
      </p:sp>
      <p:sp>
        <p:nvSpPr>
          <p:cNvPr id="6" name="">
            <a:extLst xmlns:a="http://schemas.openxmlformats.org/drawingml/2006/main">
              <a:ext uri="{FF2B5EF4-FFF2-40B4-BE49-F238E27FC236}">
                <a16:creationId xmlns:a16="http://schemas.microsoft.com/office/drawing/2014/main" id="{F802EED1-966A-4B5C-993B-73339D724BA9}"/>
              </a:ext>
            </a:extLst>
          </p:cNvPr>
          <p:cNvSpPr>
            <a:spLocks xmlns:a="http://schemas.openxmlformats.org/drawingml/2006/main" noGrp="1"/>
          </p:cNvSpPr>
          <p:nvPr/>
        </p:nvSpPr>
        <p:spPr>
          <a:xfrm xmlns:a="http://schemas.openxmlformats.org/drawingml/2006/main">
            <a:off x="628650" y="1847850"/>
            <a:ext cx="9144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PHYSICAL</a:t>
            </a:r>
          </a:p>
        </p:txBody>
      </p:sp>
      <p:sp>
        <p:nvSpPr>
          <p:cNvPr id="7" name="">
            <a:extLst xmlns:a="http://schemas.openxmlformats.org/drawingml/2006/main">
              <a:ext uri="{FF2B5EF4-FFF2-40B4-BE49-F238E27FC236}">
                <a16:creationId xmlns:a16="http://schemas.microsoft.com/office/drawing/2014/main" id="{54DD30D6-8DC1-48EA-919B-3221A775D2F0}"/>
              </a:ext>
            </a:extLst>
          </p:cNvPr>
          <p:cNvSpPr>
            <a:spLocks xmlns:a="http://schemas.openxmlformats.org/drawingml/2006/main" noGrp="1"/>
          </p:cNvSpPr>
          <p:nvPr/>
        </p:nvSpPr>
        <p:spPr>
          <a:xfrm xmlns:a="http://schemas.openxmlformats.org/drawingml/2006/main">
            <a:off x="628650" y="2324100"/>
            <a:ext cx="4572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p xmlns:a="http://schemas.openxmlformats.org/drawingml/2006/main">
            <a:pPr algn="l">
              <a:defRPr sz="2100" b="1">
                <a:solidFill>
                  <a:srgbClr val="101010"/>
                </a:solidFill>
                <a:latin typeface="Helvetica Neue"/>
                <a:ea typeface="Helvetica Neue"/>
                <a:cs typeface="Helvetica Neue"/>
              </a:defRPr>
            </a:pPr>
            <a:r>
              <a:rPr sz="2100" b="1">
                <a:solidFill>
                  <a:srgbClr val="101010"/>
                </a:solidFill>
                <a:latin typeface="Helvetica Neue"/>
                <a:ea typeface="Helvetica Neue"/>
                <a:cs typeface="Helvetica Neue"/>
              </a:rPr>
              <a:t>Gaming gadgets</a:t>
            </a:r>
          </a:p>
        </p:txBody>
      </p:sp>
      <p:sp>
        <p:nvSpPr>
          <p:cNvPr id="8" name="">
            <a:extLst xmlns:a="http://schemas.openxmlformats.org/drawingml/2006/main">
              <a:ext uri="{FF2B5EF4-FFF2-40B4-BE49-F238E27FC236}">
                <a16:creationId xmlns:a16="http://schemas.microsoft.com/office/drawing/2014/main" id="{F7FBB3D7-DDCA-4F92-BB3F-1EB4B602FBC9}"/>
              </a:ext>
            </a:extLst>
          </p:cNvPr>
          <p:cNvSpPr>
            <a:spLocks xmlns:a="http://schemas.openxmlformats.org/drawingml/2006/main" noGrp="1"/>
          </p:cNvSpPr>
          <p:nvPr/>
        </p:nvSpPr>
        <p:spPr>
          <a:xfrm xmlns:a="http://schemas.openxmlformats.org/drawingml/2006/main">
            <a:off x="628650" y="2914650"/>
            <a:ext cx="447675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 Product and brand</a:t>
            </a:r>
          </a:p>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 Category and SKU variant</a:t>
            </a:r>
          </a:p>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 Selling price and latest cost</a:t>
            </a:r>
          </a:p>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 Warranty months</a:t>
            </a:r>
          </a:p>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 Quantity or serial-level unit</a:t>
            </a:r>
          </a:p>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 Low-stock threshold</a:t>
            </a:r>
          </a:p>
        </p:txBody>
      </p:sp>
      <p:sp>
        <p:nvSpPr>
          <p:cNvPr id="9" name="">
            <a:extLst xmlns:a="http://schemas.openxmlformats.org/drawingml/2006/main">
              <a:ext uri="{FF2B5EF4-FFF2-40B4-BE49-F238E27FC236}">
                <a16:creationId xmlns:a16="http://schemas.microsoft.com/office/drawing/2014/main" id="{60AF416E-DE4E-4F75-AF66-89F597FE2605}"/>
              </a:ext>
            </a:extLst>
          </p:cNvPr>
          <p:cNvSpPr>
            <a:spLocks xmlns:a="http://schemas.openxmlformats.org/drawingml/2006/main" noGrp="1"/>
          </p:cNvSpPr>
          <p:nvPr/>
        </p:nvSpPr>
        <p:spPr>
          <a:xfrm xmlns:a="http://schemas.openxmlformats.org/drawingml/2006/main">
            <a:off x="6096000" y="1619250"/>
            <a:ext cx="5695950" cy="4000500"/>
          </a:xfrm>
          <a:prstGeom xmlns:a="http://schemas.openxmlformats.org/drawingml/2006/main" prst="roundRect">
            <a:avLst>
              <a:gd name="adj" fmla="val 4286"/>
            </a:avLst>
          </a:prstGeom>
          <a:solidFill xmlns:a="http://schemas.openxmlformats.org/drawingml/2006/main">
            <a:srgbClr val="FFF2EC"/>
          </a:solidFill>
          <a:ln xmlns:a="http://schemas.openxmlformats.org/drawingml/2006/main" w="9525">
            <a:solidFill>
              <a:srgbClr val="FFD6C5"/>
            </a:solidFill>
            <a:prstDash val="solid"/>
          </a:ln>
        </p:spPr>
      </p:sp>
      <p:sp>
        <p:nvSpPr>
          <p:cNvPr id="10" name="">
            <a:extLst xmlns:a="http://schemas.openxmlformats.org/drawingml/2006/main">
              <a:ext uri="{FF2B5EF4-FFF2-40B4-BE49-F238E27FC236}">
                <a16:creationId xmlns:a16="http://schemas.microsoft.com/office/drawing/2014/main" id="{D38B623E-1700-4AFD-91EB-01311DFF5641}"/>
              </a:ext>
            </a:extLst>
          </p:cNvPr>
          <p:cNvSpPr>
            <a:spLocks xmlns:a="http://schemas.openxmlformats.org/drawingml/2006/main" noGrp="1"/>
          </p:cNvSpPr>
          <p:nvPr/>
        </p:nvSpPr>
        <p:spPr>
          <a:xfrm xmlns:a="http://schemas.openxmlformats.org/drawingml/2006/main">
            <a:off x="6324600" y="1847850"/>
            <a:ext cx="81915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DIGITAL</a:t>
            </a:r>
          </a:p>
        </p:txBody>
      </p:sp>
      <p:sp>
        <p:nvSpPr>
          <p:cNvPr id="11" name="">
            <a:extLst xmlns:a="http://schemas.openxmlformats.org/drawingml/2006/main">
              <a:ext uri="{FF2B5EF4-FFF2-40B4-BE49-F238E27FC236}">
                <a16:creationId xmlns:a16="http://schemas.microsoft.com/office/drawing/2014/main" id="{027AA9B6-A635-4F81-97CD-91E0DA151518}"/>
              </a:ext>
            </a:extLst>
          </p:cNvPr>
          <p:cNvSpPr>
            <a:spLocks xmlns:a="http://schemas.openxmlformats.org/drawingml/2006/main" noGrp="1"/>
          </p:cNvSpPr>
          <p:nvPr/>
        </p:nvSpPr>
        <p:spPr>
          <a:xfrm xmlns:a="http://schemas.openxmlformats.org/drawingml/2006/main">
            <a:off x="6324600" y="2324100"/>
            <a:ext cx="476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476"/>
          </a:bodyPr>
          <a:lstStyle xmlns:a="http://schemas.openxmlformats.org/drawingml/2006/main"/>
          <a:p xmlns:a="http://schemas.openxmlformats.org/drawingml/2006/main">
            <a:pPr algn="l">
              <a:defRPr sz="2100" b="1">
                <a:solidFill>
                  <a:srgbClr val="101010"/>
                </a:solidFill>
                <a:latin typeface="Helvetica Neue"/>
                <a:ea typeface="Helvetica Neue"/>
                <a:cs typeface="Helvetica Neue"/>
              </a:defRPr>
            </a:pPr>
            <a:r>
              <a:rPr sz="2100" b="1">
                <a:solidFill>
                  <a:srgbClr val="101010"/>
                </a:solidFill>
                <a:latin typeface="Helvetica Neue"/>
                <a:ea typeface="Helvetica Neue"/>
                <a:cs typeface="Helvetica Neue"/>
              </a:rPr>
              <a:t>PUBG Mobile accounts</a:t>
            </a:r>
          </a:p>
        </p:txBody>
      </p:sp>
      <p:sp>
        <p:nvSpPr>
          <p:cNvPr id="12" name="">
            <a:extLst xmlns:a="http://schemas.openxmlformats.org/drawingml/2006/main">
              <a:ext uri="{FF2B5EF4-FFF2-40B4-BE49-F238E27FC236}">
                <a16:creationId xmlns:a16="http://schemas.microsoft.com/office/drawing/2014/main" id="{823F4059-094E-4608-8B30-5826D5D58BB4}"/>
              </a:ext>
            </a:extLst>
          </p:cNvPr>
          <p:cNvSpPr>
            <a:spLocks xmlns:a="http://schemas.openxmlformats.org/drawingml/2006/main" noGrp="1"/>
          </p:cNvSpPr>
          <p:nvPr/>
        </p:nvSpPr>
        <p:spPr>
          <a:xfrm xmlns:a="http://schemas.openxmlformats.org/drawingml/2006/main">
            <a:off x="6324600" y="2914650"/>
            <a:ext cx="4914900" cy="2209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 Listing plus unique account records</a:t>
            </a:r>
          </a:p>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 Login provider and internal reference</a:t>
            </a:r>
          </a:p>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 Rebind / handover status</a:t>
            </a:r>
          </a:p>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 Available, reserved or sold lifecycle</a:t>
            </a:r>
          </a:p>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 Never store passwords or recovery codes</a:t>
            </a:r>
          </a:p>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 Published quantity follows Account Vault</a:t>
            </a:r>
          </a:p>
        </p:txBody>
      </p:sp>
    </p:spTree>
    <p:extLst>
      <p:ext uri="{BB962C8B-B14F-4D97-AF65-F5344CB8AC3E}">
        <p14:creationId xmlns:p14="http://schemas.microsoft.com/office/powerpoint/2010/main" val="250901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22871C8-D24E-4A98-8016-B5A00977A9FB}"/>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PUBG ACCOUNT WORKFLOW</a:t>
            </a:r>
          </a:p>
        </p:txBody>
      </p:sp>
      <p:sp>
        <p:nvSpPr>
          <p:cNvPr id="2" name="">
            <a:extLst xmlns:a="http://schemas.openxmlformats.org/drawingml/2006/main">
              <a:ext uri="{FF2B5EF4-FFF2-40B4-BE49-F238E27FC236}">
                <a16:creationId xmlns:a16="http://schemas.microsoft.com/office/drawing/2014/main" id="{DAFD5E80-75A1-45E0-8E01-BE1168983446}"/>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Account Vault controls every digital asset</a:t>
            </a:r>
          </a:p>
        </p:txBody>
      </p:sp>
      <p:sp>
        <p:nvSpPr>
          <p:cNvPr id="3" name="">
            <a:extLst xmlns:a="http://schemas.openxmlformats.org/drawingml/2006/main">
              <a:ext uri="{FF2B5EF4-FFF2-40B4-BE49-F238E27FC236}">
                <a16:creationId xmlns:a16="http://schemas.microsoft.com/office/drawing/2014/main" id="{37F8DD5A-7904-4BC7-B69A-C4F6AAD30D55}"/>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F1EC751B-A298-4992-BC6B-C940DEEF372C}"/>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A046EA5B-9913-4695-A3AF-24B525B9A0C5}"/>
              </a:ext>
            </a:extLst>
          </p:cNvPr>
          <p:cNvSpPr>
            <a:spLocks xmlns:a="http://schemas.openxmlformats.org/drawingml/2006/main" noGrp="1"/>
          </p:cNvSpPr>
          <p:nvPr/>
        </p:nvSpPr>
        <p:spPr>
          <a:xfrm xmlns:a="http://schemas.openxmlformats.org/drawingml/2006/main">
            <a:off x="400050" y="1828800"/>
            <a:ext cx="2667000" cy="2590800"/>
          </a:xfrm>
          <a:prstGeom xmlns:a="http://schemas.openxmlformats.org/drawingml/2006/main" prst="roundRect">
            <a:avLst>
              <a:gd name="adj" fmla="val 5882"/>
            </a:avLst>
          </a:prstGeom>
          <a:solidFill xmlns:a="http://schemas.openxmlformats.org/drawingml/2006/main">
            <a:srgbClr val="F3F3F1"/>
          </a:solidFill>
          <a:ln xmlns:a="http://schemas.openxmlformats.org/drawingml/2006/main" w="9525">
            <a:solidFill>
              <a:srgbClr val="D9D9D5"/>
            </a:solidFill>
            <a:prstDash val="solid"/>
          </a:ln>
        </p:spPr>
      </p:sp>
      <p:sp>
        <p:nvSpPr>
          <p:cNvPr id="6" name="">
            <a:extLst xmlns:a="http://schemas.openxmlformats.org/drawingml/2006/main">
              <a:ext uri="{FF2B5EF4-FFF2-40B4-BE49-F238E27FC236}">
                <a16:creationId xmlns:a16="http://schemas.microsoft.com/office/drawing/2014/main" id="{1216C8AA-E3E6-48F2-B812-11271CAB5433}"/>
              </a:ext>
            </a:extLst>
          </p:cNvPr>
          <p:cNvSpPr>
            <a:spLocks xmlns:a="http://schemas.openxmlformats.org/drawingml/2006/main" noGrp="1"/>
          </p:cNvSpPr>
          <p:nvPr/>
        </p:nvSpPr>
        <p:spPr>
          <a:xfrm xmlns:a="http://schemas.openxmlformats.org/drawingml/2006/main">
            <a:off x="590550" y="2000250"/>
            <a:ext cx="4953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862EC54E-D0C0-43A7-8D58-0680DF0F67A3}"/>
              </a:ext>
            </a:extLst>
          </p:cNvPr>
          <p:cNvSpPr>
            <a:spLocks xmlns:a="http://schemas.openxmlformats.org/drawingml/2006/main" noGrp="1"/>
          </p:cNvSpPr>
          <p:nvPr/>
        </p:nvSpPr>
        <p:spPr>
          <a:xfrm xmlns:a="http://schemas.openxmlformats.org/drawingml/2006/main">
            <a:off x="590550" y="24193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CREATE</a:t>
            </a:r>
          </a:p>
        </p:txBody>
      </p:sp>
      <p:sp>
        <p:nvSpPr>
          <p:cNvPr id="8" name="">
            <a:extLst xmlns:a="http://schemas.openxmlformats.org/drawingml/2006/main">
              <a:ext uri="{FF2B5EF4-FFF2-40B4-BE49-F238E27FC236}">
                <a16:creationId xmlns:a16="http://schemas.microsoft.com/office/drawing/2014/main" id="{B881D885-923C-4823-8E58-C4C6D4E7EC14}"/>
              </a:ext>
            </a:extLst>
          </p:cNvPr>
          <p:cNvSpPr>
            <a:spLocks xmlns:a="http://schemas.openxmlformats.org/drawingml/2006/main" noGrp="1"/>
          </p:cNvSpPr>
          <p:nvPr/>
        </p:nvSpPr>
        <p:spPr>
          <a:xfrm xmlns:a="http://schemas.openxmlformats.org/drawingml/2006/main">
            <a:off x="590550" y="2819400"/>
            <a:ext cx="228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Add a safe internal reference, provider and rebind state.</a:t>
            </a:r>
          </a:p>
        </p:txBody>
      </p:sp>
      <p:sp>
        <p:nvSpPr>
          <p:cNvPr id="9" name="">
            <a:extLst xmlns:a="http://schemas.openxmlformats.org/drawingml/2006/main">
              <a:ext uri="{FF2B5EF4-FFF2-40B4-BE49-F238E27FC236}">
                <a16:creationId xmlns:a16="http://schemas.microsoft.com/office/drawing/2014/main" id="{1B9E6813-EE28-4E24-9888-14824AF4C6C3}"/>
              </a:ext>
            </a:extLst>
          </p:cNvPr>
          <p:cNvSpPr>
            <a:spLocks xmlns:a="http://schemas.openxmlformats.org/drawingml/2006/main" noGrp="1"/>
          </p:cNvSpPr>
          <p:nvPr/>
        </p:nvSpPr>
        <p:spPr>
          <a:xfrm xmlns:a="http://schemas.openxmlformats.org/drawingml/2006/main">
            <a:off x="3267075" y="1828800"/>
            <a:ext cx="2667000" cy="2590800"/>
          </a:xfrm>
          <a:prstGeom xmlns:a="http://schemas.openxmlformats.org/drawingml/2006/main" prst="roundRect">
            <a:avLst>
              <a:gd name="adj" fmla="val 5882"/>
            </a:avLst>
          </a:prstGeom>
          <a:solidFill xmlns:a="http://schemas.openxmlformats.org/drawingml/2006/main">
            <a:srgbClr val="F3F3F1"/>
          </a:solidFill>
          <a:ln xmlns:a="http://schemas.openxmlformats.org/drawingml/2006/main" w="9525">
            <a:solidFill>
              <a:srgbClr val="D9D9D5"/>
            </a:solidFill>
            <a:prstDash val="solid"/>
          </a:ln>
        </p:spPr>
      </p:sp>
      <p:sp>
        <p:nvSpPr>
          <p:cNvPr id="10" name="">
            <a:extLst xmlns:a="http://schemas.openxmlformats.org/drawingml/2006/main">
              <a:ext uri="{FF2B5EF4-FFF2-40B4-BE49-F238E27FC236}">
                <a16:creationId xmlns:a16="http://schemas.microsoft.com/office/drawing/2014/main" id="{EFB0DE86-D8A1-46FC-9B21-E60AAEAAB2F9}"/>
              </a:ext>
            </a:extLst>
          </p:cNvPr>
          <p:cNvSpPr>
            <a:spLocks xmlns:a="http://schemas.openxmlformats.org/drawingml/2006/main" noGrp="1"/>
          </p:cNvSpPr>
          <p:nvPr/>
        </p:nvSpPr>
        <p:spPr>
          <a:xfrm xmlns:a="http://schemas.openxmlformats.org/drawingml/2006/main">
            <a:off x="3457575" y="2000250"/>
            <a:ext cx="4953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809A5B63-9DB6-4021-BACE-BD9B94A63583}"/>
              </a:ext>
            </a:extLst>
          </p:cNvPr>
          <p:cNvSpPr>
            <a:spLocks xmlns:a="http://schemas.openxmlformats.org/drawingml/2006/main" noGrp="1"/>
          </p:cNvSpPr>
          <p:nvPr/>
        </p:nvSpPr>
        <p:spPr>
          <a:xfrm xmlns:a="http://schemas.openxmlformats.org/drawingml/2006/main">
            <a:off x="3457575" y="24193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PUBLISH</a:t>
            </a:r>
          </a:p>
        </p:txBody>
      </p:sp>
      <p:sp>
        <p:nvSpPr>
          <p:cNvPr id="12" name="">
            <a:extLst xmlns:a="http://schemas.openxmlformats.org/drawingml/2006/main">
              <a:ext uri="{FF2B5EF4-FFF2-40B4-BE49-F238E27FC236}">
                <a16:creationId xmlns:a16="http://schemas.microsoft.com/office/drawing/2014/main" id="{CED5FA6A-9A04-42AB-A6CE-4D672B206EF4}"/>
              </a:ext>
            </a:extLst>
          </p:cNvPr>
          <p:cNvSpPr>
            <a:spLocks xmlns:a="http://schemas.openxmlformats.org/drawingml/2006/main" noGrp="1"/>
          </p:cNvSpPr>
          <p:nvPr/>
        </p:nvSpPr>
        <p:spPr>
          <a:xfrm xmlns:a="http://schemas.openxmlformats.org/drawingml/2006/main">
            <a:off x="3457575" y="2819400"/>
            <a:ext cx="228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Only available records contribute to storefront availability.</a:t>
            </a:r>
          </a:p>
        </p:txBody>
      </p:sp>
      <p:sp>
        <p:nvSpPr>
          <p:cNvPr id="13" name="">
            <a:extLst xmlns:a="http://schemas.openxmlformats.org/drawingml/2006/main">
              <a:ext uri="{FF2B5EF4-FFF2-40B4-BE49-F238E27FC236}">
                <a16:creationId xmlns:a16="http://schemas.microsoft.com/office/drawing/2014/main" id="{C58D5E7E-CDA8-4F09-8EC6-E62C9B2FD469}"/>
              </a:ext>
            </a:extLst>
          </p:cNvPr>
          <p:cNvSpPr>
            <a:spLocks xmlns:a="http://schemas.openxmlformats.org/drawingml/2006/main" noGrp="1"/>
          </p:cNvSpPr>
          <p:nvPr/>
        </p:nvSpPr>
        <p:spPr>
          <a:xfrm xmlns:a="http://schemas.openxmlformats.org/drawingml/2006/main">
            <a:off x="6134100" y="1828800"/>
            <a:ext cx="2667000" cy="2590800"/>
          </a:xfrm>
          <a:prstGeom xmlns:a="http://schemas.openxmlformats.org/drawingml/2006/main" prst="roundRect">
            <a:avLst>
              <a:gd name="adj" fmla="val 5882"/>
            </a:avLst>
          </a:prstGeom>
          <a:solidFill xmlns:a="http://schemas.openxmlformats.org/drawingml/2006/main">
            <a:srgbClr val="F3F3F1"/>
          </a:solidFill>
          <a:ln xmlns:a="http://schemas.openxmlformats.org/drawingml/2006/main" w="9525">
            <a:solidFill>
              <a:srgbClr val="D9D9D5"/>
            </a:solidFill>
            <a:prstDash val="solid"/>
          </a:ln>
        </p:spPr>
      </p:sp>
      <p:sp>
        <p:nvSpPr>
          <p:cNvPr id="14" name="">
            <a:extLst xmlns:a="http://schemas.openxmlformats.org/drawingml/2006/main">
              <a:ext uri="{FF2B5EF4-FFF2-40B4-BE49-F238E27FC236}">
                <a16:creationId xmlns:a16="http://schemas.microsoft.com/office/drawing/2014/main" id="{F8A087E2-45BD-4767-ACF8-4805260803EF}"/>
              </a:ext>
            </a:extLst>
          </p:cNvPr>
          <p:cNvSpPr>
            <a:spLocks xmlns:a="http://schemas.openxmlformats.org/drawingml/2006/main" noGrp="1"/>
          </p:cNvSpPr>
          <p:nvPr/>
        </p:nvSpPr>
        <p:spPr>
          <a:xfrm xmlns:a="http://schemas.openxmlformats.org/drawingml/2006/main">
            <a:off x="6324600" y="2000250"/>
            <a:ext cx="4953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ED546E15-E884-4463-996D-0AD9895DBD57}"/>
              </a:ext>
            </a:extLst>
          </p:cNvPr>
          <p:cNvSpPr>
            <a:spLocks xmlns:a="http://schemas.openxmlformats.org/drawingml/2006/main" noGrp="1"/>
          </p:cNvSpPr>
          <p:nvPr/>
        </p:nvSpPr>
        <p:spPr>
          <a:xfrm xmlns:a="http://schemas.openxmlformats.org/drawingml/2006/main">
            <a:off x="6324600" y="24193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RESERVE</a:t>
            </a:r>
          </a:p>
        </p:txBody>
      </p:sp>
      <p:sp>
        <p:nvSpPr>
          <p:cNvPr id="16" name="">
            <a:extLst xmlns:a="http://schemas.openxmlformats.org/drawingml/2006/main">
              <a:ext uri="{FF2B5EF4-FFF2-40B4-BE49-F238E27FC236}">
                <a16:creationId xmlns:a16="http://schemas.microsoft.com/office/drawing/2014/main" id="{448B3D18-E3E2-4DB2-BF21-7B8714222CD3}"/>
              </a:ext>
            </a:extLst>
          </p:cNvPr>
          <p:cNvSpPr>
            <a:spLocks xmlns:a="http://schemas.openxmlformats.org/drawingml/2006/main" noGrp="1"/>
          </p:cNvSpPr>
          <p:nvPr/>
        </p:nvSpPr>
        <p:spPr>
          <a:xfrm xmlns:a="http://schemas.openxmlformats.org/drawingml/2006/main">
            <a:off x="6324600" y="2819400"/>
            <a:ext cx="228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Checkout locks an available account against the order.</a:t>
            </a:r>
          </a:p>
        </p:txBody>
      </p:sp>
      <p:sp>
        <p:nvSpPr>
          <p:cNvPr id="17" name="">
            <a:extLst xmlns:a="http://schemas.openxmlformats.org/drawingml/2006/main">
              <a:ext uri="{FF2B5EF4-FFF2-40B4-BE49-F238E27FC236}">
                <a16:creationId xmlns:a16="http://schemas.microsoft.com/office/drawing/2014/main" id="{0FA792AB-9350-484F-966A-686CC07B2918}"/>
              </a:ext>
            </a:extLst>
          </p:cNvPr>
          <p:cNvSpPr>
            <a:spLocks xmlns:a="http://schemas.openxmlformats.org/drawingml/2006/main" noGrp="1"/>
          </p:cNvSpPr>
          <p:nvPr/>
        </p:nvSpPr>
        <p:spPr>
          <a:xfrm xmlns:a="http://schemas.openxmlformats.org/drawingml/2006/main">
            <a:off x="9001125" y="1828800"/>
            <a:ext cx="2667000" cy="2590800"/>
          </a:xfrm>
          <a:prstGeom xmlns:a="http://schemas.openxmlformats.org/drawingml/2006/main" prst="roundRect">
            <a:avLst>
              <a:gd name="adj" fmla="val 5882"/>
            </a:avLst>
          </a:prstGeom>
          <a:solidFill xmlns:a="http://schemas.openxmlformats.org/drawingml/2006/main">
            <a:srgbClr val="F3F3F1"/>
          </a:solidFill>
          <a:ln xmlns:a="http://schemas.openxmlformats.org/drawingml/2006/main" w="9525">
            <a:solidFill>
              <a:srgbClr val="D9D9D5"/>
            </a:solidFill>
            <a:prstDash val="solid"/>
          </a:ln>
        </p:spPr>
      </p:sp>
      <p:sp>
        <p:nvSpPr>
          <p:cNvPr id="18" name="">
            <a:extLst xmlns:a="http://schemas.openxmlformats.org/drawingml/2006/main">
              <a:ext uri="{FF2B5EF4-FFF2-40B4-BE49-F238E27FC236}">
                <a16:creationId xmlns:a16="http://schemas.microsoft.com/office/drawing/2014/main" id="{F8352B39-7FDE-4B28-9DF9-1E92A1B3E8C0}"/>
              </a:ext>
            </a:extLst>
          </p:cNvPr>
          <p:cNvSpPr>
            <a:spLocks xmlns:a="http://schemas.openxmlformats.org/drawingml/2006/main" noGrp="1"/>
          </p:cNvSpPr>
          <p:nvPr/>
        </p:nvSpPr>
        <p:spPr>
          <a:xfrm xmlns:a="http://schemas.openxmlformats.org/drawingml/2006/main">
            <a:off x="9191625" y="2000250"/>
            <a:ext cx="49530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C9F9DA86-818D-41E1-B400-50013F7E7443}"/>
              </a:ext>
            </a:extLst>
          </p:cNvPr>
          <p:cNvSpPr>
            <a:spLocks xmlns:a="http://schemas.openxmlformats.org/drawingml/2006/main" noGrp="1"/>
          </p:cNvSpPr>
          <p:nvPr/>
        </p:nvSpPr>
        <p:spPr>
          <a:xfrm xmlns:a="http://schemas.openxmlformats.org/drawingml/2006/main">
            <a:off x="9191625" y="24193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HAND OVER</a:t>
            </a:r>
          </a:p>
        </p:txBody>
      </p:sp>
      <p:sp>
        <p:nvSpPr>
          <p:cNvPr id="20" name="">
            <a:extLst xmlns:a="http://schemas.openxmlformats.org/drawingml/2006/main">
              <a:ext uri="{FF2B5EF4-FFF2-40B4-BE49-F238E27FC236}">
                <a16:creationId xmlns:a16="http://schemas.microsoft.com/office/drawing/2014/main" id="{A9B6AADA-C18A-472F-B7F4-2BF66BE54755}"/>
              </a:ext>
            </a:extLst>
          </p:cNvPr>
          <p:cNvSpPr>
            <a:spLocks xmlns:a="http://schemas.openxmlformats.org/drawingml/2006/main" noGrp="1"/>
          </p:cNvSpPr>
          <p:nvPr/>
        </p:nvSpPr>
        <p:spPr>
          <a:xfrm xmlns:a="http://schemas.openxmlformats.org/drawingml/2006/main">
            <a:off x="9191625" y="2819400"/>
            <a:ext cx="22860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Staff completes secure rebind and marks the record sold.</a:t>
            </a:r>
          </a:p>
        </p:txBody>
      </p:sp>
      <p:sp>
        <p:nvSpPr>
          <p:cNvPr id="21" name="">
            <a:extLst xmlns:a="http://schemas.openxmlformats.org/drawingml/2006/main">
              <a:ext uri="{FF2B5EF4-FFF2-40B4-BE49-F238E27FC236}">
                <a16:creationId xmlns:a16="http://schemas.microsoft.com/office/drawing/2014/main" id="{44B2B793-67D5-4A33-8980-05D86310E45F}"/>
              </a:ext>
            </a:extLst>
          </p:cNvPr>
          <p:cNvSpPr>
            <a:spLocks xmlns:a="http://schemas.openxmlformats.org/drawingml/2006/main" noGrp="1"/>
          </p:cNvSpPr>
          <p:nvPr/>
        </p:nvSpPr>
        <p:spPr>
          <a:xfrm xmlns:a="http://schemas.openxmlformats.org/drawingml/2006/main">
            <a:off x="400050" y="4838700"/>
            <a:ext cx="11268075" cy="819150"/>
          </a:xfrm>
          <a:prstGeom xmlns:a="http://schemas.openxmlformats.org/drawingml/2006/main" prst="roundRect">
            <a:avLst>
              <a:gd name="adj" fmla="val 18605"/>
            </a:avLst>
          </a:prstGeom>
          <a:solidFill xmlns:a="http://schemas.openxmlformats.org/drawingml/2006/main">
            <a:srgbClr val="171717"/>
          </a:solidFill>
          <a:ln xmlns:a="http://schemas.openxmlformats.org/drawingml/2006/main" w="9525">
            <a:solidFill>
              <a:srgbClr val="171717"/>
            </a:solidFill>
            <a:prstDash val="solid"/>
          </a:ln>
        </p:spPr>
      </p:sp>
      <p:sp>
        <p:nvSpPr>
          <p:cNvPr id="22" name="">
            <a:extLst xmlns:a="http://schemas.openxmlformats.org/drawingml/2006/main">
              <a:ext uri="{FF2B5EF4-FFF2-40B4-BE49-F238E27FC236}">
                <a16:creationId xmlns:a16="http://schemas.microsoft.com/office/drawing/2014/main" id="{E15E7B1D-63B2-4A17-861B-F3B07E776C1C}"/>
              </a:ext>
            </a:extLst>
          </p:cNvPr>
          <p:cNvSpPr>
            <a:spLocks xmlns:a="http://schemas.openxmlformats.org/drawingml/2006/main" noGrp="1"/>
          </p:cNvSpPr>
          <p:nvPr/>
        </p:nvSpPr>
        <p:spPr>
          <a:xfrm xmlns:a="http://schemas.openxmlformats.org/drawingml/2006/main">
            <a:off x="647700" y="5076825"/>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C7F36B"/>
                </a:solidFill>
                <a:latin typeface="Helvetica Neue"/>
                <a:ea typeface="Helvetica Neue"/>
                <a:cs typeface="Helvetica Neue"/>
              </a:defRPr>
            </a:pPr>
            <a:r>
              <a:rPr sz="1200" b="1">
                <a:solidFill>
                  <a:srgbClr val="C7F36B"/>
                </a:solidFill>
                <a:latin typeface="Helvetica Neue"/>
                <a:ea typeface="Helvetica Neue"/>
                <a:cs typeface="Helvetica Neue"/>
              </a:rPr>
              <a:t>DIGITAL RULE</a:t>
            </a:r>
          </a:p>
        </p:txBody>
      </p:sp>
      <p:sp>
        <p:nvSpPr>
          <p:cNvPr id="23" name="">
            <a:extLst xmlns:a="http://schemas.openxmlformats.org/drawingml/2006/main">
              <a:ext uri="{FF2B5EF4-FFF2-40B4-BE49-F238E27FC236}">
                <a16:creationId xmlns:a16="http://schemas.microsoft.com/office/drawing/2014/main" id="{45064C5E-DC59-42C5-B840-0E308B27BB84}"/>
              </a:ext>
            </a:extLst>
          </p:cNvPr>
          <p:cNvSpPr>
            <a:spLocks xmlns:a="http://schemas.openxmlformats.org/drawingml/2006/main" noGrp="1"/>
          </p:cNvSpPr>
          <p:nvPr/>
        </p:nvSpPr>
        <p:spPr>
          <a:xfrm xmlns:a="http://schemas.openxmlformats.org/drawingml/2006/main">
            <a:off x="2247900" y="5048250"/>
            <a:ext cx="876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75" b="1">
                <a:solidFill>
                  <a:srgbClr val="FFFFFF"/>
                </a:solidFill>
                <a:latin typeface="Helvetica Neue"/>
                <a:ea typeface="Helvetica Neue"/>
                <a:cs typeface="Helvetica Neue"/>
              </a:defRPr>
            </a:pPr>
            <a:r>
              <a:rPr sz="1575" b="1">
                <a:solidFill>
                  <a:srgbClr val="FFFFFF"/>
                </a:solidFill>
                <a:latin typeface="Helvetica Neue"/>
                <a:ea typeface="Helvetica Neue"/>
                <a:cs typeface="Helvetica Neue"/>
              </a:rPr>
              <a:t>No courier, no tracking number and no delivery fee for a PUBG-only order.</a:t>
            </a:r>
          </a:p>
        </p:txBody>
      </p:sp>
    </p:spTree>
    <p:extLst>
      <p:ext uri="{BB962C8B-B14F-4D97-AF65-F5344CB8AC3E}">
        <p14:creationId xmlns:p14="http://schemas.microsoft.com/office/powerpoint/2010/main" val="22744759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BA6AE36-22BE-4D3C-9C3C-ED759BF4799A}"/>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MERCHANDISING</a:t>
            </a:r>
          </a:p>
        </p:txBody>
      </p:sp>
      <p:sp>
        <p:nvSpPr>
          <p:cNvPr id="2" name="">
            <a:extLst xmlns:a="http://schemas.openxmlformats.org/drawingml/2006/main">
              <a:ext uri="{FF2B5EF4-FFF2-40B4-BE49-F238E27FC236}">
                <a16:creationId xmlns:a16="http://schemas.microsoft.com/office/drawing/2014/main" id="{80795B1E-DABF-4827-8A4D-C56062E9CCC6}"/>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Bundle Sets stay synchronized with component stock</a:t>
            </a:r>
          </a:p>
        </p:txBody>
      </p:sp>
      <p:sp>
        <p:nvSpPr>
          <p:cNvPr id="3" name="">
            <a:extLst xmlns:a="http://schemas.openxmlformats.org/drawingml/2006/main">
              <a:ext uri="{FF2B5EF4-FFF2-40B4-BE49-F238E27FC236}">
                <a16:creationId xmlns:a16="http://schemas.microsoft.com/office/drawing/2014/main" id="{D7A4C9F4-B437-45F6-AC20-BE7E67A5BC18}"/>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DC403EF2-4271-4779-A506-BEF52BD4D1C5}"/>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BED7F2BB-A17B-442B-87BE-6D2D4A0AFE86}"/>
              </a:ext>
            </a:extLst>
          </p:cNvPr>
          <p:cNvSpPr>
            <a:spLocks xmlns:a="http://schemas.openxmlformats.org/drawingml/2006/main" noGrp="1"/>
          </p:cNvSpPr>
          <p:nvPr/>
        </p:nvSpPr>
        <p:spPr>
          <a:xfrm xmlns:a="http://schemas.openxmlformats.org/drawingml/2006/main">
            <a:off x="400050" y="1695450"/>
            <a:ext cx="3429000" cy="3524250"/>
          </a:xfrm>
          <a:prstGeom xmlns:a="http://schemas.openxmlformats.org/drawingml/2006/main" prst="roundRect">
            <a:avLst>
              <a:gd name="adj" fmla="val 5000"/>
            </a:avLst>
          </a:prstGeom>
          <a:solidFill xmlns:a="http://schemas.openxmlformats.org/drawingml/2006/main">
            <a:srgbClr val="F3F3F1"/>
          </a:solidFill>
          <a:ln xmlns:a="http://schemas.openxmlformats.org/drawingml/2006/main" w="9525">
            <a:solidFill>
              <a:srgbClr val="D9D9D5"/>
            </a:solidFill>
            <a:prstDash val="solid"/>
          </a:ln>
        </p:spPr>
      </p:sp>
      <p:sp>
        <p:nvSpPr>
          <p:cNvPr id="6" name="">
            <a:extLst xmlns:a="http://schemas.openxmlformats.org/drawingml/2006/main">
              <a:ext uri="{FF2B5EF4-FFF2-40B4-BE49-F238E27FC236}">
                <a16:creationId xmlns:a16="http://schemas.microsoft.com/office/drawing/2014/main" id="{C1CFFC31-5C2D-4CF5-AE0D-C34A4E6F8F56}"/>
              </a:ext>
            </a:extLst>
          </p:cNvPr>
          <p:cNvSpPr>
            <a:spLocks xmlns:a="http://schemas.openxmlformats.org/drawingml/2006/main" noGrp="1"/>
          </p:cNvSpPr>
          <p:nvPr/>
        </p:nvSpPr>
        <p:spPr>
          <a:xfrm xmlns:a="http://schemas.openxmlformats.org/drawingml/2006/main">
            <a:off x="628650" y="19431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626262"/>
                </a:solidFill>
                <a:latin typeface="Helvetica Neue"/>
                <a:ea typeface="Helvetica Neue"/>
                <a:cs typeface="Helvetica Neue"/>
              </a:defRPr>
            </a:pPr>
            <a:r>
              <a:rPr sz="1350" b="1">
                <a:solidFill>
                  <a:srgbClr val="626262"/>
                </a:solidFill>
                <a:latin typeface="Helvetica Neue"/>
                <a:ea typeface="Helvetica Neue"/>
                <a:cs typeface="Helvetica Neue"/>
              </a:rPr>
              <a:t>BUILD</a:t>
            </a:r>
          </a:p>
        </p:txBody>
      </p:sp>
      <p:sp>
        <p:nvSpPr>
          <p:cNvPr id="7" name="">
            <a:extLst xmlns:a="http://schemas.openxmlformats.org/drawingml/2006/main">
              <a:ext uri="{FF2B5EF4-FFF2-40B4-BE49-F238E27FC236}">
                <a16:creationId xmlns:a16="http://schemas.microsoft.com/office/drawing/2014/main" id="{4C53930F-32CA-48ED-B8E7-E40D0D8FFF4E}"/>
              </a:ext>
            </a:extLst>
          </p:cNvPr>
          <p:cNvSpPr>
            <a:spLocks xmlns:a="http://schemas.openxmlformats.org/drawingml/2006/main" noGrp="1"/>
          </p:cNvSpPr>
          <p:nvPr/>
        </p:nvSpPr>
        <p:spPr>
          <a:xfrm xmlns:a="http://schemas.openxmlformats.org/drawingml/2006/main">
            <a:off x="628650" y="2400300"/>
            <a:ext cx="276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01010"/>
                </a:solidFill>
                <a:latin typeface="Helvetica Neue"/>
                <a:ea typeface="Helvetica Neue"/>
                <a:cs typeface="Helvetica Neue"/>
              </a:defRPr>
            </a:pPr>
            <a:r>
              <a:rPr sz="1875" b="1">
                <a:solidFill>
                  <a:srgbClr val="101010"/>
                </a:solidFill>
                <a:latin typeface="Helvetica Neue"/>
                <a:ea typeface="Helvetica Neue"/>
                <a:cs typeface="Helvetica Neue"/>
              </a:rPr>
              <a:t>Select active SKUs and quantities</a:t>
            </a:r>
          </a:p>
        </p:txBody>
      </p:sp>
      <p:sp>
        <p:nvSpPr>
          <p:cNvPr id="8" name="">
            <a:extLst xmlns:a="http://schemas.openxmlformats.org/drawingml/2006/main">
              <a:ext uri="{FF2B5EF4-FFF2-40B4-BE49-F238E27FC236}">
                <a16:creationId xmlns:a16="http://schemas.microsoft.com/office/drawing/2014/main" id="{C2DB7F96-E191-4905-BD94-296F3A752E2A}"/>
              </a:ext>
            </a:extLst>
          </p:cNvPr>
          <p:cNvSpPr>
            <a:spLocks xmlns:a="http://schemas.openxmlformats.org/drawingml/2006/main" noGrp="1"/>
          </p:cNvSpPr>
          <p:nvPr/>
        </p:nvSpPr>
        <p:spPr>
          <a:xfrm xmlns:a="http://schemas.openxmlformats.org/drawingml/2006/main">
            <a:off x="628650" y="3352800"/>
            <a:ext cx="27432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Set the bundle selling price. The system calculates combined retail value and customer savings.</a:t>
            </a:r>
          </a:p>
        </p:txBody>
      </p:sp>
      <p:sp>
        <p:nvSpPr>
          <p:cNvPr id="9" name="">
            <a:extLst xmlns:a="http://schemas.openxmlformats.org/drawingml/2006/main">
              <a:ext uri="{FF2B5EF4-FFF2-40B4-BE49-F238E27FC236}">
                <a16:creationId xmlns:a16="http://schemas.microsoft.com/office/drawing/2014/main" id="{1317C9F9-C26F-4443-B890-D0B3DD4B6E34}"/>
              </a:ext>
            </a:extLst>
          </p:cNvPr>
          <p:cNvSpPr>
            <a:spLocks xmlns:a="http://schemas.openxmlformats.org/drawingml/2006/main" noGrp="1"/>
          </p:cNvSpPr>
          <p:nvPr/>
        </p:nvSpPr>
        <p:spPr>
          <a:xfrm xmlns:a="http://schemas.openxmlformats.org/drawingml/2006/main">
            <a:off x="4381500" y="1695450"/>
            <a:ext cx="3429000" cy="3524250"/>
          </a:xfrm>
          <a:prstGeom xmlns:a="http://schemas.openxmlformats.org/drawingml/2006/main" prst="roundRect">
            <a:avLst>
              <a:gd name="adj" fmla="val 5000"/>
            </a:avLst>
          </a:prstGeom>
          <a:solidFill xmlns:a="http://schemas.openxmlformats.org/drawingml/2006/main">
            <a:srgbClr val="EFF8DD"/>
          </a:solidFill>
          <a:ln xmlns:a="http://schemas.openxmlformats.org/drawingml/2006/main" w="9525">
            <a:solidFill>
              <a:srgbClr val="D2E8A9"/>
            </a:solidFill>
            <a:prstDash val="solid"/>
          </a:ln>
        </p:spPr>
      </p:sp>
      <p:sp>
        <p:nvSpPr>
          <p:cNvPr id="10" name="">
            <a:extLst xmlns:a="http://schemas.openxmlformats.org/drawingml/2006/main">
              <a:ext uri="{FF2B5EF4-FFF2-40B4-BE49-F238E27FC236}">
                <a16:creationId xmlns:a16="http://schemas.microsoft.com/office/drawing/2014/main" id="{74A6C802-4FF8-4ABB-829F-5C2DFF4E97BB}"/>
              </a:ext>
            </a:extLst>
          </p:cNvPr>
          <p:cNvSpPr>
            <a:spLocks xmlns:a="http://schemas.openxmlformats.org/drawingml/2006/main" noGrp="1"/>
          </p:cNvSpPr>
          <p:nvPr/>
        </p:nvSpPr>
        <p:spPr>
          <a:xfrm xmlns:a="http://schemas.openxmlformats.org/drawingml/2006/main">
            <a:off x="4610100" y="19431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2E7D32"/>
                </a:solidFill>
                <a:latin typeface="Helvetica Neue"/>
                <a:ea typeface="Helvetica Neue"/>
                <a:cs typeface="Helvetica Neue"/>
              </a:defRPr>
            </a:pPr>
            <a:r>
              <a:rPr sz="1350" b="1">
                <a:solidFill>
                  <a:srgbClr val="2E7D32"/>
                </a:solidFill>
                <a:latin typeface="Helvetica Neue"/>
                <a:ea typeface="Helvetica Neue"/>
                <a:cs typeface="Helvetica Neue"/>
              </a:rPr>
              <a:t>CALCULATE</a:t>
            </a:r>
          </a:p>
        </p:txBody>
      </p:sp>
      <p:sp>
        <p:nvSpPr>
          <p:cNvPr id="11" name="">
            <a:extLst xmlns:a="http://schemas.openxmlformats.org/drawingml/2006/main">
              <a:ext uri="{FF2B5EF4-FFF2-40B4-BE49-F238E27FC236}">
                <a16:creationId xmlns:a16="http://schemas.microsoft.com/office/drawing/2014/main" id="{24162B2B-5C90-4E83-AE58-127064CA85DA}"/>
              </a:ext>
            </a:extLst>
          </p:cNvPr>
          <p:cNvSpPr>
            <a:spLocks xmlns:a="http://schemas.openxmlformats.org/drawingml/2006/main" noGrp="1"/>
          </p:cNvSpPr>
          <p:nvPr/>
        </p:nvSpPr>
        <p:spPr>
          <a:xfrm xmlns:a="http://schemas.openxmlformats.org/drawingml/2006/main">
            <a:off x="4610100" y="2400300"/>
            <a:ext cx="276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01010"/>
                </a:solidFill>
                <a:latin typeface="Helvetica Neue"/>
                <a:ea typeface="Helvetica Neue"/>
                <a:cs typeface="Helvetica Neue"/>
              </a:defRPr>
            </a:pPr>
            <a:r>
              <a:rPr sz="1875" b="1">
                <a:solidFill>
                  <a:srgbClr val="101010"/>
                </a:solidFill>
                <a:latin typeface="Helvetica Neue"/>
                <a:ea typeface="Helvetica Neue"/>
                <a:cs typeface="Helvetica Neue"/>
              </a:rPr>
              <a:t>Availability is derived</a:t>
            </a:r>
          </a:p>
        </p:txBody>
      </p:sp>
      <p:sp>
        <p:nvSpPr>
          <p:cNvPr id="12" name="">
            <a:extLst xmlns:a="http://schemas.openxmlformats.org/drawingml/2006/main">
              <a:ext uri="{FF2B5EF4-FFF2-40B4-BE49-F238E27FC236}">
                <a16:creationId xmlns:a16="http://schemas.microsoft.com/office/drawing/2014/main" id="{D0E2CA66-7855-4CA2-9BB0-15648BF64961}"/>
              </a:ext>
            </a:extLst>
          </p:cNvPr>
          <p:cNvSpPr>
            <a:spLocks xmlns:a="http://schemas.openxmlformats.org/drawingml/2006/main" noGrp="1"/>
          </p:cNvSpPr>
          <p:nvPr/>
        </p:nvSpPr>
        <p:spPr>
          <a:xfrm xmlns:a="http://schemas.openxmlformats.org/drawingml/2006/main">
            <a:off x="4610100" y="3352800"/>
            <a:ext cx="27432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Maximum sellable sets equal the lowest available component ratio—never a manual stock number.</a:t>
            </a:r>
          </a:p>
        </p:txBody>
      </p:sp>
      <p:sp>
        <p:nvSpPr>
          <p:cNvPr id="13" name="">
            <a:extLst xmlns:a="http://schemas.openxmlformats.org/drawingml/2006/main">
              <a:ext uri="{FF2B5EF4-FFF2-40B4-BE49-F238E27FC236}">
                <a16:creationId xmlns:a16="http://schemas.microsoft.com/office/drawing/2014/main" id="{D5D88FB4-7FD9-4B42-926E-3707D169CDE9}"/>
              </a:ext>
            </a:extLst>
          </p:cNvPr>
          <p:cNvSpPr>
            <a:spLocks xmlns:a="http://schemas.openxmlformats.org/drawingml/2006/main" noGrp="1"/>
          </p:cNvSpPr>
          <p:nvPr/>
        </p:nvSpPr>
        <p:spPr>
          <a:xfrm xmlns:a="http://schemas.openxmlformats.org/drawingml/2006/main">
            <a:off x="8362950" y="1695450"/>
            <a:ext cx="3429000" cy="3524250"/>
          </a:xfrm>
          <a:prstGeom xmlns:a="http://schemas.openxmlformats.org/drawingml/2006/main" prst="roundRect">
            <a:avLst>
              <a:gd name="adj" fmla="val 5000"/>
            </a:avLst>
          </a:prstGeom>
          <a:solidFill xmlns:a="http://schemas.openxmlformats.org/drawingml/2006/main">
            <a:srgbClr val="FFF2EC"/>
          </a:solidFill>
          <a:ln xmlns:a="http://schemas.openxmlformats.org/drawingml/2006/main" w="9525">
            <a:solidFill>
              <a:srgbClr val="FFD6C5"/>
            </a:solidFill>
            <a:prstDash val="solid"/>
          </a:ln>
        </p:spPr>
      </p:sp>
      <p:sp>
        <p:nvSpPr>
          <p:cNvPr id="14" name="">
            <a:extLst xmlns:a="http://schemas.openxmlformats.org/drawingml/2006/main">
              <a:ext uri="{FF2B5EF4-FFF2-40B4-BE49-F238E27FC236}">
                <a16:creationId xmlns:a16="http://schemas.microsoft.com/office/drawing/2014/main" id="{B4F1D5A2-0601-41DA-8EAE-73D3E0662BCD}"/>
              </a:ext>
            </a:extLst>
          </p:cNvPr>
          <p:cNvSpPr>
            <a:spLocks xmlns:a="http://schemas.openxmlformats.org/drawingml/2006/main" noGrp="1"/>
          </p:cNvSpPr>
          <p:nvPr/>
        </p:nvSpPr>
        <p:spPr>
          <a:xfrm xmlns:a="http://schemas.openxmlformats.org/drawingml/2006/main">
            <a:off x="8591550" y="194310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FF6B35"/>
                </a:solidFill>
                <a:latin typeface="Helvetica Neue"/>
                <a:ea typeface="Helvetica Neue"/>
                <a:cs typeface="Helvetica Neue"/>
              </a:defRPr>
            </a:pPr>
            <a:r>
              <a:rPr sz="1350" b="1">
                <a:solidFill>
                  <a:srgbClr val="FF6B35"/>
                </a:solidFill>
                <a:latin typeface="Helvetica Neue"/>
                <a:ea typeface="Helvetica Neue"/>
                <a:cs typeface="Helvetica Neue"/>
              </a:rPr>
              <a:t>CHECKOUT</a:t>
            </a:r>
          </a:p>
        </p:txBody>
      </p:sp>
      <p:sp>
        <p:nvSpPr>
          <p:cNvPr id="15" name="">
            <a:extLst xmlns:a="http://schemas.openxmlformats.org/drawingml/2006/main">
              <a:ext uri="{FF2B5EF4-FFF2-40B4-BE49-F238E27FC236}">
                <a16:creationId xmlns:a16="http://schemas.microsoft.com/office/drawing/2014/main" id="{B904E310-2585-4846-B834-A9D76FC9A2C4}"/>
              </a:ext>
            </a:extLst>
          </p:cNvPr>
          <p:cNvSpPr>
            <a:spLocks xmlns:a="http://schemas.openxmlformats.org/drawingml/2006/main" noGrp="1"/>
          </p:cNvSpPr>
          <p:nvPr/>
        </p:nvSpPr>
        <p:spPr>
          <a:xfrm xmlns:a="http://schemas.openxmlformats.org/drawingml/2006/main">
            <a:off x="8591550" y="2400300"/>
            <a:ext cx="27622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101010"/>
                </a:solidFill>
                <a:latin typeface="Helvetica Neue"/>
                <a:ea typeface="Helvetica Neue"/>
                <a:cs typeface="Helvetica Neue"/>
              </a:defRPr>
            </a:pPr>
            <a:r>
              <a:rPr sz="1875" b="1">
                <a:solidFill>
                  <a:srgbClr val="101010"/>
                </a:solidFill>
                <a:latin typeface="Helvetica Neue"/>
                <a:ea typeface="Helvetica Neue"/>
                <a:cs typeface="Helvetica Neue"/>
              </a:rPr>
              <a:t>Consume every component</a:t>
            </a:r>
          </a:p>
        </p:txBody>
      </p:sp>
      <p:sp>
        <p:nvSpPr>
          <p:cNvPr id="16" name="">
            <a:extLst xmlns:a="http://schemas.openxmlformats.org/drawingml/2006/main">
              <a:ext uri="{FF2B5EF4-FFF2-40B4-BE49-F238E27FC236}">
                <a16:creationId xmlns:a16="http://schemas.microsoft.com/office/drawing/2014/main" id="{23B662B7-B831-4769-B5A7-51F94331AE3D}"/>
              </a:ext>
            </a:extLst>
          </p:cNvPr>
          <p:cNvSpPr>
            <a:spLocks xmlns:a="http://schemas.openxmlformats.org/drawingml/2006/main" noGrp="1"/>
          </p:cNvSpPr>
          <p:nvPr/>
        </p:nvSpPr>
        <p:spPr>
          <a:xfrm xmlns:a="http://schemas.openxmlformats.org/drawingml/2006/main">
            <a:off x="8591550" y="3352800"/>
            <a:ext cx="27432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One transaction locks all SKUs, distributes the discount and stores a bundle snapshot for order history.</a:t>
            </a:r>
          </a:p>
        </p:txBody>
      </p:sp>
      <p:sp>
        <p:nvSpPr>
          <p:cNvPr id="17" name="">
            <a:extLst xmlns:a="http://schemas.openxmlformats.org/drawingml/2006/main">
              <a:ext uri="{FF2B5EF4-FFF2-40B4-BE49-F238E27FC236}">
                <a16:creationId xmlns:a16="http://schemas.microsoft.com/office/drawing/2014/main" id="{22D9105F-6E80-453C-A56E-37D296740E3F}"/>
              </a:ext>
            </a:extLst>
          </p:cNvPr>
          <p:cNvSpPr>
            <a:spLocks xmlns:a="http://schemas.openxmlformats.org/drawingml/2006/main" noGrp="1"/>
          </p:cNvSpPr>
          <p:nvPr/>
        </p:nvSpPr>
        <p:spPr>
          <a:xfrm xmlns:a="http://schemas.openxmlformats.org/drawingml/2006/main">
            <a:off x="400050" y="5600700"/>
            <a:ext cx="857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Archive removes a set from future sales without rewriting previous orders.</a:t>
            </a:r>
          </a:p>
        </p:txBody>
      </p:sp>
    </p:spTree>
    <p:extLst>
      <p:ext uri="{BB962C8B-B14F-4D97-AF65-F5344CB8AC3E}">
        <p14:creationId xmlns:p14="http://schemas.microsoft.com/office/powerpoint/2010/main" val="5223811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055DFAEE-DC14-4EA8-8EE2-269BFFD6DE24}"/>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CUSTOMER JOURNEY</a:t>
            </a:r>
          </a:p>
        </p:txBody>
      </p:sp>
      <p:sp>
        <p:nvSpPr>
          <p:cNvPr id="2" name="">
            <a:extLst xmlns:a="http://schemas.openxmlformats.org/drawingml/2006/main">
              <a:ext uri="{FF2B5EF4-FFF2-40B4-BE49-F238E27FC236}">
                <a16:creationId xmlns:a16="http://schemas.microsoft.com/office/drawing/2014/main" id="{B75BEB27-D5FD-417A-8D9B-516B02484571}"/>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The customer shop is simple; internal stock stays private</a:t>
            </a:r>
          </a:p>
        </p:txBody>
      </p:sp>
      <p:sp>
        <p:nvSpPr>
          <p:cNvPr id="3" name="">
            <a:extLst xmlns:a="http://schemas.openxmlformats.org/drawingml/2006/main">
              <a:ext uri="{FF2B5EF4-FFF2-40B4-BE49-F238E27FC236}">
                <a16:creationId xmlns:a16="http://schemas.microsoft.com/office/drawing/2014/main" id="{5EF9BA2B-4099-456F-B20F-230803C1EB37}"/>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AFB07EE6-2778-41E3-B57F-25822463A281}"/>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27521E86-84CE-442F-B609-1AF3A42A09DF}"/>
              </a:ext>
            </a:extLst>
          </p:cNvPr>
          <p:cNvSpPr>
            <a:spLocks xmlns:a="http://schemas.openxmlformats.org/drawingml/2006/main" noGrp="1"/>
          </p:cNvSpPr>
          <p:nvPr/>
        </p:nvSpPr>
        <p:spPr>
          <a:xfrm xmlns:a="http://schemas.openxmlformats.org/drawingml/2006/main">
            <a:off x="400050" y="1695450"/>
            <a:ext cx="3562350" cy="2476500"/>
          </a:xfrm>
          <a:prstGeom xmlns:a="http://schemas.openxmlformats.org/drawingml/2006/main" prst="roundRect">
            <a:avLst>
              <a:gd name="adj" fmla="val 6923"/>
            </a:avLst>
          </a:prstGeom>
          <a:solidFill xmlns:a="http://schemas.openxmlformats.org/drawingml/2006/main">
            <a:srgbClr val="F3F3F1"/>
          </a:solidFill>
          <a:ln xmlns:a="http://schemas.openxmlformats.org/drawingml/2006/main" w="9525">
            <a:solidFill>
              <a:srgbClr val="D9D9D5"/>
            </a:solidFill>
            <a:prstDash val="solid"/>
          </a:ln>
        </p:spPr>
      </p:sp>
      <p:sp>
        <p:nvSpPr>
          <p:cNvPr id="6" name="">
            <a:extLst xmlns:a="http://schemas.openxmlformats.org/drawingml/2006/main">
              <a:ext uri="{FF2B5EF4-FFF2-40B4-BE49-F238E27FC236}">
                <a16:creationId xmlns:a16="http://schemas.microsoft.com/office/drawing/2014/main" id="{524B7B87-AE0E-4446-9720-763AC9EF6289}"/>
              </a:ext>
            </a:extLst>
          </p:cNvPr>
          <p:cNvSpPr>
            <a:spLocks xmlns:a="http://schemas.openxmlformats.org/drawingml/2006/main" noGrp="1"/>
          </p:cNvSpPr>
          <p:nvPr/>
        </p:nvSpPr>
        <p:spPr>
          <a:xfrm xmlns:a="http://schemas.openxmlformats.org/drawingml/2006/main">
            <a:off x="628650" y="1924050"/>
            <a:ext cx="4191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1E9814B5-F06B-431F-AF58-C6970D7FB3D8}"/>
              </a:ext>
            </a:extLst>
          </p:cNvPr>
          <p:cNvSpPr>
            <a:spLocks xmlns:a="http://schemas.openxmlformats.org/drawingml/2006/main" noGrp="1"/>
          </p:cNvSpPr>
          <p:nvPr/>
        </p:nvSpPr>
        <p:spPr>
          <a:xfrm xmlns:a="http://schemas.openxmlformats.org/drawingml/2006/main">
            <a:off x="628650" y="24384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defRPr sz="1875" b="1">
                <a:solidFill>
                  <a:srgbClr val="101010"/>
                </a:solidFill>
                <a:latin typeface="Helvetica Neue"/>
                <a:ea typeface="Helvetica Neue"/>
                <a:cs typeface="Helvetica Neue"/>
              </a:defRPr>
            </a:pPr>
            <a:r>
              <a:rPr sz="1875" b="1">
                <a:solidFill>
                  <a:srgbClr val="101010"/>
                </a:solidFill>
                <a:latin typeface="Helvetica Neue"/>
                <a:ea typeface="Helvetica Neue"/>
                <a:cs typeface="Helvetica Neue"/>
              </a:rPr>
              <a:t>DISCOVER</a:t>
            </a:r>
          </a:p>
        </p:txBody>
      </p:sp>
      <p:sp>
        <p:nvSpPr>
          <p:cNvPr id="8" name="">
            <a:extLst xmlns:a="http://schemas.openxmlformats.org/drawingml/2006/main">
              <a:ext uri="{FF2B5EF4-FFF2-40B4-BE49-F238E27FC236}">
                <a16:creationId xmlns:a16="http://schemas.microsoft.com/office/drawing/2014/main" id="{F426FD28-680A-4FCA-8742-8241307C3234}"/>
              </a:ext>
            </a:extLst>
          </p:cNvPr>
          <p:cNvSpPr>
            <a:spLocks xmlns:a="http://schemas.openxmlformats.org/drawingml/2006/main" noGrp="1"/>
          </p:cNvSpPr>
          <p:nvPr/>
        </p:nvSpPr>
        <p:spPr>
          <a:xfrm xmlns:a="http://schemas.openxmlformats.org/drawingml/2006/main">
            <a:off x="628650" y="2952750"/>
            <a:ext cx="2876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Search, department and subcategory filters</a:t>
            </a:r>
          </a:p>
        </p:txBody>
      </p:sp>
      <p:sp>
        <p:nvSpPr>
          <p:cNvPr id="9" name="">
            <a:extLst xmlns:a="http://schemas.openxmlformats.org/drawingml/2006/main">
              <a:ext uri="{FF2B5EF4-FFF2-40B4-BE49-F238E27FC236}">
                <a16:creationId xmlns:a16="http://schemas.microsoft.com/office/drawing/2014/main" id="{9F7BC144-C1FC-4BB5-8469-0976AA875A09}"/>
              </a:ext>
            </a:extLst>
          </p:cNvPr>
          <p:cNvSpPr>
            <a:spLocks xmlns:a="http://schemas.openxmlformats.org/drawingml/2006/main" noGrp="1"/>
          </p:cNvSpPr>
          <p:nvPr/>
        </p:nvSpPr>
        <p:spPr>
          <a:xfrm xmlns:a="http://schemas.openxmlformats.org/drawingml/2006/main">
            <a:off x="4219575" y="1695450"/>
            <a:ext cx="3562350" cy="2476500"/>
          </a:xfrm>
          <a:prstGeom xmlns:a="http://schemas.openxmlformats.org/drawingml/2006/main" prst="roundRect">
            <a:avLst>
              <a:gd name="adj" fmla="val 6923"/>
            </a:avLst>
          </a:prstGeom>
          <a:solidFill xmlns:a="http://schemas.openxmlformats.org/drawingml/2006/main">
            <a:srgbClr val="F3F3F1"/>
          </a:solidFill>
          <a:ln xmlns:a="http://schemas.openxmlformats.org/drawingml/2006/main" w="9525">
            <a:solidFill>
              <a:srgbClr val="D9D9D5"/>
            </a:solidFill>
            <a:prstDash val="solid"/>
          </a:ln>
        </p:spPr>
      </p:sp>
      <p:sp>
        <p:nvSpPr>
          <p:cNvPr id="10" name="">
            <a:extLst xmlns:a="http://schemas.openxmlformats.org/drawingml/2006/main">
              <a:ext uri="{FF2B5EF4-FFF2-40B4-BE49-F238E27FC236}">
                <a16:creationId xmlns:a16="http://schemas.microsoft.com/office/drawing/2014/main" id="{A6970533-AD23-49E2-9202-6E8E26ECA54F}"/>
              </a:ext>
            </a:extLst>
          </p:cNvPr>
          <p:cNvSpPr>
            <a:spLocks xmlns:a="http://schemas.openxmlformats.org/drawingml/2006/main" noGrp="1"/>
          </p:cNvSpPr>
          <p:nvPr/>
        </p:nvSpPr>
        <p:spPr>
          <a:xfrm xmlns:a="http://schemas.openxmlformats.org/drawingml/2006/main">
            <a:off x="4448175" y="1924050"/>
            <a:ext cx="4191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6BC71827-0372-4947-A2AA-8E50D05E958A}"/>
              </a:ext>
            </a:extLst>
          </p:cNvPr>
          <p:cNvSpPr>
            <a:spLocks xmlns:a="http://schemas.openxmlformats.org/drawingml/2006/main" noGrp="1"/>
          </p:cNvSpPr>
          <p:nvPr/>
        </p:nvSpPr>
        <p:spPr>
          <a:xfrm xmlns:a="http://schemas.openxmlformats.org/drawingml/2006/main">
            <a:off x="4448175" y="24384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defRPr sz="1875" b="1">
                <a:solidFill>
                  <a:srgbClr val="101010"/>
                </a:solidFill>
                <a:latin typeface="Helvetica Neue"/>
                <a:ea typeface="Helvetica Neue"/>
                <a:cs typeface="Helvetica Neue"/>
              </a:defRPr>
            </a:pPr>
            <a:r>
              <a:rPr sz="1875" b="1">
                <a:solidFill>
                  <a:srgbClr val="101010"/>
                </a:solidFill>
                <a:latin typeface="Helvetica Neue"/>
                <a:ea typeface="Helvetica Neue"/>
                <a:cs typeface="Helvetica Neue"/>
              </a:rPr>
              <a:t>DECIDE</a:t>
            </a:r>
          </a:p>
        </p:txBody>
      </p:sp>
      <p:sp>
        <p:nvSpPr>
          <p:cNvPr id="12" name="">
            <a:extLst xmlns:a="http://schemas.openxmlformats.org/drawingml/2006/main">
              <a:ext uri="{FF2B5EF4-FFF2-40B4-BE49-F238E27FC236}">
                <a16:creationId xmlns:a16="http://schemas.microsoft.com/office/drawing/2014/main" id="{3E6416D9-5781-4171-A6F6-7294F493259E}"/>
              </a:ext>
            </a:extLst>
          </p:cNvPr>
          <p:cNvSpPr>
            <a:spLocks xmlns:a="http://schemas.openxmlformats.org/drawingml/2006/main" noGrp="1"/>
          </p:cNvSpPr>
          <p:nvPr/>
        </p:nvSpPr>
        <p:spPr>
          <a:xfrm xmlns:a="http://schemas.openxmlformats.org/drawingml/2006/main">
            <a:off x="4448175" y="2952750"/>
            <a:ext cx="2876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Compare products, view bundles and warranty</a:t>
            </a:r>
          </a:p>
        </p:txBody>
      </p:sp>
      <p:sp>
        <p:nvSpPr>
          <p:cNvPr id="13" name="">
            <a:extLst xmlns:a="http://schemas.openxmlformats.org/drawingml/2006/main">
              <a:ext uri="{FF2B5EF4-FFF2-40B4-BE49-F238E27FC236}">
                <a16:creationId xmlns:a16="http://schemas.microsoft.com/office/drawing/2014/main" id="{938548DC-B19D-4CF1-B2C7-063FDDCAE46F}"/>
              </a:ext>
            </a:extLst>
          </p:cNvPr>
          <p:cNvSpPr>
            <a:spLocks xmlns:a="http://schemas.openxmlformats.org/drawingml/2006/main" noGrp="1"/>
          </p:cNvSpPr>
          <p:nvPr/>
        </p:nvSpPr>
        <p:spPr>
          <a:xfrm xmlns:a="http://schemas.openxmlformats.org/drawingml/2006/main">
            <a:off x="8039100" y="1695450"/>
            <a:ext cx="3562350" cy="2476500"/>
          </a:xfrm>
          <a:prstGeom xmlns:a="http://schemas.openxmlformats.org/drawingml/2006/main" prst="roundRect">
            <a:avLst>
              <a:gd name="adj" fmla="val 6923"/>
            </a:avLst>
          </a:prstGeom>
          <a:solidFill xmlns:a="http://schemas.openxmlformats.org/drawingml/2006/main">
            <a:srgbClr val="F3F3F1"/>
          </a:solidFill>
          <a:ln xmlns:a="http://schemas.openxmlformats.org/drawingml/2006/main" w="9525">
            <a:solidFill>
              <a:srgbClr val="D9D9D5"/>
            </a:solidFill>
            <a:prstDash val="solid"/>
          </a:ln>
        </p:spPr>
      </p:sp>
      <p:sp>
        <p:nvSpPr>
          <p:cNvPr id="14" name="">
            <a:extLst xmlns:a="http://schemas.openxmlformats.org/drawingml/2006/main">
              <a:ext uri="{FF2B5EF4-FFF2-40B4-BE49-F238E27FC236}">
                <a16:creationId xmlns:a16="http://schemas.microsoft.com/office/drawing/2014/main" id="{4E3A5281-27A1-45AE-AA73-6E41F9308322}"/>
              </a:ext>
            </a:extLst>
          </p:cNvPr>
          <p:cNvSpPr>
            <a:spLocks xmlns:a="http://schemas.openxmlformats.org/drawingml/2006/main" noGrp="1"/>
          </p:cNvSpPr>
          <p:nvPr/>
        </p:nvSpPr>
        <p:spPr>
          <a:xfrm xmlns:a="http://schemas.openxmlformats.org/drawingml/2006/main">
            <a:off x="8267700" y="1924050"/>
            <a:ext cx="41910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3CBE95C4-D4E9-435B-9BC5-9CA843D673C4}"/>
              </a:ext>
            </a:extLst>
          </p:cNvPr>
          <p:cNvSpPr>
            <a:spLocks xmlns:a="http://schemas.openxmlformats.org/drawingml/2006/main" noGrp="1"/>
          </p:cNvSpPr>
          <p:nvPr/>
        </p:nvSpPr>
        <p:spPr>
          <a:xfrm xmlns:a="http://schemas.openxmlformats.org/drawingml/2006/main">
            <a:off x="8267700" y="24384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1333"/>
          </a:bodyPr>
          <a:lstStyle xmlns:a="http://schemas.openxmlformats.org/drawingml/2006/main"/>
          <a:p xmlns:a="http://schemas.openxmlformats.org/drawingml/2006/main">
            <a:pPr algn="l">
              <a:defRPr sz="1875" b="1">
                <a:solidFill>
                  <a:srgbClr val="101010"/>
                </a:solidFill>
                <a:latin typeface="Helvetica Neue"/>
                <a:ea typeface="Helvetica Neue"/>
                <a:cs typeface="Helvetica Neue"/>
              </a:defRPr>
            </a:pPr>
            <a:r>
              <a:rPr sz="1875" b="1">
                <a:solidFill>
                  <a:srgbClr val="101010"/>
                </a:solidFill>
                <a:latin typeface="Helvetica Neue"/>
                <a:ea typeface="Helvetica Neue"/>
                <a:cs typeface="Helvetica Neue"/>
              </a:rPr>
              <a:t>BUY</a:t>
            </a:r>
          </a:p>
        </p:txBody>
      </p:sp>
      <p:sp>
        <p:nvSpPr>
          <p:cNvPr id="16" name="">
            <a:extLst xmlns:a="http://schemas.openxmlformats.org/drawingml/2006/main">
              <a:ext uri="{FF2B5EF4-FFF2-40B4-BE49-F238E27FC236}">
                <a16:creationId xmlns:a16="http://schemas.microsoft.com/office/drawing/2014/main" id="{359D5BF9-8134-4179-A21B-E0C7DC84C44A}"/>
              </a:ext>
            </a:extLst>
          </p:cNvPr>
          <p:cNvSpPr>
            <a:spLocks xmlns:a="http://schemas.openxmlformats.org/drawingml/2006/main" noGrp="1"/>
          </p:cNvSpPr>
          <p:nvPr/>
        </p:nvSpPr>
        <p:spPr>
          <a:xfrm xmlns:a="http://schemas.openxmlformats.org/drawingml/2006/main">
            <a:off x="8267700" y="2952750"/>
            <a:ext cx="28765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Cart, customer details, payment and checkout</a:t>
            </a:r>
          </a:p>
        </p:txBody>
      </p:sp>
      <p:sp>
        <p:nvSpPr>
          <p:cNvPr id="17" name="">
            <a:extLst xmlns:a="http://schemas.openxmlformats.org/drawingml/2006/main">
              <a:ext uri="{FF2B5EF4-FFF2-40B4-BE49-F238E27FC236}">
                <a16:creationId xmlns:a16="http://schemas.microsoft.com/office/drawing/2014/main" id="{63CE6A68-4F26-4EEF-B6E9-43B007B847EE}"/>
              </a:ext>
            </a:extLst>
          </p:cNvPr>
          <p:cNvSpPr>
            <a:spLocks xmlns:a="http://schemas.openxmlformats.org/drawingml/2006/main" noGrp="1"/>
          </p:cNvSpPr>
          <p:nvPr/>
        </p:nvSpPr>
        <p:spPr>
          <a:xfrm xmlns:a="http://schemas.openxmlformats.org/drawingml/2006/main">
            <a:off x="400050" y="4572000"/>
            <a:ext cx="11201400" cy="971550"/>
          </a:xfrm>
          <a:prstGeom xmlns:a="http://schemas.openxmlformats.org/drawingml/2006/main" prst="roundRect">
            <a:avLst>
              <a:gd name="adj" fmla="val 15686"/>
            </a:avLst>
          </a:prstGeom>
          <a:solidFill xmlns:a="http://schemas.openxmlformats.org/drawingml/2006/main">
            <a:srgbClr val="171717"/>
          </a:solidFill>
          <a:ln xmlns:a="http://schemas.openxmlformats.org/drawingml/2006/main" w="9525">
            <a:solidFill>
              <a:srgbClr val="171717"/>
            </a:solidFill>
            <a:prstDash val="solid"/>
          </a:ln>
        </p:spPr>
      </p:sp>
      <p:sp>
        <p:nvSpPr>
          <p:cNvPr id="18" name="">
            <a:extLst xmlns:a="http://schemas.openxmlformats.org/drawingml/2006/main">
              <a:ext uri="{FF2B5EF4-FFF2-40B4-BE49-F238E27FC236}">
                <a16:creationId xmlns:a16="http://schemas.microsoft.com/office/drawing/2014/main" id="{6A73279A-4795-473A-AE23-806D3FB04880}"/>
              </a:ext>
            </a:extLst>
          </p:cNvPr>
          <p:cNvSpPr>
            <a:spLocks xmlns:a="http://schemas.openxmlformats.org/drawingml/2006/main" noGrp="1"/>
          </p:cNvSpPr>
          <p:nvPr/>
        </p:nvSpPr>
        <p:spPr>
          <a:xfrm xmlns:a="http://schemas.openxmlformats.org/drawingml/2006/main">
            <a:off x="647700" y="4810125"/>
            <a:ext cx="21907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0000"/>
          </a:bodyPr>
          <a:lstStyle xmlns:a="http://schemas.openxmlformats.org/drawingml/2006/main"/>
          <a:p xmlns:a="http://schemas.openxmlformats.org/drawingml/2006/main">
            <a:pPr algn="l">
              <a:defRPr sz="1125" b="1">
                <a:solidFill>
                  <a:srgbClr val="C7F36B"/>
                </a:solidFill>
                <a:latin typeface="Helvetica Neue"/>
                <a:ea typeface="Helvetica Neue"/>
                <a:cs typeface="Helvetica Neue"/>
              </a:defRPr>
            </a:pPr>
            <a:r>
              <a:rPr sz="1125" b="1">
                <a:solidFill>
                  <a:srgbClr val="C7F36B"/>
                </a:solidFill>
                <a:latin typeface="Helvetica Neue"/>
                <a:ea typeface="Helvetica Neue"/>
                <a:cs typeface="Helvetica Neue"/>
              </a:rPr>
              <a:t>PUBLIC AVAILABILITY</a:t>
            </a:r>
          </a:p>
        </p:txBody>
      </p:sp>
      <p:sp>
        <p:nvSpPr>
          <p:cNvPr id="19" name="">
            <a:extLst xmlns:a="http://schemas.openxmlformats.org/drawingml/2006/main">
              <a:ext uri="{FF2B5EF4-FFF2-40B4-BE49-F238E27FC236}">
                <a16:creationId xmlns:a16="http://schemas.microsoft.com/office/drawing/2014/main" id="{95A05E49-805C-4043-81C8-86292CF7F64D}"/>
              </a:ext>
            </a:extLst>
          </p:cNvPr>
          <p:cNvSpPr>
            <a:spLocks xmlns:a="http://schemas.openxmlformats.org/drawingml/2006/main" noGrp="1"/>
          </p:cNvSpPr>
          <p:nvPr/>
        </p:nvSpPr>
        <p:spPr>
          <a:xfrm xmlns:a="http://schemas.openxmlformats.org/drawingml/2006/main">
            <a:off x="3095625" y="4743450"/>
            <a:ext cx="4476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Available  •  Only a few left  •  Sold out</a:t>
            </a:r>
          </a:p>
        </p:txBody>
      </p:sp>
      <p:sp>
        <p:nvSpPr>
          <p:cNvPr id="20" name="">
            <a:extLst xmlns:a="http://schemas.openxmlformats.org/drawingml/2006/main">
              <a:ext uri="{FF2B5EF4-FFF2-40B4-BE49-F238E27FC236}">
                <a16:creationId xmlns:a16="http://schemas.microsoft.com/office/drawing/2014/main" id="{54DDBC2A-D8CF-4B6E-8AC7-CA54BC884A21}"/>
              </a:ext>
            </a:extLst>
          </p:cNvPr>
          <p:cNvSpPr>
            <a:spLocks xmlns:a="http://schemas.openxmlformats.org/drawingml/2006/main" noGrp="1"/>
          </p:cNvSpPr>
          <p:nvPr/>
        </p:nvSpPr>
        <p:spPr>
          <a:xfrm xmlns:a="http://schemas.openxmlformats.org/drawingml/2006/main">
            <a:off x="7753350" y="4772025"/>
            <a:ext cx="35052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891"/>
          </a:bodyPr>
          <a:lstStyle xmlns:a="http://schemas.openxmlformats.org/drawingml/2006/main"/>
          <a:p xmlns:a="http://schemas.openxmlformats.org/drawingml/2006/main">
            <a:pPr algn="l">
              <a:defRPr sz="1200" b="0">
                <a:solidFill>
                  <a:srgbClr val="D6D6D6"/>
                </a:solidFill>
                <a:latin typeface="Helvetica Neue"/>
                <a:ea typeface="Helvetica Neue"/>
                <a:cs typeface="Helvetica Neue"/>
              </a:defRPr>
            </a:pPr>
            <a:r>
              <a:rPr sz="1200" b="0">
                <a:solidFill>
                  <a:srgbClr val="D6D6D6"/>
                </a:solidFill>
                <a:latin typeface="Helvetica Neue"/>
                <a:ea typeface="Helvetica Neue"/>
                <a:cs typeface="Helvetica Neue"/>
              </a:rPr>
              <a:t>Exact quantities, unit costs and margin remain staff-only.</a:t>
            </a:r>
          </a:p>
        </p:txBody>
      </p:sp>
    </p:spTree>
    <p:extLst>
      <p:ext uri="{BB962C8B-B14F-4D97-AF65-F5344CB8AC3E}">
        <p14:creationId xmlns:p14="http://schemas.microsoft.com/office/powerpoint/2010/main" val="179096135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6D6CE47D-5077-4FDD-87B8-25528A73B197}"/>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CUSTOMER RELATIONSHIP MANAGEMENT</a:t>
            </a:r>
          </a:p>
        </p:txBody>
      </p:sp>
      <p:sp>
        <p:nvSpPr>
          <p:cNvPr id="2" name="">
            <a:extLst xmlns:a="http://schemas.openxmlformats.org/drawingml/2006/main">
              <a:ext uri="{FF2B5EF4-FFF2-40B4-BE49-F238E27FC236}">
                <a16:creationId xmlns:a16="http://schemas.microsoft.com/office/drawing/2014/main" id="{7D097CFE-F203-4EBF-8183-0899D015447F}"/>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Every interaction builds one customer record</a:t>
            </a:r>
          </a:p>
        </p:txBody>
      </p:sp>
      <p:sp>
        <p:nvSpPr>
          <p:cNvPr id="3" name="">
            <a:extLst xmlns:a="http://schemas.openxmlformats.org/drawingml/2006/main">
              <a:ext uri="{FF2B5EF4-FFF2-40B4-BE49-F238E27FC236}">
                <a16:creationId xmlns:a16="http://schemas.microsoft.com/office/drawing/2014/main" id="{2B3EDF59-9FC2-46A2-97AF-0EEC491AFF3C}"/>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5C86F06A-2BB8-4FFF-925E-7A427BAE0A77}"/>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9FF7D647-8504-44A0-A193-567E68B4D8CB}"/>
              </a:ext>
            </a:extLst>
          </p:cNvPr>
          <p:cNvSpPr>
            <a:spLocks xmlns:a="http://schemas.openxmlformats.org/drawingml/2006/main" noGrp="1"/>
          </p:cNvSpPr>
          <p:nvPr/>
        </p:nvSpPr>
        <p:spPr>
          <a:xfrm xmlns:a="http://schemas.openxmlformats.org/drawingml/2006/main">
            <a:off x="400050" y="1619250"/>
            <a:ext cx="3714750" cy="4000500"/>
          </a:xfrm>
          <a:prstGeom xmlns:a="http://schemas.openxmlformats.org/drawingml/2006/main" prst="roundRect">
            <a:avLst>
              <a:gd name="adj" fmla="val 5128"/>
            </a:avLst>
          </a:prstGeom>
          <a:solidFill xmlns:a="http://schemas.openxmlformats.org/drawingml/2006/main">
            <a:srgbClr val="171717"/>
          </a:solidFill>
          <a:ln xmlns:a="http://schemas.openxmlformats.org/drawingml/2006/main" w="9525">
            <a:solidFill>
              <a:srgbClr val="171717"/>
            </a:solidFill>
            <a:prstDash val="solid"/>
          </a:ln>
        </p:spPr>
      </p:sp>
      <p:sp>
        <p:nvSpPr>
          <p:cNvPr id="6" name="">
            <a:extLst xmlns:a="http://schemas.openxmlformats.org/drawingml/2006/main">
              <a:ext uri="{FF2B5EF4-FFF2-40B4-BE49-F238E27FC236}">
                <a16:creationId xmlns:a16="http://schemas.microsoft.com/office/drawing/2014/main" id="{5816E446-3EF2-4BEC-B2DD-BAAB69CB45A8}"/>
              </a:ext>
            </a:extLst>
          </p:cNvPr>
          <p:cNvSpPr>
            <a:spLocks xmlns:a="http://schemas.openxmlformats.org/drawingml/2006/main" noGrp="1"/>
          </p:cNvSpPr>
          <p:nvPr/>
        </p:nvSpPr>
        <p:spPr>
          <a:xfrm xmlns:a="http://schemas.openxmlformats.org/drawingml/2006/main">
            <a:off x="647700" y="18859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5833"/>
          </a:bodyPr>
          <a:lstStyle xmlns:a="http://schemas.openxmlformats.org/drawingml/2006/main"/>
          <a:p xmlns:a="http://schemas.openxmlformats.org/drawingml/2006/main">
            <a:pPr algn="l">
              <a:defRPr sz="1200" b="1">
                <a:solidFill>
                  <a:srgbClr val="C7F36B"/>
                </a:solidFill>
                <a:latin typeface="Helvetica Neue"/>
                <a:ea typeface="Helvetica Neue"/>
                <a:cs typeface="Helvetica Neue"/>
              </a:defRPr>
            </a:pPr>
            <a:r>
              <a:rPr sz="1200" b="1">
                <a:solidFill>
                  <a:srgbClr val="C7F36B"/>
                </a:solidFill>
                <a:latin typeface="Helvetica Neue"/>
                <a:ea typeface="Helvetica Neue"/>
                <a:cs typeface="Helvetica Neue"/>
              </a:rPr>
              <a:t>CUSTOMER MASTER</a:t>
            </a:r>
          </a:p>
        </p:txBody>
      </p:sp>
      <p:sp>
        <p:nvSpPr>
          <p:cNvPr id="7" name="">
            <a:extLst xmlns:a="http://schemas.openxmlformats.org/drawingml/2006/main">
              <a:ext uri="{FF2B5EF4-FFF2-40B4-BE49-F238E27FC236}">
                <a16:creationId xmlns:a16="http://schemas.microsoft.com/office/drawing/2014/main" id="{D1659745-54DE-49C3-882D-7BEBD5247608}"/>
              </a:ext>
            </a:extLst>
          </p:cNvPr>
          <p:cNvSpPr>
            <a:spLocks xmlns:a="http://schemas.openxmlformats.org/drawingml/2006/main" noGrp="1"/>
          </p:cNvSpPr>
          <p:nvPr/>
        </p:nvSpPr>
        <p:spPr>
          <a:xfrm xmlns:a="http://schemas.openxmlformats.org/drawingml/2006/main">
            <a:off x="647700" y="2400300"/>
            <a:ext cx="2857500" cy="2362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Name</a:t>
            </a:r>
          </a:p>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Phone</a:t>
            </a:r>
          </a:p>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Telegram user ID</a:t>
            </a:r>
          </a:p>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Address</a:t>
            </a:r>
          </a:p>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Order history</a:t>
            </a:r>
          </a:p>
          <a:p xmlns:a="http://schemas.openxmlformats.org/drawingml/2006/main">
            <a:pPr algn="l">
              <a:defRPr sz="2025" b="1">
                <a:solidFill>
                  <a:srgbClr val="FFFFFF"/>
                </a:solidFill>
                <a:latin typeface="Helvetica Neue"/>
                <a:ea typeface="Helvetica Neue"/>
                <a:cs typeface="Helvetica Neue"/>
              </a:defRPr>
            </a:pPr>
            <a:r>
              <a:rPr sz="2025" b="1">
                <a:solidFill>
                  <a:srgbClr val="FFFFFF"/>
                </a:solidFill>
                <a:latin typeface="Helvetica Neue"/>
                <a:ea typeface="Helvetica Neue"/>
                <a:cs typeface="Helvetica Neue"/>
              </a:rPr>
              <a:t>Lifetime value</a:t>
            </a:r>
          </a:p>
        </p:txBody>
      </p:sp>
      <p:sp>
        <p:nvSpPr>
          <p:cNvPr id="8" name="">
            <a:extLst xmlns:a="http://schemas.openxmlformats.org/drawingml/2006/main">
              <a:ext uri="{FF2B5EF4-FFF2-40B4-BE49-F238E27FC236}">
                <a16:creationId xmlns:a16="http://schemas.microsoft.com/office/drawing/2014/main" id="{8AFA9497-9F0C-4CA2-BEAE-B44E31FBF739}"/>
              </a:ext>
            </a:extLst>
          </p:cNvPr>
          <p:cNvSpPr>
            <a:spLocks xmlns:a="http://schemas.openxmlformats.org/drawingml/2006/main" noGrp="1"/>
          </p:cNvSpPr>
          <p:nvPr/>
        </p:nvSpPr>
        <p:spPr>
          <a:xfrm xmlns:a="http://schemas.openxmlformats.org/drawingml/2006/main">
            <a:off x="4762500" y="18288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626262"/>
                </a:solidFill>
                <a:latin typeface="Helvetica Neue"/>
                <a:ea typeface="Helvetica Neue"/>
                <a:cs typeface="Helvetica Neue"/>
              </a:defRPr>
            </a:pPr>
            <a:r>
              <a:rPr sz="1350" b="1">
                <a:solidFill>
                  <a:srgbClr val="626262"/>
                </a:solidFill>
                <a:latin typeface="Helvetica Neue"/>
                <a:ea typeface="Helvetica Neue"/>
                <a:cs typeface="Helvetica Neue"/>
              </a:rPr>
              <a:t>ONE IDENTITY</a:t>
            </a:r>
          </a:p>
        </p:txBody>
      </p:sp>
      <p:sp>
        <p:nvSpPr>
          <p:cNvPr id="9" name="">
            <a:extLst xmlns:a="http://schemas.openxmlformats.org/drawingml/2006/main">
              <a:ext uri="{FF2B5EF4-FFF2-40B4-BE49-F238E27FC236}">
                <a16:creationId xmlns:a16="http://schemas.microsoft.com/office/drawing/2014/main" id="{33BB0435-F6C3-4945-B81B-7004388336B3}"/>
              </a:ext>
            </a:extLst>
          </p:cNvPr>
          <p:cNvSpPr>
            <a:spLocks xmlns:a="http://schemas.openxmlformats.org/drawingml/2006/main" noGrp="1"/>
          </p:cNvSpPr>
          <p:nvPr/>
        </p:nvSpPr>
        <p:spPr>
          <a:xfrm xmlns:a="http://schemas.openxmlformats.org/drawingml/2006/main">
            <a:off x="4762500" y="2743200"/>
            <a:ext cx="66675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10" name="">
            <a:extLst xmlns:a="http://schemas.openxmlformats.org/drawingml/2006/main">
              <a:ext uri="{FF2B5EF4-FFF2-40B4-BE49-F238E27FC236}">
                <a16:creationId xmlns:a16="http://schemas.microsoft.com/office/drawing/2014/main" id="{6CC4B25B-6E5D-4F4B-87F7-498649F02F42}"/>
              </a:ext>
            </a:extLst>
          </p:cNvPr>
          <p:cNvSpPr>
            <a:spLocks xmlns:a="http://schemas.openxmlformats.org/drawingml/2006/main" noGrp="1"/>
          </p:cNvSpPr>
          <p:nvPr/>
        </p:nvSpPr>
        <p:spPr>
          <a:xfrm xmlns:a="http://schemas.openxmlformats.org/drawingml/2006/main">
            <a:off x="4762500" y="2324100"/>
            <a:ext cx="1933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101010"/>
                </a:solidFill>
                <a:latin typeface="Helvetica Neue"/>
                <a:ea typeface="Helvetica Neue"/>
                <a:cs typeface="Helvetica Neue"/>
              </a:defRPr>
            </a:pPr>
            <a:r>
              <a:rPr sz="1350" b="1">
                <a:solidFill>
                  <a:srgbClr val="101010"/>
                </a:solidFill>
                <a:latin typeface="Helvetica Neue"/>
                <a:ea typeface="Helvetica Neue"/>
                <a:cs typeface="Helvetica Neue"/>
              </a:rPr>
              <a:t>Checkout</a:t>
            </a:r>
          </a:p>
        </p:txBody>
      </p:sp>
      <p:sp>
        <p:nvSpPr>
          <p:cNvPr id="11" name="">
            <a:extLst xmlns:a="http://schemas.openxmlformats.org/drawingml/2006/main">
              <a:ext uri="{FF2B5EF4-FFF2-40B4-BE49-F238E27FC236}">
                <a16:creationId xmlns:a16="http://schemas.microsoft.com/office/drawing/2014/main" id="{66653144-EB99-440C-BF0B-78385AEBC473}"/>
              </a:ext>
            </a:extLst>
          </p:cNvPr>
          <p:cNvSpPr>
            <a:spLocks xmlns:a="http://schemas.openxmlformats.org/drawingml/2006/main" noGrp="1"/>
          </p:cNvSpPr>
          <p:nvPr/>
        </p:nvSpPr>
        <p:spPr>
          <a:xfrm xmlns:a="http://schemas.openxmlformats.org/drawingml/2006/main">
            <a:off x="6696075" y="2324100"/>
            <a:ext cx="320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626262"/>
                </a:solidFill>
                <a:latin typeface="Helvetica Neue"/>
                <a:ea typeface="Helvetica Neue"/>
                <a:cs typeface="Helvetica Neue"/>
              </a:defRPr>
            </a:pPr>
            <a:r>
              <a:rPr sz="1125" b="0">
                <a:solidFill>
                  <a:srgbClr val="626262"/>
                </a:solidFill>
                <a:latin typeface="Helvetica Neue"/>
                <a:ea typeface="Helvetica Neue"/>
                <a:cs typeface="Helvetica Neue"/>
              </a:rPr>
              <a:t>Create or update by phone / Telegram ID</a:t>
            </a:r>
          </a:p>
        </p:txBody>
      </p:sp>
      <p:sp>
        <p:nvSpPr>
          <p:cNvPr id="12" name="">
            <a:extLst xmlns:a="http://schemas.openxmlformats.org/drawingml/2006/main">
              <a:ext uri="{FF2B5EF4-FFF2-40B4-BE49-F238E27FC236}">
                <a16:creationId xmlns:a16="http://schemas.microsoft.com/office/drawing/2014/main" id="{1DA32CA6-A451-4785-AEEA-79825DDD2CA0}"/>
              </a:ext>
            </a:extLst>
          </p:cNvPr>
          <p:cNvSpPr>
            <a:spLocks xmlns:a="http://schemas.openxmlformats.org/drawingml/2006/main" noGrp="1"/>
          </p:cNvSpPr>
          <p:nvPr/>
        </p:nvSpPr>
        <p:spPr>
          <a:xfrm xmlns:a="http://schemas.openxmlformats.org/drawingml/2006/main">
            <a:off x="10096500" y="2333625"/>
            <a:ext cx="13335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SYNCED</a:t>
            </a:r>
          </a:p>
        </p:txBody>
      </p:sp>
      <p:sp>
        <p:nvSpPr>
          <p:cNvPr id="13" name="">
            <a:extLst xmlns:a="http://schemas.openxmlformats.org/drawingml/2006/main">
              <a:ext uri="{FF2B5EF4-FFF2-40B4-BE49-F238E27FC236}">
                <a16:creationId xmlns:a16="http://schemas.microsoft.com/office/drawing/2014/main" id="{DD564ED6-E561-4163-ACBE-8B9D51D84A47}"/>
              </a:ext>
            </a:extLst>
          </p:cNvPr>
          <p:cNvSpPr>
            <a:spLocks xmlns:a="http://schemas.openxmlformats.org/drawingml/2006/main" noGrp="1"/>
          </p:cNvSpPr>
          <p:nvPr/>
        </p:nvSpPr>
        <p:spPr>
          <a:xfrm xmlns:a="http://schemas.openxmlformats.org/drawingml/2006/main">
            <a:off x="4762500" y="3429000"/>
            <a:ext cx="66675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14" name="">
            <a:extLst xmlns:a="http://schemas.openxmlformats.org/drawingml/2006/main">
              <a:ext uri="{FF2B5EF4-FFF2-40B4-BE49-F238E27FC236}">
                <a16:creationId xmlns:a16="http://schemas.microsoft.com/office/drawing/2014/main" id="{7D38789A-35D8-4360-8011-FEFBFA0D3B0C}"/>
              </a:ext>
            </a:extLst>
          </p:cNvPr>
          <p:cNvSpPr>
            <a:spLocks xmlns:a="http://schemas.openxmlformats.org/drawingml/2006/main" noGrp="1"/>
          </p:cNvSpPr>
          <p:nvPr/>
        </p:nvSpPr>
        <p:spPr>
          <a:xfrm xmlns:a="http://schemas.openxmlformats.org/drawingml/2006/main">
            <a:off x="4762500" y="3009900"/>
            <a:ext cx="1933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101010"/>
                </a:solidFill>
                <a:latin typeface="Helvetica Neue"/>
                <a:ea typeface="Helvetica Neue"/>
                <a:cs typeface="Helvetica Neue"/>
              </a:defRPr>
            </a:pPr>
            <a:r>
              <a:rPr sz="1350" b="1">
                <a:solidFill>
                  <a:srgbClr val="101010"/>
                </a:solidFill>
                <a:latin typeface="Helvetica Neue"/>
                <a:ea typeface="Helvetica Neue"/>
                <a:cs typeface="Helvetica Neue"/>
              </a:rPr>
              <a:t>Telegram</a:t>
            </a:r>
          </a:p>
        </p:txBody>
      </p:sp>
      <p:sp>
        <p:nvSpPr>
          <p:cNvPr id="15" name="">
            <a:extLst xmlns:a="http://schemas.openxmlformats.org/drawingml/2006/main">
              <a:ext uri="{FF2B5EF4-FFF2-40B4-BE49-F238E27FC236}">
                <a16:creationId xmlns:a16="http://schemas.microsoft.com/office/drawing/2014/main" id="{383FE951-B522-4E75-80B5-63810C9C6409}"/>
              </a:ext>
            </a:extLst>
          </p:cNvPr>
          <p:cNvSpPr>
            <a:spLocks xmlns:a="http://schemas.openxmlformats.org/drawingml/2006/main" noGrp="1"/>
          </p:cNvSpPr>
          <p:nvPr/>
        </p:nvSpPr>
        <p:spPr>
          <a:xfrm xmlns:a="http://schemas.openxmlformats.org/drawingml/2006/main">
            <a:off x="6696075" y="3009900"/>
            <a:ext cx="320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626262"/>
                </a:solidFill>
                <a:latin typeface="Helvetica Neue"/>
                <a:ea typeface="Helvetica Neue"/>
                <a:cs typeface="Helvetica Neue"/>
              </a:defRPr>
            </a:pPr>
            <a:r>
              <a:rPr sz="1125" b="0">
                <a:solidFill>
                  <a:srgbClr val="626262"/>
                </a:solidFill>
                <a:latin typeface="Helvetica Neue"/>
                <a:ea typeface="Helvetica Neue"/>
                <a:cs typeface="Helvetica Neue"/>
              </a:rPr>
              <a:t>Link bot conversation to the customer</a:t>
            </a:r>
          </a:p>
        </p:txBody>
      </p:sp>
      <p:sp>
        <p:nvSpPr>
          <p:cNvPr id="16" name="">
            <a:extLst xmlns:a="http://schemas.openxmlformats.org/drawingml/2006/main">
              <a:ext uri="{FF2B5EF4-FFF2-40B4-BE49-F238E27FC236}">
                <a16:creationId xmlns:a16="http://schemas.microsoft.com/office/drawing/2014/main" id="{1668513D-55CE-4966-9270-3DC5B6C4BC84}"/>
              </a:ext>
            </a:extLst>
          </p:cNvPr>
          <p:cNvSpPr>
            <a:spLocks xmlns:a="http://schemas.openxmlformats.org/drawingml/2006/main" noGrp="1"/>
          </p:cNvSpPr>
          <p:nvPr/>
        </p:nvSpPr>
        <p:spPr>
          <a:xfrm xmlns:a="http://schemas.openxmlformats.org/drawingml/2006/main">
            <a:off x="10096500" y="3019425"/>
            <a:ext cx="1333500" cy="285750"/>
          </a:xfrm>
          <a:prstGeom xmlns:a="http://schemas.openxmlformats.org/drawingml/2006/main" prst="roundRect">
            <a:avLst>
              <a:gd name="adj" fmla="val 50000"/>
            </a:avLst>
          </a:prstGeom>
          <a:solidFill xmlns:a="http://schemas.openxmlformats.org/drawingml/2006/main">
            <a:srgbClr val="DDE8FF"/>
          </a:solidFill>
          <a:ln xmlns:a="http://schemas.openxmlformats.org/drawingml/2006/main" w="9525">
            <a:solidFill>
              <a:srgbClr val="DDE8FF"/>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LINKED</a:t>
            </a:r>
          </a:p>
        </p:txBody>
      </p:sp>
      <p:sp>
        <p:nvSpPr>
          <p:cNvPr id="17" name="">
            <a:extLst xmlns:a="http://schemas.openxmlformats.org/drawingml/2006/main">
              <a:ext uri="{FF2B5EF4-FFF2-40B4-BE49-F238E27FC236}">
                <a16:creationId xmlns:a16="http://schemas.microsoft.com/office/drawing/2014/main" id="{B9A89D27-E210-441F-A0EA-13B350734D47}"/>
              </a:ext>
            </a:extLst>
          </p:cNvPr>
          <p:cNvSpPr>
            <a:spLocks xmlns:a="http://schemas.openxmlformats.org/drawingml/2006/main" noGrp="1"/>
          </p:cNvSpPr>
          <p:nvPr/>
        </p:nvSpPr>
        <p:spPr>
          <a:xfrm xmlns:a="http://schemas.openxmlformats.org/drawingml/2006/main">
            <a:off x="4762500" y="4114800"/>
            <a:ext cx="66675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18" name="">
            <a:extLst xmlns:a="http://schemas.openxmlformats.org/drawingml/2006/main">
              <a:ext uri="{FF2B5EF4-FFF2-40B4-BE49-F238E27FC236}">
                <a16:creationId xmlns:a16="http://schemas.microsoft.com/office/drawing/2014/main" id="{015E4866-1E77-4EEE-B53B-B753CFBE095C}"/>
              </a:ext>
            </a:extLst>
          </p:cNvPr>
          <p:cNvSpPr>
            <a:spLocks xmlns:a="http://schemas.openxmlformats.org/drawingml/2006/main" noGrp="1"/>
          </p:cNvSpPr>
          <p:nvPr/>
        </p:nvSpPr>
        <p:spPr>
          <a:xfrm xmlns:a="http://schemas.openxmlformats.org/drawingml/2006/main">
            <a:off x="4762500" y="3695700"/>
            <a:ext cx="1933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101010"/>
                </a:solidFill>
                <a:latin typeface="Helvetica Neue"/>
                <a:ea typeface="Helvetica Neue"/>
                <a:cs typeface="Helvetica Neue"/>
              </a:defRPr>
            </a:pPr>
            <a:r>
              <a:rPr sz="1350" b="1">
                <a:solidFill>
                  <a:srgbClr val="101010"/>
                </a:solidFill>
                <a:latin typeface="Helvetica Neue"/>
                <a:ea typeface="Helvetica Neue"/>
                <a:cs typeface="Helvetica Neue"/>
              </a:rPr>
              <a:t>Leads</a:t>
            </a:r>
          </a:p>
        </p:txBody>
      </p:sp>
      <p:sp>
        <p:nvSpPr>
          <p:cNvPr id="19" name="">
            <a:extLst xmlns:a="http://schemas.openxmlformats.org/drawingml/2006/main">
              <a:ext uri="{FF2B5EF4-FFF2-40B4-BE49-F238E27FC236}">
                <a16:creationId xmlns:a16="http://schemas.microsoft.com/office/drawing/2014/main" id="{D2A9461C-4A3E-4D9F-9C6A-739C1D541AD1}"/>
              </a:ext>
            </a:extLst>
          </p:cNvPr>
          <p:cNvSpPr>
            <a:spLocks xmlns:a="http://schemas.openxmlformats.org/drawingml/2006/main" noGrp="1"/>
          </p:cNvSpPr>
          <p:nvPr/>
        </p:nvSpPr>
        <p:spPr>
          <a:xfrm xmlns:a="http://schemas.openxmlformats.org/drawingml/2006/main">
            <a:off x="6696075" y="3695700"/>
            <a:ext cx="320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626262"/>
                </a:solidFill>
                <a:latin typeface="Helvetica Neue"/>
                <a:ea typeface="Helvetica Neue"/>
                <a:cs typeface="Helvetica Neue"/>
              </a:defRPr>
            </a:pPr>
            <a:r>
              <a:rPr sz="1125" b="0">
                <a:solidFill>
                  <a:srgbClr val="626262"/>
                </a:solidFill>
                <a:latin typeface="Helvetica Neue"/>
                <a:ea typeface="Helvetica Neue"/>
                <a:cs typeface="Helvetica Neue"/>
              </a:rPr>
              <a:t>New → Contacted → Reserved → Converted / Lost</a:t>
            </a:r>
          </a:p>
        </p:txBody>
      </p:sp>
      <p:sp>
        <p:nvSpPr>
          <p:cNvPr id="20" name="">
            <a:extLst xmlns:a="http://schemas.openxmlformats.org/drawingml/2006/main">
              <a:ext uri="{FF2B5EF4-FFF2-40B4-BE49-F238E27FC236}">
                <a16:creationId xmlns:a16="http://schemas.microsoft.com/office/drawing/2014/main" id="{0C22739B-EC4C-4C29-A073-65AA98D69D30}"/>
              </a:ext>
            </a:extLst>
          </p:cNvPr>
          <p:cNvSpPr>
            <a:spLocks xmlns:a="http://schemas.openxmlformats.org/drawingml/2006/main" noGrp="1"/>
          </p:cNvSpPr>
          <p:nvPr/>
        </p:nvSpPr>
        <p:spPr>
          <a:xfrm xmlns:a="http://schemas.openxmlformats.org/drawingml/2006/main">
            <a:off x="10096500" y="3705225"/>
            <a:ext cx="133350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TRACKED</a:t>
            </a:r>
          </a:p>
        </p:txBody>
      </p:sp>
      <p:sp>
        <p:nvSpPr>
          <p:cNvPr id="21" name="">
            <a:extLst xmlns:a="http://schemas.openxmlformats.org/drawingml/2006/main">
              <a:ext uri="{FF2B5EF4-FFF2-40B4-BE49-F238E27FC236}">
                <a16:creationId xmlns:a16="http://schemas.microsoft.com/office/drawing/2014/main" id="{35451D7E-6BD5-489C-AE28-F6EC123AD4DE}"/>
              </a:ext>
            </a:extLst>
          </p:cNvPr>
          <p:cNvSpPr>
            <a:spLocks xmlns:a="http://schemas.openxmlformats.org/drawingml/2006/main" noGrp="1"/>
          </p:cNvSpPr>
          <p:nvPr/>
        </p:nvSpPr>
        <p:spPr>
          <a:xfrm xmlns:a="http://schemas.openxmlformats.org/drawingml/2006/main">
            <a:off x="4762500" y="4800600"/>
            <a:ext cx="66675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22" name="">
            <a:extLst xmlns:a="http://schemas.openxmlformats.org/drawingml/2006/main">
              <a:ext uri="{FF2B5EF4-FFF2-40B4-BE49-F238E27FC236}">
                <a16:creationId xmlns:a16="http://schemas.microsoft.com/office/drawing/2014/main" id="{B16FE2D2-EA9A-4D94-BDBC-B58158ACAE2B}"/>
              </a:ext>
            </a:extLst>
          </p:cNvPr>
          <p:cNvSpPr>
            <a:spLocks xmlns:a="http://schemas.openxmlformats.org/drawingml/2006/main" noGrp="1"/>
          </p:cNvSpPr>
          <p:nvPr/>
        </p:nvSpPr>
        <p:spPr>
          <a:xfrm xmlns:a="http://schemas.openxmlformats.org/drawingml/2006/main">
            <a:off x="4762500" y="4381500"/>
            <a:ext cx="19335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1">
                <a:solidFill>
                  <a:srgbClr val="101010"/>
                </a:solidFill>
                <a:latin typeface="Helvetica Neue"/>
                <a:ea typeface="Helvetica Neue"/>
                <a:cs typeface="Helvetica Neue"/>
              </a:defRPr>
            </a:pPr>
            <a:r>
              <a:rPr sz="1350" b="1">
                <a:solidFill>
                  <a:srgbClr val="101010"/>
                </a:solidFill>
                <a:latin typeface="Helvetica Neue"/>
                <a:ea typeface="Helvetica Neue"/>
                <a:cs typeface="Helvetica Neue"/>
              </a:rPr>
              <a:t>Support</a:t>
            </a:r>
          </a:p>
        </p:txBody>
      </p:sp>
      <p:sp>
        <p:nvSpPr>
          <p:cNvPr id="23" name="">
            <a:extLst xmlns:a="http://schemas.openxmlformats.org/drawingml/2006/main">
              <a:ext uri="{FF2B5EF4-FFF2-40B4-BE49-F238E27FC236}">
                <a16:creationId xmlns:a16="http://schemas.microsoft.com/office/drawing/2014/main" id="{312063A9-D816-4C75-BEC5-B8488537DEA9}"/>
              </a:ext>
            </a:extLst>
          </p:cNvPr>
          <p:cNvSpPr>
            <a:spLocks xmlns:a="http://schemas.openxmlformats.org/drawingml/2006/main" noGrp="1"/>
          </p:cNvSpPr>
          <p:nvPr/>
        </p:nvSpPr>
        <p:spPr>
          <a:xfrm xmlns:a="http://schemas.openxmlformats.org/drawingml/2006/main">
            <a:off x="6696075" y="4381500"/>
            <a:ext cx="32004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626262"/>
                </a:solidFill>
                <a:latin typeface="Helvetica Neue"/>
                <a:ea typeface="Helvetica Neue"/>
                <a:cs typeface="Helvetica Neue"/>
              </a:defRPr>
            </a:pPr>
            <a:r>
              <a:rPr sz="1125" b="0">
                <a:solidFill>
                  <a:srgbClr val="626262"/>
                </a:solidFill>
                <a:latin typeface="Helvetica Neue"/>
                <a:ea typeface="Helvetica Neue"/>
                <a:cs typeface="Helvetica Neue"/>
              </a:rPr>
              <a:t>Orders and warranty claims remain connected</a:t>
            </a:r>
          </a:p>
        </p:txBody>
      </p:sp>
      <p:sp>
        <p:nvSpPr>
          <p:cNvPr id="24" name="">
            <a:extLst xmlns:a="http://schemas.openxmlformats.org/drawingml/2006/main">
              <a:ext uri="{FF2B5EF4-FFF2-40B4-BE49-F238E27FC236}">
                <a16:creationId xmlns:a16="http://schemas.microsoft.com/office/drawing/2014/main" id="{6C786927-368B-4918-94CA-5D219C95B7E9}"/>
              </a:ext>
            </a:extLst>
          </p:cNvPr>
          <p:cNvSpPr>
            <a:spLocks xmlns:a="http://schemas.openxmlformats.org/drawingml/2006/main" noGrp="1"/>
          </p:cNvSpPr>
          <p:nvPr/>
        </p:nvSpPr>
        <p:spPr>
          <a:xfrm xmlns:a="http://schemas.openxmlformats.org/drawingml/2006/main">
            <a:off x="10096500" y="4391025"/>
            <a:ext cx="13335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VISIBLE</a:t>
            </a:r>
          </a:p>
        </p:txBody>
      </p:sp>
      <p:sp>
        <p:nvSpPr>
          <p:cNvPr id="25" name="">
            <a:extLst xmlns:a="http://schemas.openxmlformats.org/drawingml/2006/main">
              <a:ext uri="{FF2B5EF4-FFF2-40B4-BE49-F238E27FC236}">
                <a16:creationId xmlns:a16="http://schemas.microsoft.com/office/drawing/2014/main" id="{93060A57-323F-4086-8E75-B392271147F6}"/>
              </a:ext>
            </a:extLst>
          </p:cNvPr>
          <p:cNvSpPr>
            <a:spLocks xmlns:a="http://schemas.openxmlformats.org/drawingml/2006/main" noGrp="1"/>
          </p:cNvSpPr>
          <p:nvPr/>
        </p:nvSpPr>
        <p:spPr>
          <a:xfrm xmlns:a="http://schemas.openxmlformats.org/drawingml/2006/main">
            <a:off x="4762500" y="5276850"/>
            <a:ext cx="66103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15-minute cart reminder and 21–30 day follow-up can reuse the same customer context.</a:t>
            </a:r>
          </a:p>
        </p:txBody>
      </p:sp>
    </p:spTree>
    <p:extLst>
      <p:ext uri="{BB962C8B-B14F-4D97-AF65-F5344CB8AC3E}">
        <p14:creationId xmlns:p14="http://schemas.microsoft.com/office/powerpoint/2010/main" val="102879274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14DF6ACE-AF35-45A5-8C34-E075FEC8D77E}"/>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CHECKOUT CONTROL</a:t>
            </a:r>
          </a:p>
        </p:txBody>
      </p:sp>
      <p:sp>
        <p:nvSpPr>
          <p:cNvPr id="2" name="">
            <a:extLst xmlns:a="http://schemas.openxmlformats.org/drawingml/2006/main">
              <a:ext uri="{FF2B5EF4-FFF2-40B4-BE49-F238E27FC236}">
                <a16:creationId xmlns:a16="http://schemas.microsoft.com/office/drawing/2014/main" id="{D8B1957D-F521-4819-A379-98BCB967BA42}"/>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Order creation validates price, delivery and inventory</a:t>
            </a:r>
          </a:p>
        </p:txBody>
      </p:sp>
      <p:sp>
        <p:nvSpPr>
          <p:cNvPr id="3" name="">
            <a:extLst xmlns:a="http://schemas.openxmlformats.org/drawingml/2006/main">
              <a:ext uri="{FF2B5EF4-FFF2-40B4-BE49-F238E27FC236}">
                <a16:creationId xmlns:a16="http://schemas.microsoft.com/office/drawing/2014/main" id="{68B29229-5092-4763-B82F-0907463AF31F}"/>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F2F6B57D-60CA-4E8E-9860-261FCCED8BB0}"/>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366168BF-C108-443B-BC9A-272E7ABBE902}"/>
              </a:ext>
            </a:extLst>
          </p:cNvPr>
          <p:cNvSpPr>
            <a:spLocks xmlns:a="http://schemas.openxmlformats.org/drawingml/2006/main" noGrp="1"/>
          </p:cNvSpPr>
          <p:nvPr/>
        </p:nvSpPr>
        <p:spPr>
          <a:xfrm xmlns:a="http://schemas.openxmlformats.org/drawingml/2006/main">
            <a:off x="400050" y="1676400"/>
            <a:ext cx="4191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A203A43D-21F0-4A04-901D-1F6CF7174E61}"/>
              </a:ext>
            </a:extLst>
          </p:cNvPr>
          <p:cNvSpPr>
            <a:spLocks xmlns:a="http://schemas.openxmlformats.org/drawingml/2006/main" noGrp="1"/>
          </p:cNvSpPr>
          <p:nvPr/>
        </p:nvSpPr>
        <p:spPr>
          <a:xfrm xmlns:a="http://schemas.openxmlformats.org/drawingml/2006/main">
            <a:off x="1028700" y="16954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101010"/>
                </a:solidFill>
                <a:latin typeface="Helvetica Neue"/>
                <a:ea typeface="Helvetica Neue"/>
                <a:cs typeface="Helvetica Neue"/>
              </a:defRPr>
            </a:pPr>
            <a:r>
              <a:rPr sz="1350" b="1">
                <a:solidFill>
                  <a:srgbClr val="101010"/>
                </a:solidFill>
                <a:latin typeface="Helvetica Neue"/>
                <a:ea typeface="Helvetica Neue"/>
                <a:cs typeface="Helvetica Neue"/>
              </a:rPr>
              <a:t>SERVER PRICE</a:t>
            </a:r>
          </a:p>
        </p:txBody>
      </p:sp>
      <p:sp>
        <p:nvSpPr>
          <p:cNvPr id="7" name="">
            <a:extLst xmlns:a="http://schemas.openxmlformats.org/drawingml/2006/main">
              <a:ext uri="{FF2B5EF4-FFF2-40B4-BE49-F238E27FC236}">
                <a16:creationId xmlns:a16="http://schemas.microsoft.com/office/drawing/2014/main" id="{E70A5C5E-D877-432B-BBDA-490AEF054117}"/>
              </a:ext>
            </a:extLst>
          </p:cNvPr>
          <p:cNvSpPr>
            <a:spLocks xmlns:a="http://schemas.openxmlformats.org/drawingml/2006/main" noGrp="1"/>
          </p:cNvSpPr>
          <p:nvPr/>
        </p:nvSpPr>
        <p:spPr>
          <a:xfrm xmlns:a="http://schemas.openxmlformats.org/drawingml/2006/main">
            <a:off x="3333750" y="1666875"/>
            <a:ext cx="815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Re-read active product, variant and bundle prices from the database.</a:t>
            </a:r>
          </a:p>
        </p:txBody>
      </p:sp>
      <p:sp>
        <p:nvSpPr>
          <p:cNvPr id="8" name="">
            <a:extLst xmlns:a="http://schemas.openxmlformats.org/drawingml/2006/main">
              <a:ext uri="{FF2B5EF4-FFF2-40B4-BE49-F238E27FC236}">
                <a16:creationId xmlns:a16="http://schemas.microsoft.com/office/drawing/2014/main" id="{B3CA2CFB-B0A4-410D-85F4-9C5D6DC1F7A5}"/>
              </a:ext>
            </a:extLst>
          </p:cNvPr>
          <p:cNvSpPr>
            <a:spLocks xmlns:a="http://schemas.openxmlformats.org/drawingml/2006/main" noGrp="1"/>
          </p:cNvSpPr>
          <p:nvPr/>
        </p:nvSpPr>
        <p:spPr>
          <a:xfrm xmlns:a="http://schemas.openxmlformats.org/drawingml/2006/main">
            <a:off x="1028700" y="2362200"/>
            <a:ext cx="1045845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9" name="">
            <a:extLst xmlns:a="http://schemas.openxmlformats.org/drawingml/2006/main">
              <a:ext uri="{FF2B5EF4-FFF2-40B4-BE49-F238E27FC236}">
                <a16:creationId xmlns:a16="http://schemas.microsoft.com/office/drawing/2014/main" id="{6DAE6F2E-5EE7-493A-9808-4F31A199F481}"/>
              </a:ext>
            </a:extLst>
          </p:cNvPr>
          <p:cNvSpPr>
            <a:spLocks xmlns:a="http://schemas.openxmlformats.org/drawingml/2006/main" noGrp="1"/>
          </p:cNvSpPr>
          <p:nvPr/>
        </p:nvSpPr>
        <p:spPr>
          <a:xfrm xmlns:a="http://schemas.openxmlformats.org/drawingml/2006/main">
            <a:off x="400050" y="2628900"/>
            <a:ext cx="4191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4AD4AE67-243E-41F2-BD7C-F467829A2E59}"/>
              </a:ext>
            </a:extLst>
          </p:cNvPr>
          <p:cNvSpPr>
            <a:spLocks xmlns:a="http://schemas.openxmlformats.org/drawingml/2006/main" noGrp="1"/>
          </p:cNvSpPr>
          <p:nvPr/>
        </p:nvSpPr>
        <p:spPr>
          <a:xfrm xmlns:a="http://schemas.openxmlformats.org/drawingml/2006/main">
            <a:off x="1028700" y="26479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101010"/>
                </a:solidFill>
                <a:latin typeface="Helvetica Neue"/>
                <a:ea typeface="Helvetica Neue"/>
                <a:cs typeface="Helvetica Neue"/>
              </a:defRPr>
            </a:pPr>
            <a:r>
              <a:rPr sz="1350" b="1">
                <a:solidFill>
                  <a:srgbClr val="101010"/>
                </a:solidFill>
                <a:latin typeface="Helvetica Neue"/>
                <a:ea typeface="Helvetica Neue"/>
                <a:cs typeface="Helvetica Neue"/>
              </a:rPr>
              <a:t>DELIVERY RULE</a:t>
            </a:r>
          </a:p>
        </p:txBody>
      </p:sp>
      <p:sp>
        <p:nvSpPr>
          <p:cNvPr id="11" name="">
            <a:extLst xmlns:a="http://schemas.openxmlformats.org/drawingml/2006/main">
              <a:ext uri="{FF2B5EF4-FFF2-40B4-BE49-F238E27FC236}">
                <a16:creationId xmlns:a16="http://schemas.microsoft.com/office/drawing/2014/main" id="{97D08407-6089-49F1-AB07-E8BE11E91800}"/>
              </a:ext>
            </a:extLst>
          </p:cNvPr>
          <p:cNvSpPr>
            <a:spLocks xmlns:a="http://schemas.openxmlformats.org/drawingml/2006/main" noGrp="1"/>
          </p:cNvSpPr>
          <p:nvPr/>
        </p:nvSpPr>
        <p:spPr>
          <a:xfrm xmlns:a="http://schemas.openxmlformats.org/drawingml/2006/main">
            <a:off x="3333750" y="2619375"/>
            <a:ext cx="815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Yangon Inner 4,500; Outer 5,000; Other Cities 5,000—with configured free thresholds.</a:t>
            </a:r>
          </a:p>
        </p:txBody>
      </p:sp>
      <p:sp>
        <p:nvSpPr>
          <p:cNvPr id="12" name="">
            <a:extLst xmlns:a="http://schemas.openxmlformats.org/drawingml/2006/main">
              <a:ext uri="{FF2B5EF4-FFF2-40B4-BE49-F238E27FC236}">
                <a16:creationId xmlns:a16="http://schemas.microsoft.com/office/drawing/2014/main" id="{EDB7363C-BD89-4D31-89C1-418209E72C0F}"/>
              </a:ext>
            </a:extLst>
          </p:cNvPr>
          <p:cNvSpPr>
            <a:spLocks xmlns:a="http://schemas.openxmlformats.org/drawingml/2006/main" noGrp="1"/>
          </p:cNvSpPr>
          <p:nvPr/>
        </p:nvSpPr>
        <p:spPr>
          <a:xfrm xmlns:a="http://schemas.openxmlformats.org/drawingml/2006/main">
            <a:off x="1028700" y="3314700"/>
            <a:ext cx="1045845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13" name="">
            <a:extLst xmlns:a="http://schemas.openxmlformats.org/drawingml/2006/main">
              <a:ext uri="{FF2B5EF4-FFF2-40B4-BE49-F238E27FC236}">
                <a16:creationId xmlns:a16="http://schemas.microsoft.com/office/drawing/2014/main" id="{75FB4C07-E712-4996-8275-9A8B3C58142A}"/>
              </a:ext>
            </a:extLst>
          </p:cNvPr>
          <p:cNvSpPr>
            <a:spLocks xmlns:a="http://schemas.openxmlformats.org/drawingml/2006/main" noGrp="1"/>
          </p:cNvSpPr>
          <p:nvPr/>
        </p:nvSpPr>
        <p:spPr>
          <a:xfrm xmlns:a="http://schemas.openxmlformats.org/drawingml/2006/main">
            <a:off x="400050" y="3581400"/>
            <a:ext cx="4191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C9903A76-5F14-43B2-B3AC-50096B0910B3}"/>
              </a:ext>
            </a:extLst>
          </p:cNvPr>
          <p:cNvSpPr>
            <a:spLocks xmlns:a="http://schemas.openxmlformats.org/drawingml/2006/main" noGrp="1"/>
          </p:cNvSpPr>
          <p:nvPr/>
        </p:nvSpPr>
        <p:spPr>
          <a:xfrm xmlns:a="http://schemas.openxmlformats.org/drawingml/2006/main">
            <a:off x="1028700" y="36004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101010"/>
                </a:solidFill>
                <a:latin typeface="Helvetica Neue"/>
                <a:ea typeface="Helvetica Neue"/>
                <a:cs typeface="Helvetica Neue"/>
              </a:defRPr>
            </a:pPr>
            <a:r>
              <a:rPr sz="1350" b="1">
                <a:solidFill>
                  <a:srgbClr val="101010"/>
                </a:solidFill>
                <a:latin typeface="Helvetica Neue"/>
                <a:ea typeface="Helvetica Neue"/>
                <a:cs typeface="Helvetica Neue"/>
              </a:rPr>
              <a:t>DIGITAL EXCEPTION</a:t>
            </a:r>
          </a:p>
        </p:txBody>
      </p:sp>
      <p:sp>
        <p:nvSpPr>
          <p:cNvPr id="15" name="">
            <a:extLst xmlns:a="http://schemas.openxmlformats.org/drawingml/2006/main">
              <a:ext uri="{FF2B5EF4-FFF2-40B4-BE49-F238E27FC236}">
                <a16:creationId xmlns:a16="http://schemas.microsoft.com/office/drawing/2014/main" id="{0DBDA8CC-B768-41A6-9440-EEC317BC1ABE}"/>
              </a:ext>
            </a:extLst>
          </p:cNvPr>
          <p:cNvSpPr>
            <a:spLocks xmlns:a="http://schemas.openxmlformats.org/drawingml/2006/main" noGrp="1"/>
          </p:cNvSpPr>
          <p:nvPr/>
        </p:nvSpPr>
        <p:spPr>
          <a:xfrm xmlns:a="http://schemas.openxmlformats.org/drawingml/2006/main">
            <a:off x="3333750" y="3571875"/>
            <a:ext cx="815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If every item is a PUBG account, shipping is automatically zero.</a:t>
            </a:r>
          </a:p>
        </p:txBody>
      </p:sp>
      <p:sp>
        <p:nvSpPr>
          <p:cNvPr id="16" name="">
            <a:extLst xmlns:a="http://schemas.openxmlformats.org/drawingml/2006/main">
              <a:ext uri="{FF2B5EF4-FFF2-40B4-BE49-F238E27FC236}">
                <a16:creationId xmlns:a16="http://schemas.microsoft.com/office/drawing/2014/main" id="{A8FE5491-2DCC-47B4-85BD-0912E1502381}"/>
              </a:ext>
            </a:extLst>
          </p:cNvPr>
          <p:cNvSpPr>
            <a:spLocks xmlns:a="http://schemas.openxmlformats.org/drawingml/2006/main" noGrp="1"/>
          </p:cNvSpPr>
          <p:nvPr/>
        </p:nvSpPr>
        <p:spPr>
          <a:xfrm xmlns:a="http://schemas.openxmlformats.org/drawingml/2006/main">
            <a:off x="1028700" y="4267200"/>
            <a:ext cx="1045845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17" name="">
            <a:extLst xmlns:a="http://schemas.openxmlformats.org/drawingml/2006/main">
              <a:ext uri="{FF2B5EF4-FFF2-40B4-BE49-F238E27FC236}">
                <a16:creationId xmlns:a16="http://schemas.microsoft.com/office/drawing/2014/main" id="{06B5975C-054C-40F0-BD8E-47C14D76135A}"/>
              </a:ext>
            </a:extLst>
          </p:cNvPr>
          <p:cNvSpPr>
            <a:spLocks xmlns:a="http://schemas.openxmlformats.org/drawingml/2006/main" noGrp="1"/>
          </p:cNvSpPr>
          <p:nvPr/>
        </p:nvSpPr>
        <p:spPr>
          <a:xfrm xmlns:a="http://schemas.openxmlformats.org/drawingml/2006/main">
            <a:off x="400050" y="4533900"/>
            <a:ext cx="41910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8BDD8530-D8D1-4B61-9B9B-D9BDB082494C}"/>
              </a:ext>
            </a:extLst>
          </p:cNvPr>
          <p:cNvSpPr>
            <a:spLocks xmlns:a="http://schemas.openxmlformats.org/drawingml/2006/main" noGrp="1"/>
          </p:cNvSpPr>
          <p:nvPr/>
        </p:nvSpPr>
        <p:spPr>
          <a:xfrm xmlns:a="http://schemas.openxmlformats.org/drawingml/2006/main">
            <a:off x="1028700" y="45529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101010"/>
                </a:solidFill>
                <a:latin typeface="Helvetica Neue"/>
                <a:ea typeface="Helvetica Neue"/>
                <a:cs typeface="Helvetica Neue"/>
              </a:defRPr>
            </a:pPr>
            <a:r>
              <a:rPr sz="1350" b="1">
                <a:solidFill>
                  <a:srgbClr val="101010"/>
                </a:solidFill>
                <a:latin typeface="Helvetica Neue"/>
                <a:ea typeface="Helvetica Neue"/>
                <a:cs typeface="Helvetica Neue"/>
              </a:rPr>
              <a:t>ATOMIC CREATE</a:t>
            </a:r>
          </a:p>
        </p:txBody>
      </p:sp>
      <p:sp>
        <p:nvSpPr>
          <p:cNvPr id="19" name="">
            <a:extLst xmlns:a="http://schemas.openxmlformats.org/drawingml/2006/main">
              <a:ext uri="{FF2B5EF4-FFF2-40B4-BE49-F238E27FC236}">
                <a16:creationId xmlns:a16="http://schemas.microsoft.com/office/drawing/2014/main" id="{6F8F4772-CCF2-4A7A-8E2B-AA0A59844CB6}"/>
              </a:ext>
            </a:extLst>
          </p:cNvPr>
          <p:cNvSpPr>
            <a:spLocks xmlns:a="http://schemas.openxmlformats.org/drawingml/2006/main" noGrp="1"/>
          </p:cNvSpPr>
          <p:nvPr/>
        </p:nvSpPr>
        <p:spPr>
          <a:xfrm xmlns:a="http://schemas.openxmlformats.org/drawingml/2006/main">
            <a:off x="3333750" y="4524375"/>
            <a:ext cx="8153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Customer, order, items, bundle snapshot and stock reservation succeed together or roll back.</a:t>
            </a:r>
          </a:p>
        </p:txBody>
      </p:sp>
      <p:sp>
        <p:nvSpPr>
          <p:cNvPr id="20" name="">
            <a:extLst xmlns:a="http://schemas.openxmlformats.org/drawingml/2006/main">
              <a:ext uri="{FF2B5EF4-FFF2-40B4-BE49-F238E27FC236}">
                <a16:creationId xmlns:a16="http://schemas.microsoft.com/office/drawing/2014/main" id="{C3F7DC75-5A06-4BDF-B767-3343F6D0748F}"/>
              </a:ext>
            </a:extLst>
          </p:cNvPr>
          <p:cNvSpPr>
            <a:spLocks xmlns:a="http://schemas.openxmlformats.org/drawingml/2006/main" noGrp="1"/>
          </p:cNvSpPr>
          <p:nvPr/>
        </p:nvSpPr>
        <p:spPr>
          <a:xfrm xmlns:a="http://schemas.openxmlformats.org/drawingml/2006/main">
            <a:off x="1028700" y="5219700"/>
            <a:ext cx="1045845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21" name="">
            <a:extLst xmlns:a="http://schemas.openxmlformats.org/drawingml/2006/main">
              <a:ext uri="{FF2B5EF4-FFF2-40B4-BE49-F238E27FC236}">
                <a16:creationId xmlns:a16="http://schemas.microsoft.com/office/drawing/2014/main" id="{205BAD7F-BBBD-4043-BD98-54731C97CDB6}"/>
              </a:ext>
            </a:extLst>
          </p:cNvPr>
          <p:cNvSpPr>
            <a:spLocks xmlns:a="http://schemas.openxmlformats.org/drawingml/2006/main" noGrp="1"/>
          </p:cNvSpPr>
          <p:nvPr/>
        </p:nvSpPr>
        <p:spPr>
          <a:xfrm xmlns:a="http://schemas.openxmlformats.org/drawingml/2006/main">
            <a:off x="400050" y="5581650"/>
            <a:ext cx="11087100" cy="400050"/>
          </a:xfrm>
          <a:prstGeom xmlns:a="http://schemas.openxmlformats.org/drawingml/2006/main" prst="roundRect">
            <a:avLst>
              <a:gd name="adj" fmla="val 28571"/>
            </a:avLst>
          </a:prstGeom>
          <a:solidFill xmlns:a="http://schemas.openxmlformats.org/drawingml/2006/main">
            <a:srgbClr val="EFF8DD"/>
          </a:solidFill>
          <a:ln xmlns:a="http://schemas.openxmlformats.org/drawingml/2006/main" w="9525">
            <a:solidFill>
              <a:srgbClr val="D2E8A9"/>
            </a:solidFill>
            <a:prstDash val="solid"/>
          </a:ln>
        </p:spPr>
      </p:sp>
      <p:sp>
        <p:nvSpPr>
          <p:cNvPr id="22" name="">
            <a:extLst xmlns:a="http://schemas.openxmlformats.org/drawingml/2006/main">
              <a:ext uri="{FF2B5EF4-FFF2-40B4-BE49-F238E27FC236}">
                <a16:creationId xmlns:a16="http://schemas.microsoft.com/office/drawing/2014/main" id="{22B7EDEC-9063-467A-9067-365477EF05FF}"/>
              </a:ext>
            </a:extLst>
          </p:cNvPr>
          <p:cNvSpPr>
            <a:spLocks xmlns:a="http://schemas.openxmlformats.org/drawingml/2006/main" noGrp="1"/>
          </p:cNvSpPr>
          <p:nvPr/>
        </p:nvSpPr>
        <p:spPr>
          <a:xfrm xmlns:a="http://schemas.openxmlformats.org/drawingml/2006/main">
            <a:off x="609600" y="5686425"/>
            <a:ext cx="10668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4583"/>
          </a:bodyPr>
          <a:lstStyle xmlns:a="http://schemas.openxmlformats.org/drawingml/2006/main"/>
          <a:p xmlns:a="http://schemas.openxmlformats.org/drawingml/2006/main">
            <a:pPr algn="l">
              <a:defRPr sz="1200" b="1">
                <a:solidFill>
                  <a:srgbClr val="2E7D32"/>
                </a:solidFill>
                <a:latin typeface="Helvetica Neue"/>
                <a:ea typeface="Helvetica Neue"/>
                <a:cs typeface="Helvetica Neue"/>
              </a:defRPr>
            </a:pPr>
            <a:r>
              <a:rPr sz="1200" b="1">
                <a:solidFill>
                  <a:srgbClr val="2E7D32"/>
                </a:solidFill>
                <a:latin typeface="Helvetica Neue"/>
                <a:ea typeface="Helvetica Neue"/>
                <a:cs typeface="Helvetica Neue"/>
              </a:rPr>
              <a:t>Result: the order total shown to staff, customer, receipt and finance is the same stored total.</a:t>
            </a:r>
          </a:p>
        </p:txBody>
      </p:sp>
    </p:spTree>
    <p:extLst>
      <p:ext uri="{BB962C8B-B14F-4D97-AF65-F5344CB8AC3E}">
        <p14:creationId xmlns:p14="http://schemas.microsoft.com/office/powerpoint/2010/main" val="54808489"/>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0828B291-D2F0-4FC1-A355-7761B1D8B2F7}"/>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PAYMENT CONTROL</a:t>
            </a:r>
          </a:p>
        </p:txBody>
      </p:sp>
      <p:sp>
        <p:nvSpPr>
          <p:cNvPr id="2" name="">
            <a:extLst xmlns:a="http://schemas.openxmlformats.org/drawingml/2006/main">
              <a:ext uri="{FF2B5EF4-FFF2-40B4-BE49-F238E27FC236}">
                <a16:creationId xmlns:a16="http://schemas.microsoft.com/office/drawing/2014/main" id="{EE513ADF-7E26-4F5C-BB15-5868A3575F4A}"/>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Payment is reviewed before fulfillment begins</a:t>
            </a:r>
          </a:p>
        </p:txBody>
      </p:sp>
      <p:sp>
        <p:nvSpPr>
          <p:cNvPr id="3" name="">
            <a:extLst xmlns:a="http://schemas.openxmlformats.org/drawingml/2006/main">
              <a:ext uri="{FF2B5EF4-FFF2-40B4-BE49-F238E27FC236}">
                <a16:creationId xmlns:a16="http://schemas.microsoft.com/office/drawing/2014/main" id="{E4AEA7B8-695C-40D0-89C9-38A06DA17FEB}"/>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AA7DD909-3604-467D-9B70-E44DB29CDA71}"/>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C14F4CD4-3E00-4A58-9295-27B85F66A77E}"/>
              </a:ext>
            </a:extLst>
          </p:cNvPr>
          <p:cNvSpPr>
            <a:spLocks xmlns:a="http://schemas.openxmlformats.org/drawingml/2006/main" noGrp="1"/>
          </p:cNvSpPr>
          <p:nvPr/>
        </p:nvSpPr>
        <p:spPr>
          <a:xfrm xmlns:a="http://schemas.openxmlformats.org/drawingml/2006/main">
            <a:off x="400050" y="1619250"/>
            <a:ext cx="4191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1</a:t>
            </a:r>
          </a:p>
        </p:txBody>
      </p:sp>
      <p:sp>
        <p:nvSpPr>
          <p:cNvPr id="6" name="">
            <a:extLst xmlns:a="http://schemas.openxmlformats.org/drawingml/2006/main">
              <a:ext uri="{FF2B5EF4-FFF2-40B4-BE49-F238E27FC236}">
                <a16:creationId xmlns:a16="http://schemas.microsoft.com/office/drawing/2014/main" id="{1812B9AB-838E-4F22-B12C-C26B3EC3EA2D}"/>
              </a:ext>
            </a:extLst>
          </p:cNvPr>
          <p:cNvSpPr>
            <a:spLocks xmlns:a="http://schemas.openxmlformats.org/drawingml/2006/main" noGrp="1"/>
          </p:cNvSpPr>
          <p:nvPr/>
        </p:nvSpPr>
        <p:spPr>
          <a:xfrm xmlns:a="http://schemas.openxmlformats.org/drawingml/2006/main">
            <a:off x="1028700" y="16383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a:solidFill>
                  <a:srgbClr val="101010"/>
                </a:solidFill>
                <a:latin typeface="Helvetica Neue"/>
                <a:ea typeface="Helvetica Neue"/>
                <a:cs typeface="Helvetica Neue"/>
              </a:defRPr>
            </a:pPr>
            <a:r>
              <a:rPr sz="1275" b="1">
                <a:solidFill>
                  <a:srgbClr val="101010"/>
                </a:solidFill>
                <a:latin typeface="Helvetica Neue"/>
                <a:ea typeface="Helvetica Neue"/>
                <a:cs typeface="Helvetica Neue"/>
              </a:rPr>
              <a:t>CUSTOMER</a:t>
            </a:r>
          </a:p>
        </p:txBody>
      </p:sp>
      <p:sp>
        <p:nvSpPr>
          <p:cNvPr id="7" name="">
            <a:extLst xmlns:a="http://schemas.openxmlformats.org/drawingml/2006/main">
              <a:ext uri="{FF2B5EF4-FFF2-40B4-BE49-F238E27FC236}">
                <a16:creationId xmlns:a16="http://schemas.microsoft.com/office/drawing/2014/main" id="{FC3D980E-63B0-4B18-BA57-A27D5E18F784}"/>
              </a:ext>
            </a:extLst>
          </p:cNvPr>
          <p:cNvSpPr>
            <a:spLocks xmlns:a="http://schemas.openxmlformats.org/drawingml/2006/main" noGrp="1"/>
          </p:cNvSpPr>
          <p:nvPr/>
        </p:nvSpPr>
        <p:spPr>
          <a:xfrm xmlns:a="http://schemas.openxmlformats.org/drawingml/2006/main">
            <a:off x="2647950" y="1543050"/>
            <a:ext cx="8743950" cy="666750"/>
          </a:xfrm>
          <a:prstGeom xmlns:a="http://schemas.openxmlformats.org/drawingml/2006/main" prst="roundRect">
            <a:avLst>
              <a:gd name="adj" fmla="val 20000"/>
            </a:avLst>
          </a:prstGeom>
          <a:solidFill xmlns:a="http://schemas.openxmlformats.org/drawingml/2006/main">
            <a:srgbClr val="F3F3F1"/>
          </a:solidFill>
          <a:ln xmlns:a="http://schemas.openxmlformats.org/drawingml/2006/main" w="9525">
            <a:solidFill>
              <a:srgbClr val="D9D9D5"/>
            </a:solidFill>
            <a:prstDash val="solid"/>
          </a:ln>
        </p:spPr>
      </p:sp>
      <p:sp>
        <p:nvSpPr>
          <p:cNvPr id="8" name="">
            <a:extLst xmlns:a="http://schemas.openxmlformats.org/drawingml/2006/main">
              <a:ext uri="{FF2B5EF4-FFF2-40B4-BE49-F238E27FC236}">
                <a16:creationId xmlns:a16="http://schemas.microsoft.com/office/drawing/2014/main" id="{1D316B07-2E44-4D2C-87E1-438C1C3B4766}"/>
              </a:ext>
            </a:extLst>
          </p:cNvPr>
          <p:cNvSpPr>
            <a:spLocks xmlns:a="http://schemas.openxmlformats.org/drawingml/2006/main" noGrp="1"/>
          </p:cNvSpPr>
          <p:nvPr/>
        </p:nvSpPr>
        <p:spPr>
          <a:xfrm xmlns:a="http://schemas.openxmlformats.org/drawingml/2006/main">
            <a:off x="2857500" y="1714500"/>
            <a:ext cx="8305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Transfer via KBZPay, WavePay or bank; send slip with order code.</a:t>
            </a:r>
          </a:p>
        </p:txBody>
      </p:sp>
      <p:sp>
        <p:nvSpPr>
          <p:cNvPr id="9" name="">
            <a:extLst xmlns:a="http://schemas.openxmlformats.org/drawingml/2006/main">
              <a:ext uri="{FF2B5EF4-FFF2-40B4-BE49-F238E27FC236}">
                <a16:creationId xmlns:a16="http://schemas.microsoft.com/office/drawing/2014/main" id="{22109EFA-B369-460C-8260-0FF19D8AE17A}"/>
              </a:ext>
            </a:extLst>
          </p:cNvPr>
          <p:cNvSpPr>
            <a:spLocks xmlns:a="http://schemas.openxmlformats.org/drawingml/2006/main" noGrp="1"/>
          </p:cNvSpPr>
          <p:nvPr/>
        </p:nvSpPr>
        <p:spPr>
          <a:xfrm xmlns:a="http://schemas.openxmlformats.org/drawingml/2006/main">
            <a:off x="400050" y="2609850"/>
            <a:ext cx="4191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2</a:t>
            </a:r>
          </a:p>
        </p:txBody>
      </p:sp>
      <p:sp>
        <p:nvSpPr>
          <p:cNvPr id="10" name="">
            <a:extLst xmlns:a="http://schemas.openxmlformats.org/drawingml/2006/main">
              <a:ext uri="{FF2B5EF4-FFF2-40B4-BE49-F238E27FC236}">
                <a16:creationId xmlns:a16="http://schemas.microsoft.com/office/drawing/2014/main" id="{66EE5BD3-D562-47AC-AA66-F2821F59A174}"/>
              </a:ext>
            </a:extLst>
          </p:cNvPr>
          <p:cNvSpPr>
            <a:spLocks xmlns:a="http://schemas.openxmlformats.org/drawingml/2006/main" noGrp="1"/>
          </p:cNvSpPr>
          <p:nvPr/>
        </p:nvSpPr>
        <p:spPr>
          <a:xfrm xmlns:a="http://schemas.openxmlformats.org/drawingml/2006/main">
            <a:off x="1028700" y="26289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a:solidFill>
                  <a:srgbClr val="101010"/>
                </a:solidFill>
                <a:latin typeface="Helvetica Neue"/>
                <a:ea typeface="Helvetica Neue"/>
                <a:cs typeface="Helvetica Neue"/>
              </a:defRPr>
            </a:pPr>
            <a:r>
              <a:rPr sz="1275" b="1">
                <a:solidFill>
                  <a:srgbClr val="101010"/>
                </a:solidFill>
                <a:latin typeface="Helvetica Neue"/>
                <a:ea typeface="Helvetica Neue"/>
                <a:cs typeface="Helvetica Neue"/>
              </a:rPr>
              <a:t>SYSTEM</a:t>
            </a:r>
          </a:p>
        </p:txBody>
      </p:sp>
      <p:sp>
        <p:nvSpPr>
          <p:cNvPr id="11" name="">
            <a:extLst xmlns:a="http://schemas.openxmlformats.org/drawingml/2006/main">
              <a:ext uri="{FF2B5EF4-FFF2-40B4-BE49-F238E27FC236}">
                <a16:creationId xmlns:a16="http://schemas.microsoft.com/office/drawing/2014/main" id="{0773CBE9-BB27-4F10-A7F0-B0D5916E6BB1}"/>
              </a:ext>
            </a:extLst>
          </p:cNvPr>
          <p:cNvSpPr>
            <a:spLocks xmlns:a="http://schemas.openxmlformats.org/drawingml/2006/main" noGrp="1"/>
          </p:cNvSpPr>
          <p:nvPr/>
        </p:nvSpPr>
        <p:spPr>
          <a:xfrm xmlns:a="http://schemas.openxmlformats.org/drawingml/2006/main">
            <a:off x="2647950" y="2533650"/>
            <a:ext cx="8743950" cy="666750"/>
          </a:xfrm>
          <a:prstGeom xmlns:a="http://schemas.openxmlformats.org/drawingml/2006/main" prst="roundRect">
            <a:avLst>
              <a:gd name="adj" fmla="val 20000"/>
            </a:avLst>
          </a:prstGeom>
          <a:solidFill xmlns:a="http://schemas.openxmlformats.org/drawingml/2006/main">
            <a:srgbClr val="F3F3F1"/>
          </a:solidFill>
          <a:ln xmlns:a="http://schemas.openxmlformats.org/drawingml/2006/main" w="9525">
            <a:solidFill>
              <a:srgbClr val="D9D9D5"/>
            </a:solidFill>
            <a:prstDash val="solid"/>
          </a:ln>
        </p:spPr>
      </p:sp>
      <p:sp>
        <p:nvSpPr>
          <p:cNvPr id="12" name="">
            <a:extLst xmlns:a="http://schemas.openxmlformats.org/drawingml/2006/main">
              <a:ext uri="{FF2B5EF4-FFF2-40B4-BE49-F238E27FC236}">
                <a16:creationId xmlns:a16="http://schemas.microsoft.com/office/drawing/2014/main" id="{B4CA2504-01CF-4A69-96BE-9CC95C5B2E39}"/>
              </a:ext>
            </a:extLst>
          </p:cNvPr>
          <p:cNvSpPr>
            <a:spLocks xmlns:a="http://schemas.openxmlformats.org/drawingml/2006/main" noGrp="1"/>
          </p:cNvSpPr>
          <p:nvPr/>
        </p:nvSpPr>
        <p:spPr>
          <a:xfrm xmlns:a="http://schemas.openxmlformats.org/drawingml/2006/main">
            <a:off x="2857500" y="2705100"/>
            <a:ext cx="8305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Attach the image to the order; alert operations; keep order pending.</a:t>
            </a:r>
          </a:p>
        </p:txBody>
      </p:sp>
      <p:sp>
        <p:nvSpPr>
          <p:cNvPr id="13" name="">
            <a:extLst xmlns:a="http://schemas.openxmlformats.org/drawingml/2006/main">
              <a:ext uri="{FF2B5EF4-FFF2-40B4-BE49-F238E27FC236}">
                <a16:creationId xmlns:a16="http://schemas.microsoft.com/office/drawing/2014/main" id="{30BD7117-FCC9-4EFD-AE75-092DF2DB1A63}"/>
              </a:ext>
            </a:extLst>
          </p:cNvPr>
          <p:cNvSpPr>
            <a:spLocks xmlns:a="http://schemas.openxmlformats.org/drawingml/2006/main" noGrp="1"/>
          </p:cNvSpPr>
          <p:nvPr/>
        </p:nvSpPr>
        <p:spPr>
          <a:xfrm xmlns:a="http://schemas.openxmlformats.org/drawingml/2006/main">
            <a:off x="400050" y="3600450"/>
            <a:ext cx="4191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3</a:t>
            </a:r>
          </a:p>
        </p:txBody>
      </p:sp>
      <p:sp>
        <p:nvSpPr>
          <p:cNvPr id="14" name="">
            <a:extLst xmlns:a="http://schemas.openxmlformats.org/drawingml/2006/main">
              <a:ext uri="{FF2B5EF4-FFF2-40B4-BE49-F238E27FC236}">
                <a16:creationId xmlns:a16="http://schemas.microsoft.com/office/drawing/2014/main" id="{44B0D6B7-13A7-4E98-8154-5DB7DA7CE868}"/>
              </a:ext>
            </a:extLst>
          </p:cNvPr>
          <p:cNvSpPr>
            <a:spLocks xmlns:a="http://schemas.openxmlformats.org/drawingml/2006/main" noGrp="1"/>
          </p:cNvSpPr>
          <p:nvPr/>
        </p:nvSpPr>
        <p:spPr>
          <a:xfrm xmlns:a="http://schemas.openxmlformats.org/drawingml/2006/main">
            <a:off x="1028700" y="36195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a:solidFill>
                  <a:srgbClr val="101010"/>
                </a:solidFill>
                <a:latin typeface="Helvetica Neue"/>
                <a:ea typeface="Helvetica Neue"/>
                <a:cs typeface="Helvetica Neue"/>
              </a:defRPr>
            </a:pPr>
            <a:r>
              <a:rPr sz="1275" b="1">
                <a:solidFill>
                  <a:srgbClr val="101010"/>
                </a:solidFill>
                <a:latin typeface="Helvetica Neue"/>
                <a:ea typeface="Helvetica Neue"/>
                <a:cs typeface="Helvetica Neue"/>
              </a:rPr>
              <a:t>STAFF</a:t>
            </a:r>
          </a:p>
        </p:txBody>
      </p:sp>
      <p:sp>
        <p:nvSpPr>
          <p:cNvPr id="15" name="">
            <a:extLst xmlns:a="http://schemas.openxmlformats.org/drawingml/2006/main">
              <a:ext uri="{FF2B5EF4-FFF2-40B4-BE49-F238E27FC236}">
                <a16:creationId xmlns:a16="http://schemas.microsoft.com/office/drawing/2014/main" id="{A255F00B-470E-47E8-9FD0-6E5E9F5A6E21}"/>
              </a:ext>
            </a:extLst>
          </p:cNvPr>
          <p:cNvSpPr>
            <a:spLocks xmlns:a="http://schemas.openxmlformats.org/drawingml/2006/main" noGrp="1"/>
          </p:cNvSpPr>
          <p:nvPr/>
        </p:nvSpPr>
        <p:spPr>
          <a:xfrm xmlns:a="http://schemas.openxmlformats.org/drawingml/2006/main">
            <a:off x="2647950" y="3524250"/>
            <a:ext cx="8743950" cy="666750"/>
          </a:xfrm>
          <a:prstGeom xmlns:a="http://schemas.openxmlformats.org/drawingml/2006/main" prst="roundRect">
            <a:avLst>
              <a:gd name="adj" fmla="val 20000"/>
            </a:avLst>
          </a:prstGeom>
          <a:solidFill xmlns:a="http://schemas.openxmlformats.org/drawingml/2006/main">
            <a:srgbClr val="F3F3F1"/>
          </a:solidFill>
          <a:ln xmlns:a="http://schemas.openxmlformats.org/drawingml/2006/main" w="9525">
            <a:solidFill>
              <a:srgbClr val="D9D9D5"/>
            </a:solidFill>
            <a:prstDash val="solid"/>
          </a:ln>
        </p:spPr>
      </p:sp>
      <p:sp>
        <p:nvSpPr>
          <p:cNvPr id="16" name="">
            <a:extLst xmlns:a="http://schemas.openxmlformats.org/drawingml/2006/main">
              <a:ext uri="{FF2B5EF4-FFF2-40B4-BE49-F238E27FC236}">
                <a16:creationId xmlns:a16="http://schemas.microsoft.com/office/drawing/2014/main" id="{30D317B4-776E-4ABD-9D2E-B6A24C5348B6}"/>
              </a:ext>
            </a:extLst>
          </p:cNvPr>
          <p:cNvSpPr>
            <a:spLocks xmlns:a="http://schemas.openxmlformats.org/drawingml/2006/main" noGrp="1"/>
          </p:cNvSpPr>
          <p:nvPr/>
        </p:nvSpPr>
        <p:spPr>
          <a:xfrm xmlns:a="http://schemas.openxmlformats.org/drawingml/2006/main">
            <a:off x="2857500" y="3695700"/>
            <a:ext cx="8305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626262"/>
                </a:solidFill>
                <a:latin typeface="Helvetica Neue"/>
                <a:ea typeface="Helvetica Neue"/>
                <a:cs typeface="Helvetica Neue"/>
              </a:defRPr>
            </a:pPr>
            <a:r>
              <a:rPr sz="1275" b="0">
                <a:solidFill>
                  <a:srgbClr val="626262"/>
                </a:solidFill>
                <a:latin typeface="Helvetica Neue"/>
                <a:ea typeface="Helvetica Neue"/>
                <a:cs typeface="Helvetica Neue"/>
              </a:rPr>
              <a:t>Match merchant, transaction ID, time and exact total; approve or reject with reason.</a:t>
            </a:r>
          </a:p>
        </p:txBody>
      </p:sp>
      <p:sp>
        <p:nvSpPr>
          <p:cNvPr id="17" name="">
            <a:extLst xmlns:a="http://schemas.openxmlformats.org/drawingml/2006/main">
              <a:ext uri="{FF2B5EF4-FFF2-40B4-BE49-F238E27FC236}">
                <a16:creationId xmlns:a16="http://schemas.microsoft.com/office/drawing/2014/main" id="{DE26B690-488F-401F-AA5B-B7F5396CC4B0}"/>
              </a:ext>
            </a:extLst>
          </p:cNvPr>
          <p:cNvSpPr>
            <a:spLocks xmlns:a="http://schemas.openxmlformats.org/drawingml/2006/main" noGrp="1"/>
          </p:cNvSpPr>
          <p:nvPr/>
        </p:nvSpPr>
        <p:spPr>
          <a:xfrm xmlns:a="http://schemas.openxmlformats.org/drawingml/2006/main">
            <a:off x="400050" y="4591050"/>
            <a:ext cx="41910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4</a:t>
            </a:r>
          </a:p>
        </p:txBody>
      </p:sp>
      <p:sp>
        <p:nvSpPr>
          <p:cNvPr id="18" name="">
            <a:extLst xmlns:a="http://schemas.openxmlformats.org/drawingml/2006/main">
              <a:ext uri="{FF2B5EF4-FFF2-40B4-BE49-F238E27FC236}">
                <a16:creationId xmlns:a16="http://schemas.microsoft.com/office/drawing/2014/main" id="{119425F3-74DE-4F29-A781-AB940BE827FC}"/>
              </a:ext>
            </a:extLst>
          </p:cNvPr>
          <p:cNvSpPr>
            <a:spLocks xmlns:a="http://schemas.openxmlformats.org/drawingml/2006/main" noGrp="1"/>
          </p:cNvSpPr>
          <p:nvPr/>
        </p:nvSpPr>
        <p:spPr>
          <a:xfrm xmlns:a="http://schemas.openxmlformats.org/drawingml/2006/main">
            <a:off x="1028700" y="46101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196"/>
          </a:bodyPr>
          <a:lstStyle xmlns:a="http://schemas.openxmlformats.org/drawingml/2006/main"/>
          <a:p xmlns:a="http://schemas.openxmlformats.org/drawingml/2006/main">
            <a:pPr algn="l">
              <a:defRPr sz="1275" b="1">
                <a:solidFill>
                  <a:srgbClr val="101010"/>
                </a:solidFill>
                <a:latin typeface="Helvetica Neue"/>
                <a:ea typeface="Helvetica Neue"/>
                <a:cs typeface="Helvetica Neue"/>
              </a:defRPr>
            </a:pPr>
            <a:r>
              <a:rPr sz="1275" b="1">
                <a:solidFill>
                  <a:srgbClr val="101010"/>
                </a:solidFill>
                <a:latin typeface="Helvetica Neue"/>
                <a:ea typeface="Helvetica Neue"/>
                <a:cs typeface="Helvetica Neue"/>
              </a:rPr>
              <a:t>RESULT</a:t>
            </a:r>
          </a:p>
        </p:txBody>
      </p:sp>
      <p:sp>
        <p:nvSpPr>
          <p:cNvPr id="19" name="">
            <a:extLst xmlns:a="http://schemas.openxmlformats.org/drawingml/2006/main">
              <a:ext uri="{FF2B5EF4-FFF2-40B4-BE49-F238E27FC236}">
                <a16:creationId xmlns:a16="http://schemas.microsoft.com/office/drawing/2014/main" id="{E37639DE-008F-4C79-A48D-B5538A65BF0C}"/>
              </a:ext>
            </a:extLst>
          </p:cNvPr>
          <p:cNvSpPr>
            <a:spLocks xmlns:a="http://schemas.openxmlformats.org/drawingml/2006/main" noGrp="1"/>
          </p:cNvSpPr>
          <p:nvPr/>
        </p:nvSpPr>
        <p:spPr>
          <a:xfrm xmlns:a="http://schemas.openxmlformats.org/drawingml/2006/main">
            <a:off x="2647950" y="4514850"/>
            <a:ext cx="8743950" cy="666750"/>
          </a:xfrm>
          <a:prstGeom xmlns:a="http://schemas.openxmlformats.org/drawingml/2006/main" prst="roundRect">
            <a:avLst>
              <a:gd name="adj" fmla="val 20000"/>
            </a:avLst>
          </a:prstGeom>
          <a:solidFill xmlns:a="http://schemas.openxmlformats.org/drawingml/2006/main">
            <a:srgbClr val="FFF2EC"/>
          </a:solidFill>
          <a:ln xmlns:a="http://schemas.openxmlformats.org/drawingml/2006/main" w="9525">
            <a:solidFill>
              <a:srgbClr val="FFD6C5"/>
            </a:solidFill>
            <a:prstDash val="solid"/>
          </a:ln>
        </p:spPr>
      </p:sp>
      <p:sp>
        <p:nvSpPr>
          <p:cNvPr id="20" name="">
            <a:extLst xmlns:a="http://schemas.openxmlformats.org/drawingml/2006/main">
              <a:ext uri="{FF2B5EF4-FFF2-40B4-BE49-F238E27FC236}">
                <a16:creationId xmlns:a16="http://schemas.microsoft.com/office/drawing/2014/main" id="{36DBFD2F-EBA1-4333-BAD8-9DE58899AEDE}"/>
              </a:ext>
            </a:extLst>
          </p:cNvPr>
          <p:cNvSpPr>
            <a:spLocks xmlns:a="http://schemas.openxmlformats.org/drawingml/2006/main" noGrp="1"/>
          </p:cNvSpPr>
          <p:nvPr/>
        </p:nvSpPr>
        <p:spPr>
          <a:xfrm xmlns:a="http://schemas.openxmlformats.org/drawingml/2006/main">
            <a:off x="2857500" y="4686300"/>
            <a:ext cx="83058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1">
                <a:solidFill>
                  <a:srgbClr val="101010"/>
                </a:solidFill>
                <a:latin typeface="Helvetica Neue"/>
                <a:ea typeface="Helvetica Neue"/>
                <a:cs typeface="Helvetica Neue"/>
              </a:defRPr>
            </a:pPr>
            <a:r>
              <a:rPr sz="1275" b="1">
                <a:solidFill>
                  <a:srgbClr val="101010"/>
                </a:solidFill>
                <a:latin typeface="Helvetica Neue"/>
                <a:ea typeface="Helvetica Neue"/>
                <a:cs typeface="Helvetica Neue"/>
              </a:rPr>
              <a:t>Approval unlocks packing / handover and records the verified sale.</a:t>
            </a:r>
          </a:p>
        </p:txBody>
      </p:sp>
      <p:sp>
        <p:nvSpPr>
          <p:cNvPr id="21" name="">
            <a:extLst xmlns:a="http://schemas.openxmlformats.org/drawingml/2006/main">
              <a:ext uri="{FF2B5EF4-FFF2-40B4-BE49-F238E27FC236}">
                <a16:creationId xmlns:a16="http://schemas.microsoft.com/office/drawing/2014/main" id="{5A5D2974-52CA-45E3-ABB0-FCAA8CACE7C7}"/>
              </a:ext>
            </a:extLst>
          </p:cNvPr>
          <p:cNvSpPr>
            <a:spLocks xmlns:a="http://schemas.openxmlformats.org/drawingml/2006/main" noGrp="1"/>
          </p:cNvSpPr>
          <p:nvPr/>
        </p:nvSpPr>
        <p:spPr>
          <a:xfrm xmlns:a="http://schemas.openxmlformats.org/drawingml/2006/main">
            <a:off x="400050" y="5810250"/>
            <a:ext cx="1057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Approval is an operational decision; staff still reconcile settlement with the payment provider.</a:t>
            </a:r>
          </a:p>
        </p:txBody>
      </p:sp>
    </p:spTree>
    <p:extLst>
      <p:ext uri="{BB962C8B-B14F-4D97-AF65-F5344CB8AC3E}">
        <p14:creationId xmlns:p14="http://schemas.microsoft.com/office/powerpoint/2010/main" val="174895044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D70727A0-209B-49CE-9A45-9B6B7395C3B6}"/>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FULFILLMENT</a:t>
            </a:r>
          </a:p>
        </p:txBody>
      </p:sp>
      <p:sp>
        <p:nvSpPr>
          <p:cNvPr id="2" name="">
            <a:extLst xmlns:a="http://schemas.openxmlformats.org/drawingml/2006/main">
              <a:ext uri="{FF2B5EF4-FFF2-40B4-BE49-F238E27FC236}">
                <a16:creationId xmlns:a16="http://schemas.microsoft.com/office/drawing/2014/main" id="{FA8A8EDE-8FD4-4815-9E1D-374A05E3216F}"/>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One order workflow branches by asset type</a:t>
            </a:r>
          </a:p>
        </p:txBody>
      </p:sp>
      <p:sp>
        <p:nvSpPr>
          <p:cNvPr id="3" name="">
            <a:extLst xmlns:a="http://schemas.openxmlformats.org/drawingml/2006/main">
              <a:ext uri="{FF2B5EF4-FFF2-40B4-BE49-F238E27FC236}">
                <a16:creationId xmlns:a16="http://schemas.microsoft.com/office/drawing/2014/main" id="{EEB06E91-687F-45EA-9D2D-AECBCEF29F07}"/>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78C314A7-FE56-44F8-84DE-1E03938B94B6}"/>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2000C7DD-5F3D-4BF0-9D73-8A10BDF90D7E}"/>
              </a:ext>
            </a:extLst>
          </p:cNvPr>
          <p:cNvSpPr>
            <a:spLocks xmlns:a="http://schemas.openxmlformats.org/drawingml/2006/main" noGrp="1"/>
          </p:cNvSpPr>
          <p:nvPr/>
        </p:nvSpPr>
        <p:spPr>
          <a:xfrm xmlns:a="http://schemas.openxmlformats.org/drawingml/2006/main">
            <a:off x="400050" y="1619250"/>
            <a:ext cx="3143250" cy="3943350"/>
          </a:xfrm>
          <a:prstGeom xmlns:a="http://schemas.openxmlformats.org/drawingml/2006/main" prst="roundRect">
            <a:avLst>
              <a:gd name="adj" fmla="val 5455"/>
            </a:avLst>
          </a:prstGeom>
          <a:solidFill xmlns:a="http://schemas.openxmlformats.org/drawingml/2006/main">
            <a:srgbClr val="171717"/>
          </a:solidFill>
          <a:ln xmlns:a="http://schemas.openxmlformats.org/drawingml/2006/main" w="9525">
            <a:solidFill>
              <a:srgbClr val="171717"/>
            </a:solidFill>
            <a:prstDash val="solid"/>
          </a:ln>
        </p:spPr>
      </p:sp>
      <p:sp>
        <p:nvSpPr>
          <p:cNvPr id="6" name="">
            <a:extLst xmlns:a="http://schemas.openxmlformats.org/drawingml/2006/main">
              <a:ext uri="{FF2B5EF4-FFF2-40B4-BE49-F238E27FC236}">
                <a16:creationId xmlns:a16="http://schemas.microsoft.com/office/drawing/2014/main" id="{D35FB767-5AD4-4317-B5F0-7FA82C1359FB}"/>
              </a:ext>
            </a:extLst>
          </p:cNvPr>
          <p:cNvSpPr>
            <a:spLocks xmlns:a="http://schemas.openxmlformats.org/drawingml/2006/main" noGrp="1"/>
          </p:cNvSpPr>
          <p:nvPr/>
        </p:nvSpPr>
        <p:spPr>
          <a:xfrm xmlns:a="http://schemas.openxmlformats.org/drawingml/2006/main">
            <a:off x="666750" y="2057400"/>
            <a:ext cx="238125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274"/>
          </a:bodyPr>
          <a:lstStyle xmlns:a="http://schemas.openxmlformats.org/drawingml/2006/main"/>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PAYMENT</a:t>
            </a:r>
          </a:p>
          <a:p xmlns:a="http://schemas.openxmlformats.org/drawingml/2006/main">
            <a:pPr algn="l">
              <a:defRPr sz="2550" b="1">
                <a:solidFill>
                  <a:srgbClr val="FFFFFF"/>
                </a:solidFill>
                <a:latin typeface="Helvetica Neue"/>
                <a:ea typeface="Helvetica Neue"/>
                <a:cs typeface="Helvetica Neue"/>
              </a:defRPr>
            </a:pPr>
            <a:r>
              <a:rPr sz="2550" b="1">
                <a:solidFill>
                  <a:srgbClr val="FFFFFF"/>
                </a:solidFill>
                <a:latin typeface="Helvetica Neue"/>
                <a:ea typeface="Helvetica Neue"/>
                <a:cs typeface="Helvetica Neue"/>
              </a:rPr>
              <a:t>VERIFIED</a:t>
            </a:r>
          </a:p>
        </p:txBody>
      </p:sp>
      <p:sp>
        <p:nvSpPr>
          <p:cNvPr id="7" name="">
            <a:extLst xmlns:a="http://schemas.openxmlformats.org/drawingml/2006/main">
              <a:ext uri="{FF2B5EF4-FFF2-40B4-BE49-F238E27FC236}">
                <a16:creationId xmlns:a16="http://schemas.microsoft.com/office/drawing/2014/main" id="{05A8D839-5F91-4BE4-BC7B-E5CADE63EA9C}"/>
              </a:ext>
            </a:extLst>
          </p:cNvPr>
          <p:cNvSpPr>
            <a:spLocks xmlns:a="http://schemas.openxmlformats.org/drawingml/2006/main" noGrp="1"/>
          </p:cNvSpPr>
          <p:nvPr/>
        </p:nvSpPr>
        <p:spPr>
          <a:xfrm xmlns:a="http://schemas.openxmlformats.org/drawingml/2006/main">
            <a:off x="666750" y="3143250"/>
            <a:ext cx="2381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DADADA"/>
                </a:solidFill>
                <a:latin typeface="Helvetica Neue"/>
                <a:ea typeface="Helvetica Neue"/>
                <a:cs typeface="Helvetica Neue"/>
              </a:defRPr>
            </a:pPr>
            <a:r>
              <a:rPr sz="1350" b="0">
                <a:solidFill>
                  <a:srgbClr val="DADADA"/>
                </a:solidFill>
                <a:latin typeface="Helvetica Neue"/>
                <a:ea typeface="Helvetica Neue"/>
                <a:cs typeface="Helvetica Neue"/>
              </a:rPr>
              <a:t>The order is now safe to fulfill.</a:t>
            </a:r>
          </a:p>
        </p:txBody>
      </p:sp>
      <p:sp>
        <p:nvSpPr>
          <p:cNvPr id="8" name="">
            <a:extLst xmlns:a="http://schemas.openxmlformats.org/drawingml/2006/main">
              <a:ext uri="{FF2B5EF4-FFF2-40B4-BE49-F238E27FC236}">
                <a16:creationId xmlns:a16="http://schemas.microsoft.com/office/drawing/2014/main" id="{F9B527FE-D933-477C-B995-00E33418347E}"/>
              </a:ext>
            </a:extLst>
          </p:cNvPr>
          <p:cNvSpPr>
            <a:spLocks xmlns:a="http://schemas.openxmlformats.org/drawingml/2006/main" noGrp="1"/>
          </p:cNvSpPr>
          <p:nvPr/>
        </p:nvSpPr>
        <p:spPr>
          <a:xfrm xmlns:a="http://schemas.openxmlformats.org/drawingml/2006/main">
            <a:off x="666750" y="4514850"/>
            <a:ext cx="12573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CONTROL POINT</a:t>
            </a:r>
          </a:p>
        </p:txBody>
      </p:sp>
      <p:sp>
        <p:nvSpPr>
          <p:cNvPr id="9" name="">
            <a:extLst xmlns:a="http://schemas.openxmlformats.org/drawingml/2006/main">
              <a:ext uri="{FF2B5EF4-FFF2-40B4-BE49-F238E27FC236}">
                <a16:creationId xmlns:a16="http://schemas.microsoft.com/office/drawing/2014/main" id="{24AC8A40-869B-4A5F-8E73-94AC81F4DBBC}"/>
              </a:ext>
            </a:extLst>
          </p:cNvPr>
          <p:cNvSpPr>
            <a:spLocks xmlns:a="http://schemas.openxmlformats.org/drawingml/2006/main" noGrp="1"/>
          </p:cNvSpPr>
          <p:nvPr/>
        </p:nvSpPr>
        <p:spPr>
          <a:xfrm xmlns:a="http://schemas.openxmlformats.org/drawingml/2006/main">
            <a:off x="4038600" y="1619250"/>
            <a:ext cx="3619500" cy="3943350"/>
          </a:xfrm>
          <a:prstGeom xmlns:a="http://schemas.openxmlformats.org/drawingml/2006/main" prst="roundRect">
            <a:avLst>
              <a:gd name="adj" fmla="val 4737"/>
            </a:avLst>
          </a:prstGeom>
          <a:solidFill xmlns:a="http://schemas.openxmlformats.org/drawingml/2006/main">
            <a:srgbClr val="F3F3F1"/>
          </a:solidFill>
          <a:ln xmlns:a="http://schemas.openxmlformats.org/drawingml/2006/main" w="9525">
            <a:solidFill>
              <a:srgbClr val="D9D9D5"/>
            </a:solidFill>
            <a:prstDash val="solid"/>
          </a:ln>
        </p:spPr>
      </p:sp>
      <p:sp>
        <p:nvSpPr>
          <p:cNvPr id="10" name="">
            <a:extLst xmlns:a="http://schemas.openxmlformats.org/drawingml/2006/main">
              <a:ext uri="{FF2B5EF4-FFF2-40B4-BE49-F238E27FC236}">
                <a16:creationId xmlns:a16="http://schemas.microsoft.com/office/drawing/2014/main" id="{1CB49094-7406-4C58-912B-68D7FFABE04A}"/>
              </a:ext>
            </a:extLst>
          </p:cNvPr>
          <p:cNvSpPr>
            <a:spLocks xmlns:a="http://schemas.openxmlformats.org/drawingml/2006/main" noGrp="1"/>
          </p:cNvSpPr>
          <p:nvPr/>
        </p:nvSpPr>
        <p:spPr>
          <a:xfrm xmlns:a="http://schemas.openxmlformats.org/drawingml/2006/main">
            <a:off x="4267200" y="1847850"/>
            <a:ext cx="9144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PHYSICAL</a:t>
            </a:r>
          </a:p>
        </p:txBody>
      </p:sp>
      <p:sp>
        <p:nvSpPr>
          <p:cNvPr id="11" name="">
            <a:extLst xmlns:a="http://schemas.openxmlformats.org/drawingml/2006/main">
              <a:ext uri="{FF2B5EF4-FFF2-40B4-BE49-F238E27FC236}">
                <a16:creationId xmlns:a16="http://schemas.microsoft.com/office/drawing/2014/main" id="{56119FD3-AC71-49BF-8CC9-966F6DFABEF3}"/>
              </a:ext>
            </a:extLst>
          </p:cNvPr>
          <p:cNvSpPr>
            <a:spLocks xmlns:a="http://schemas.openxmlformats.org/drawingml/2006/main" noGrp="1"/>
          </p:cNvSpPr>
          <p:nvPr/>
        </p:nvSpPr>
        <p:spPr>
          <a:xfrm xmlns:a="http://schemas.openxmlformats.org/drawingml/2006/main">
            <a:off x="4267200" y="23241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15"/>
          </a:bodyPr>
          <a:lstStyle xmlns:a="http://schemas.openxmlformats.org/drawingml/2006/main"/>
          <a:p xmlns:a="http://schemas.openxmlformats.org/drawingml/2006/main">
            <a:pPr algn="l">
              <a:defRPr sz="1950" b="1">
                <a:solidFill>
                  <a:srgbClr val="101010"/>
                </a:solidFill>
                <a:latin typeface="Helvetica Neue"/>
                <a:ea typeface="Helvetica Neue"/>
                <a:cs typeface="Helvetica Neue"/>
              </a:defRPr>
            </a:pPr>
            <a:r>
              <a:rPr sz="1950" b="1">
                <a:solidFill>
                  <a:srgbClr val="101010"/>
                </a:solidFill>
                <a:latin typeface="Helvetica Neue"/>
                <a:ea typeface="Helvetica Neue"/>
                <a:cs typeface="Helvetica Neue"/>
              </a:rPr>
              <a:t>Gaming gadget</a:t>
            </a:r>
          </a:p>
        </p:txBody>
      </p:sp>
      <p:sp>
        <p:nvSpPr>
          <p:cNvPr id="12" name="">
            <a:extLst xmlns:a="http://schemas.openxmlformats.org/drawingml/2006/main">
              <a:ext uri="{FF2B5EF4-FFF2-40B4-BE49-F238E27FC236}">
                <a16:creationId xmlns:a16="http://schemas.microsoft.com/office/drawing/2014/main" id="{39E81F92-1523-4BD4-AE17-3025A14E3547}"/>
              </a:ext>
            </a:extLst>
          </p:cNvPr>
          <p:cNvSpPr>
            <a:spLocks xmlns:a="http://schemas.openxmlformats.org/drawingml/2006/main" noGrp="1"/>
          </p:cNvSpPr>
          <p:nvPr/>
        </p:nvSpPr>
        <p:spPr>
          <a:xfrm xmlns:a="http://schemas.openxmlformats.org/drawingml/2006/main">
            <a:off x="4267200" y="2895600"/>
            <a:ext cx="2952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1. Assign serial / IMEI when used</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2. Pack and verify address</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3. Add Royal Express tracking</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4. Mark dispatched</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5. Mark delivered from confirmation</a:t>
            </a:r>
          </a:p>
        </p:txBody>
      </p:sp>
      <p:sp>
        <p:nvSpPr>
          <p:cNvPr id="13" name="">
            <a:extLst xmlns:a="http://schemas.openxmlformats.org/drawingml/2006/main">
              <a:ext uri="{FF2B5EF4-FFF2-40B4-BE49-F238E27FC236}">
                <a16:creationId xmlns:a16="http://schemas.microsoft.com/office/drawing/2014/main" id="{792789D3-5EB9-4906-98A5-17B115D140C5}"/>
              </a:ext>
            </a:extLst>
          </p:cNvPr>
          <p:cNvSpPr>
            <a:spLocks xmlns:a="http://schemas.openxmlformats.org/drawingml/2006/main" noGrp="1"/>
          </p:cNvSpPr>
          <p:nvPr/>
        </p:nvSpPr>
        <p:spPr>
          <a:xfrm xmlns:a="http://schemas.openxmlformats.org/drawingml/2006/main">
            <a:off x="8153400" y="1619250"/>
            <a:ext cx="3638550" cy="3943350"/>
          </a:xfrm>
          <a:prstGeom xmlns:a="http://schemas.openxmlformats.org/drawingml/2006/main" prst="roundRect">
            <a:avLst>
              <a:gd name="adj" fmla="val 4712"/>
            </a:avLst>
          </a:prstGeom>
          <a:solidFill xmlns:a="http://schemas.openxmlformats.org/drawingml/2006/main">
            <a:srgbClr val="FFF2EC"/>
          </a:solidFill>
          <a:ln xmlns:a="http://schemas.openxmlformats.org/drawingml/2006/main" w="9525">
            <a:solidFill>
              <a:srgbClr val="FFD6C5"/>
            </a:solidFill>
            <a:prstDash val="solid"/>
          </a:ln>
        </p:spPr>
      </p:sp>
      <p:sp>
        <p:nvSpPr>
          <p:cNvPr id="14" name="">
            <a:extLst xmlns:a="http://schemas.openxmlformats.org/drawingml/2006/main">
              <a:ext uri="{FF2B5EF4-FFF2-40B4-BE49-F238E27FC236}">
                <a16:creationId xmlns:a16="http://schemas.microsoft.com/office/drawing/2014/main" id="{68CD4BDA-E96C-48C6-927F-9757E819723B}"/>
              </a:ext>
            </a:extLst>
          </p:cNvPr>
          <p:cNvSpPr>
            <a:spLocks xmlns:a="http://schemas.openxmlformats.org/drawingml/2006/main" noGrp="1"/>
          </p:cNvSpPr>
          <p:nvPr/>
        </p:nvSpPr>
        <p:spPr>
          <a:xfrm xmlns:a="http://schemas.openxmlformats.org/drawingml/2006/main">
            <a:off x="8382000" y="1847850"/>
            <a:ext cx="81915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DIGITAL</a:t>
            </a:r>
          </a:p>
        </p:txBody>
      </p:sp>
      <p:sp>
        <p:nvSpPr>
          <p:cNvPr id="15" name="">
            <a:extLst xmlns:a="http://schemas.openxmlformats.org/drawingml/2006/main">
              <a:ext uri="{FF2B5EF4-FFF2-40B4-BE49-F238E27FC236}">
                <a16:creationId xmlns:a16="http://schemas.microsoft.com/office/drawing/2014/main" id="{974F6B27-6319-4F00-A1EE-741970C423AD}"/>
              </a:ext>
            </a:extLst>
          </p:cNvPr>
          <p:cNvSpPr>
            <a:spLocks xmlns:a="http://schemas.openxmlformats.org/drawingml/2006/main" noGrp="1"/>
          </p:cNvSpPr>
          <p:nvPr/>
        </p:nvSpPr>
        <p:spPr>
          <a:xfrm xmlns:a="http://schemas.openxmlformats.org/drawingml/2006/main">
            <a:off x="8382000" y="2324100"/>
            <a:ext cx="2952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15"/>
          </a:bodyPr>
          <a:lstStyle xmlns:a="http://schemas.openxmlformats.org/drawingml/2006/main"/>
          <a:p xmlns:a="http://schemas.openxmlformats.org/drawingml/2006/main">
            <a:pPr algn="l">
              <a:defRPr sz="1950" b="1">
                <a:solidFill>
                  <a:srgbClr val="101010"/>
                </a:solidFill>
                <a:latin typeface="Helvetica Neue"/>
                <a:ea typeface="Helvetica Neue"/>
                <a:cs typeface="Helvetica Neue"/>
              </a:defRPr>
            </a:pPr>
            <a:r>
              <a:rPr sz="1950" b="1">
                <a:solidFill>
                  <a:srgbClr val="101010"/>
                </a:solidFill>
                <a:latin typeface="Helvetica Neue"/>
                <a:ea typeface="Helvetica Neue"/>
                <a:cs typeface="Helvetica Neue"/>
              </a:rPr>
              <a:t>PUBG account</a:t>
            </a:r>
          </a:p>
        </p:txBody>
      </p:sp>
      <p:sp>
        <p:nvSpPr>
          <p:cNvPr id="16" name="">
            <a:extLst xmlns:a="http://schemas.openxmlformats.org/drawingml/2006/main">
              <a:ext uri="{FF2B5EF4-FFF2-40B4-BE49-F238E27FC236}">
                <a16:creationId xmlns:a16="http://schemas.microsoft.com/office/drawing/2014/main" id="{2A5AC617-A919-4A28-862B-86606A90FD10}"/>
              </a:ext>
            </a:extLst>
          </p:cNvPr>
          <p:cNvSpPr>
            <a:spLocks xmlns:a="http://schemas.openxmlformats.org/drawingml/2006/main" noGrp="1"/>
          </p:cNvSpPr>
          <p:nvPr/>
        </p:nvSpPr>
        <p:spPr>
          <a:xfrm xmlns:a="http://schemas.openxmlformats.org/drawingml/2006/main">
            <a:off x="8382000" y="2895600"/>
            <a:ext cx="2952750" cy="2038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1. Assign available vault record</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2. Complete secure rebind</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3. Confirm customer access</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4. Mark handed over / sold</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5. No courier or delivery fee</a:t>
            </a:r>
          </a:p>
        </p:txBody>
      </p:sp>
    </p:spTree>
    <p:extLst>
      <p:ext uri="{BB962C8B-B14F-4D97-AF65-F5344CB8AC3E}">
        <p14:creationId xmlns:p14="http://schemas.microsoft.com/office/powerpoint/2010/main" val="1618926357"/>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E79692D3-1BF0-45D1-87F3-AD3A21581C57}"/>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SALES DOCUMENTS</a:t>
            </a:r>
          </a:p>
        </p:txBody>
      </p:sp>
      <p:sp>
        <p:nvSpPr>
          <p:cNvPr id="2" name="">
            <a:extLst xmlns:a="http://schemas.openxmlformats.org/drawingml/2006/main">
              <a:ext uri="{FF2B5EF4-FFF2-40B4-BE49-F238E27FC236}">
                <a16:creationId xmlns:a16="http://schemas.microsoft.com/office/drawing/2014/main" id="{B63A9CFD-2731-4676-8DE3-5879F80B40B9}"/>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The receipt is generated from the completed order</a:t>
            </a:r>
          </a:p>
        </p:txBody>
      </p:sp>
      <p:sp>
        <p:nvSpPr>
          <p:cNvPr id="3" name="">
            <a:extLst xmlns:a="http://schemas.openxmlformats.org/drawingml/2006/main">
              <a:ext uri="{FF2B5EF4-FFF2-40B4-BE49-F238E27FC236}">
                <a16:creationId xmlns:a16="http://schemas.microsoft.com/office/drawing/2014/main" id="{D590BA35-6AE0-41BA-B6B9-9F7B1CCC7B7D}"/>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D999B750-BC69-4440-98B8-6CD7473633E0}"/>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C2939771-55C7-4370-AA3C-D849F36CD67C}"/>
              </a:ext>
            </a:extLst>
          </p:cNvPr>
          <p:cNvSpPr>
            <a:spLocks xmlns:a="http://schemas.openxmlformats.org/drawingml/2006/main" noGrp="1"/>
          </p:cNvSpPr>
          <p:nvPr/>
        </p:nvSpPr>
        <p:spPr>
          <a:xfrm xmlns:a="http://schemas.openxmlformats.org/drawingml/2006/main">
            <a:off x="400050" y="1581150"/>
            <a:ext cx="4286250" cy="4095750"/>
          </a:xfrm>
          <a:prstGeom xmlns:a="http://schemas.openxmlformats.org/drawingml/2006/main" prst="roundRect">
            <a:avLst>
              <a:gd name="adj" fmla="val 1860"/>
            </a:avLst>
          </a:prstGeom>
          <a:solidFill xmlns:a="http://schemas.openxmlformats.org/drawingml/2006/main">
            <a:srgbClr val="FFFFFF"/>
          </a:solidFill>
          <a:ln xmlns:a="http://schemas.openxmlformats.org/drawingml/2006/main" w="9525">
            <a:solidFill>
              <a:srgbClr val="101010"/>
            </a:solidFill>
            <a:prstDash val="solid"/>
          </a:ln>
        </p:spPr>
      </p:sp>
      <p:sp>
        <p:nvSpPr>
          <p:cNvPr id="6" name="">
            <a:extLst xmlns:a="http://schemas.openxmlformats.org/drawingml/2006/main">
              <a:ext uri="{FF2B5EF4-FFF2-40B4-BE49-F238E27FC236}">
                <a16:creationId xmlns:a16="http://schemas.microsoft.com/office/drawing/2014/main" id="{66BE7C7F-4E03-458A-97B8-37BBD2A9EB8E}"/>
              </a:ext>
            </a:extLst>
          </p:cNvPr>
          <p:cNvSpPr>
            <a:spLocks xmlns:a="http://schemas.openxmlformats.org/drawingml/2006/main" noGrp="1"/>
          </p:cNvSpPr>
          <p:nvPr/>
        </p:nvSpPr>
        <p:spPr>
          <a:xfrm xmlns:a="http://schemas.openxmlformats.org/drawingml/2006/main">
            <a:off x="647700" y="1790700"/>
            <a:ext cx="3771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7778"/>
          </a:bodyPr>
          <a:lstStyle xmlns:a="http://schemas.openxmlformats.org/drawingml/2006/main"/>
          <a:p xmlns:a="http://schemas.openxmlformats.org/drawingml/2006/main">
            <a:pPr algn="ctr">
              <a:defRPr sz="1800" b="1">
                <a:solidFill>
                  <a:srgbClr val="101010"/>
                </a:solidFill>
                <a:latin typeface="Helvetica Neue"/>
                <a:ea typeface="Helvetica Neue"/>
                <a:cs typeface="Helvetica Neue"/>
              </a:defRPr>
            </a:pPr>
            <a:r>
              <a:rPr sz="1800" b="1">
                <a:solidFill>
                  <a:srgbClr val="101010"/>
                </a:solidFill>
                <a:latin typeface="Helvetica Neue"/>
                <a:ea typeface="Helvetica Neue"/>
                <a:cs typeface="Helvetica Neue"/>
              </a:rPr>
              <a:t>Mh OP Gadget Store</a:t>
            </a:r>
          </a:p>
        </p:txBody>
      </p:sp>
      <p:sp>
        <p:nvSpPr>
          <p:cNvPr id="7" name="">
            <a:extLst xmlns:a="http://schemas.openxmlformats.org/drawingml/2006/main">
              <a:ext uri="{FF2B5EF4-FFF2-40B4-BE49-F238E27FC236}">
                <a16:creationId xmlns:a16="http://schemas.microsoft.com/office/drawing/2014/main" id="{A1B0899E-66A6-4B04-9D0A-EB47EE2A9A3D}"/>
              </a:ext>
            </a:extLst>
          </p:cNvPr>
          <p:cNvSpPr>
            <a:spLocks xmlns:a="http://schemas.openxmlformats.org/drawingml/2006/main" noGrp="1"/>
          </p:cNvSpPr>
          <p:nvPr/>
        </p:nvSpPr>
        <p:spPr>
          <a:xfrm xmlns:a="http://schemas.openxmlformats.org/drawingml/2006/main">
            <a:off x="647700" y="2152650"/>
            <a:ext cx="3771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474"/>
          </a:bodyPr>
          <a:lstStyle xmlns:a="http://schemas.openxmlformats.org/drawingml/2006/main"/>
          <a:p xmlns:a="http://schemas.openxmlformats.org/drawingml/2006/main">
            <a:pPr algn="ctr">
              <a:defRPr sz="1425" b="1">
                <a:solidFill>
                  <a:srgbClr val="101010"/>
                </a:solidFill>
                <a:latin typeface="Helvetica Neue"/>
                <a:ea typeface="Helvetica Neue"/>
                <a:cs typeface="Helvetica Neue"/>
              </a:defRPr>
            </a:pPr>
            <a:r>
              <a:rPr sz="1425" b="1">
                <a:solidFill>
                  <a:srgbClr val="101010"/>
                </a:solidFill>
                <a:latin typeface="Helvetica Neue"/>
                <a:ea typeface="Helvetica Neue"/>
                <a:cs typeface="Helvetica Neue"/>
              </a:rPr>
              <a:t>အရောင်းဘောက်ချာ</a:t>
            </a:r>
          </a:p>
        </p:txBody>
      </p:sp>
      <p:sp>
        <p:nvSpPr>
          <p:cNvPr id="8" name="">
            <a:extLst xmlns:a="http://schemas.openxmlformats.org/drawingml/2006/main">
              <a:ext uri="{FF2B5EF4-FFF2-40B4-BE49-F238E27FC236}">
                <a16:creationId xmlns:a16="http://schemas.microsoft.com/office/drawing/2014/main" id="{A8A60561-8996-47B3-96AB-A945E66D6620}"/>
              </a:ext>
            </a:extLst>
          </p:cNvPr>
          <p:cNvSpPr>
            <a:spLocks xmlns:a="http://schemas.openxmlformats.org/drawingml/2006/main" noGrp="1"/>
          </p:cNvSpPr>
          <p:nvPr/>
        </p:nvSpPr>
        <p:spPr>
          <a:xfrm xmlns:a="http://schemas.openxmlformats.org/drawingml/2006/main">
            <a:off x="647700" y="2571750"/>
            <a:ext cx="3771900" cy="0"/>
          </a:xfrm>
          <a:prstGeom xmlns:a="http://schemas.openxmlformats.org/drawingml/2006/main" prst="line">
            <a:avLst/>
          </a:prstGeom>
          <a:noFill xmlns:a="http://schemas.openxmlformats.org/drawingml/2006/main"/>
          <a:ln xmlns:a="http://schemas.openxmlformats.org/drawingml/2006/main" w="9525">
            <a:solidFill>
              <a:srgbClr val="101010"/>
            </a:solidFill>
            <a:prstDash val="solid"/>
          </a:ln>
        </p:spPr>
      </p:sp>
      <p:sp>
        <p:nvSpPr>
          <p:cNvPr id="9" name="">
            <a:extLst xmlns:a="http://schemas.openxmlformats.org/drawingml/2006/main">
              <a:ext uri="{FF2B5EF4-FFF2-40B4-BE49-F238E27FC236}">
                <a16:creationId xmlns:a16="http://schemas.microsoft.com/office/drawing/2014/main" id="{042CE935-EFDF-4124-B7CB-DDF4B168783C}"/>
              </a:ext>
            </a:extLst>
          </p:cNvPr>
          <p:cNvSpPr>
            <a:spLocks xmlns:a="http://schemas.openxmlformats.org/drawingml/2006/main" noGrp="1"/>
          </p:cNvSpPr>
          <p:nvPr/>
        </p:nvSpPr>
        <p:spPr>
          <a:xfrm xmlns:a="http://schemas.openxmlformats.org/drawingml/2006/main">
            <a:off x="666750" y="2781300"/>
            <a:ext cx="3695700" cy="1828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101010"/>
                </a:solidFill>
                <a:latin typeface="Helvetica Neue"/>
                <a:ea typeface="Helvetica Neue"/>
                <a:cs typeface="Helvetica Neue"/>
              </a:defRPr>
            </a:pPr>
            <a:r>
              <a:rPr sz="1200" b="0">
                <a:solidFill>
                  <a:srgbClr val="101010"/>
                </a:solidFill>
                <a:latin typeface="Helvetica Neue"/>
                <a:ea typeface="Helvetica Neue"/>
                <a:cs typeface="Helvetica Neue"/>
              </a:rPr>
              <a:t>Voucher   MHOP-XXXX</a:t>
            </a:r>
          </a:p>
          <a:p xmlns:a="http://schemas.openxmlformats.org/drawingml/2006/main">
            <a:pPr algn="l">
              <a:defRPr sz="1200" b="0">
                <a:solidFill>
                  <a:srgbClr val="101010"/>
                </a:solidFill>
                <a:latin typeface="Helvetica Neue"/>
                <a:ea typeface="Helvetica Neue"/>
                <a:cs typeface="Helvetica Neue"/>
              </a:defRPr>
            </a:pPr>
            <a:r>
              <a:rPr sz="1200" b="0">
                <a:solidFill>
                  <a:srgbClr val="101010"/>
                </a:solidFill>
                <a:latin typeface="Helvetica Neue"/>
                <a:ea typeface="Helvetica Neue"/>
                <a:cs typeface="Helvetica Neue"/>
              </a:rPr>
              <a:t>Customer  Verified order customer</a:t>
            </a:r>
          </a:p>
          <a:p xmlns:a="http://schemas.openxmlformats.org/drawingml/2006/main">
            <a:pPr algn="l">
              <a:defRPr sz="1200" b="0">
                <a:solidFill>
                  <a:srgbClr val="101010"/>
                </a:solidFill>
                <a:latin typeface="Helvetica Neue"/>
                <a:ea typeface="Helvetica Neue"/>
                <a:cs typeface="Helvetica Neue"/>
              </a:defRPr>
            </a:pPr>
            <a:r>
              <a:rPr sz="1200" b="0">
                <a:solidFill>
                  <a:srgbClr val="101010"/>
                </a:solidFill>
                <a:latin typeface="Helvetica Neue"/>
                <a:ea typeface="Helvetica Neue"/>
                <a:cs typeface="Helvetica Neue"/>
              </a:rPr>
              <a:t>Items       Stored line items / bundle names</a:t>
            </a:r>
          </a:p>
          <a:p xmlns:a="http://schemas.openxmlformats.org/drawingml/2006/main">
            <a:pPr algn="l">
              <a:defRPr sz="1200" b="0">
                <a:solidFill>
                  <a:srgbClr val="101010"/>
                </a:solidFill>
                <a:latin typeface="Helvetica Neue"/>
                <a:ea typeface="Helvetica Neue"/>
                <a:cs typeface="Helvetica Neue"/>
              </a:defRPr>
            </a:pPr>
            <a:r>
              <a:rPr sz="1200" b="0">
                <a:solidFill>
                  <a:srgbClr val="101010"/>
                </a:solidFill>
                <a:latin typeface="Helvetica Neue"/>
                <a:ea typeface="Helvetica Neue"/>
                <a:cs typeface="Helvetica Neue"/>
              </a:rPr>
              <a:t>Payment   Verified status</a:t>
            </a:r>
          </a:p>
          <a:p xmlns:a="http://schemas.openxmlformats.org/drawingml/2006/main">
            <a:pPr algn="l">
              <a:defRPr sz="1200" b="0">
                <a:solidFill>
                  <a:srgbClr val="101010"/>
                </a:solidFill>
                <a:latin typeface="Helvetica Neue"/>
                <a:ea typeface="Helvetica Neue"/>
                <a:cs typeface="Helvetica Neue"/>
              </a:defRPr>
            </a:pPr>
            <a:r>
              <a:rPr sz="1200" b="0">
                <a:solidFill>
                  <a:srgbClr val="101010"/>
                </a:solidFill>
                <a:latin typeface="Helvetica Neue"/>
                <a:ea typeface="Helvetica Neue"/>
                <a:cs typeface="Helvetica Neue"/>
              </a:rPr>
              <a:t>Serial      Assigned unit where applicable</a:t>
            </a:r>
          </a:p>
          <a:p xmlns:a="http://schemas.openxmlformats.org/drawingml/2006/main">
            <a:pPr algn="l">
              <a:defRPr sz="1200" b="0">
                <a:solidFill>
                  <a:srgbClr val="101010"/>
                </a:solidFill>
                <a:latin typeface="Helvetica Neue"/>
                <a:ea typeface="Helvetica Neue"/>
                <a:cs typeface="Helvetica Neue"/>
              </a:defRPr>
            </a:pPr>
            <a:r>
              <a:rPr sz="1200" b="0">
                <a:solidFill>
                  <a:srgbClr val="101010"/>
                </a:solidFill>
                <a:latin typeface="Helvetica Neue"/>
                <a:ea typeface="Helvetica Neue"/>
                <a:cs typeface="Helvetica Neue"/>
              </a:rPr>
              <a:t>Warranty  Stored warranty period</a:t>
            </a:r>
          </a:p>
        </p:txBody>
      </p:sp>
      <p:sp>
        <p:nvSpPr>
          <p:cNvPr id="10" name="">
            <a:extLst xmlns:a="http://schemas.openxmlformats.org/drawingml/2006/main">
              <a:ext uri="{FF2B5EF4-FFF2-40B4-BE49-F238E27FC236}">
                <a16:creationId xmlns:a16="http://schemas.microsoft.com/office/drawing/2014/main" id="{841ABE50-7BD0-44C5-A079-1D69462ABBEF}"/>
              </a:ext>
            </a:extLst>
          </p:cNvPr>
          <p:cNvSpPr>
            <a:spLocks xmlns:a="http://schemas.openxmlformats.org/drawingml/2006/main" noGrp="1"/>
          </p:cNvSpPr>
          <p:nvPr/>
        </p:nvSpPr>
        <p:spPr>
          <a:xfrm xmlns:a="http://schemas.openxmlformats.org/drawingml/2006/main">
            <a:off x="647700" y="4762500"/>
            <a:ext cx="3771900" cy="0"/>
          </a:xfrm>
          <a:prstGeom xmlns:a="http://schemas.openxmlformats.org/drawingml/2006/main" prst="line">
            <a:avLst/>
          </a:prstGeom>
          <a:noFill xmlns:a="http://schemas.openxmlformats.org/drawingml/2006/main"/>
          <a:ln xmlns:a="http://schemas.openxmlformats.org/drawingml/2006/main" w="9525">
            <a:solidFill>
              <a:srgbClr val="101010"/>
            </a:solidFill>
            <a:prstDash val="solid"/>
          </a:ln>
        </p:spPr>
      </p:sp>
      <p:sp>
        <p:nvSpPr>
          <p:cNvPr id="11" name="">
            <a:extLst xmlns:a="http://schemas.openxmlformats.org/drawingml/2006/main">
              <a:ext uri="{FF2B5EF4-FFF2-40B4-BE49-F238E27FC236}">
                <a16:creationId xmlns:a16="http://schemas.microsoft.com/office/drawing/2014/main" id="{B80B5851-381D-4B5A-A13C-9DB1EDD0F837}"/>
              </a:ext>
            </a:extLst>
          </p:cNvPr>
          <p:cNvSpPr>
            <a:spLocks xmlns:a="http://schemas.openxmlformats.org/drawingml/2006/main" noGrp="1"/>
          </p:cNvSpPr>
          <p:nvPr/>
        </p:nvSpPr>
        <p:spPr>
          <a:xfrm xmlns:a="http://schemas.openxmlformats.org/drawingml/2006/main">
            <a:off x="647700" y="4953000"/>
            <a:ext cx="37719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ctr">
              <a:defRPr sz="1125" b="1">
                <a:solidFill>
                  <a:srgbClr val="626262"/>
                </a:solidFill>
                <a:latin typeface="Helvetica Neue"/>
                <a:ea typeface="Helvetica Neue"/>
                <a:cs typeface="Helvetica Neue"/>
              </a:defRPr>
            </a:pPr>
            <a:r>
              <a:rPr sz="1125" b="1">
                <a:solidFill>
                  <a:srgbClr val="626262"/>
                </a:solidFill>
                <a:latin typeface="Helvetica Neue"/>
                <a:ea typeface="Helvetica Neue"/>
                <a:cs typeface="Helvetica Neue"/>
              </a:rPr>
              <a:t>80mm / 58mm thermal print</a:t>
            </a:r>
          </a:p>
          <a:p xmlns:a="http://schemas.openxmlformats.org/drawingml/2006/main">
            <a:pPr algn="ctr">
              <a:defRPr sz="1125" b="1">
                <a:solidFill>
                  <a:srgbClr val="626262"/>
                </a:solidFill>
                <a:latin typeface="Helvetica Neue"/>
                <a:ea typeface="Helvetica Neue"/>
                <a:cs typeface="Helvetica Neue"/>
              </a:defRPr>
            </a:pPr>
            <a:r>
              <a:rPr sz="1125" b="1">
                <a:solidFill>
                  <a:srgbClr val="626262"/>
                </a:solidFill>
                <a:latin typeface="Helvetica Neue"/>
                <a:ea typeface="Helvetica Neue"/>
                <a:cs typeface="Helvetica Neue"/>
              </a:rPr>
              <a:t>QR or barcode lookup</a:t>
            </a:r>
          </a:p>
        </p:txBody>
      </p:sp>
      <p:sp>
        <p:nvSpPr>
          <p:cNvPr id="12" name="">
            <a:extLst xmlns:a="http://schemas.openxmlformats.org/drawingml/2006/main">
              <a:ext uri="{FF2B5EF4-FFF2-40B4-BE49-F238E27FC236}">
                <a16:creationId xmlns:a16="http://schemas.microsoft.com/office/drawing/2014/main" id="{15BE294D-7EC0-4814-AF3A-A7C8E8BC136E}"/>
              </a:ext>
            </a:extLst>
          </p:cNvPr>
          <p:cNvSpPr>
            <a:spLocks xmlns:a="http://schemas.openxmlformats.org/drawingml/2006/main" noGrp="1"/>
          </p:cNvSpPr>
          <p:nvPr/>
        </p:nvSpPr>
        <p:spPr>
          <a:xfrm xmlns:a="http://schemas.openxmlformats.org/drawingml/2006/main">
            <a:off x="5334000" y="1809750"/>
            <a:ext cx="466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4444"/>
          </a:bodyPr>
          <a:lstStyle xmlns:a="http://schemas.openxmlformats.org/drawingml/2006/main"/>
          <a:p xmlns:a="http://schemas.openxmlformats.org/drawingml/2006/main">
            <a:pPr algn="l">
              <a:defRPr sz="1350" b="1">
                <a:solidFill>
                  <a:srgbClr val="626262"/>
                </a:solidFill>
                <a:latin typeface="Helvetica Neue"/>
                <a:ea typeface="Helvetica Neue"/>
                <a:cs typeface="Helvetica Neue"/>
              </a:defRPr>
            </a:pPr>
            <a:r>
              <a:rPr sz="1350" b="1">
                <a:solidFill>
                  <a:srgbClr val="626262"/>
                </a:solidFill>
                <a:latin typeface="Helvetica Neue"/>
                <a:ea typeface="Helvetica Neue"/>
                <a:cs typeface="Helvetica Neue"/>
              </a:rPr>
              <a:t>PROFESSIONAL OUTPUT</a:t>
            </a:r>
          </a:p>
        </p:txBody>
      </p:sp>
      <p:sp>
        <p:nvSpPr>
          <p:cNvPr id="13" name="">
            <a:extLst xmlns:a="http://schemas.openxmlformats.org/drawingml/2006/main">
              <a:ext uri="{FF2B5EF4-FFF2-40B4-BE49-F238E27FC236}">
                <a16:creationId xmlns:a16="http://schemas.microsoft.com/office/drawing/2014/main" id="{CE3E831F-0F90-47B9-85F3-A0CDE17132DD}"/>
              </a:ext>
            </a:extLst>
          </p:cNvPr>
          <p:cNvSpPr>
            <a:spLocks xmlns:a="http://schemas.openxmlformats.org/drawingml/2006/main" noGrp="1"/>
          </p:cNvSpPr>
          <p:nvPr/>
        </p:nvSpPr>
        <p:spPr>
          <a:xfrm xmlns:a="http://schemas.openxmlformats.org/drawingml/2006/main">
            <a:off x="5334000" y="2266950"/>
            <a:ext cx="5715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550" b="1">
                <a:solidFill>
                  <a:srgbClr val="101010"/>
                </a:solidFill>
                <a:latin typeface="Helvetica Neue"/>
                <a:ea typeface="Helvetica Neue"/>
                <a:cs typeface="Helvetica Neue"/>
              </a:defRPr>
            </a:pPr>
            <a:r>
              <a:rPr sz="2550" b="1">
                <a:solidFill>
                  <a:srgbClr val="101010"/>
                </a:solidFill>
                <a:latin typeface="Helvetica Neue"/>
                <a:ea typeface="Helvetica Neue"/>
                <a:cs typeface="Helvetica Neue"/>
              </a:rPr>
              <a:t>No retyping. No mismatched totals.</a:t>
            </a:r>
          </a:p>
        </p:txBody>
      </p:sp>
      <p:sp>
        <p:nvSpPr>
          <p:cNvPr id="14" name="">
            <a:extLst xmlns:a="http://schemas.openxmlformats.org/drawingml/2006/main">
              <a:ext uri="{FF2B5EF4-FFF2-40B4-BE49-F238E27FC236}">
                <a16:creationId xmlns:a16="http://schemas.microsoft.com/office/drawing/2014/main" id="{1E0A76E4-3D89-4B58-8DF7-CBD341404CA4}"/>
              </a:ext>
            </a:extLst>
          </p:cNvPr>
          <p:cNvSpPr>
            <a:spLocks xmlns:a="http://schemas.openxmlformats.org/drawingml/2006/main" noGrp="1"/>
          </p:cNvSpPr>
          <p:nvPr/>
        </p:nvSpPr>
        <p:spPr>
          <a:xfrm xmlns:a="http://schemas.openxmlformats.org/drawingml/2006/main">
            <a:off x="5334000" y="3257550"/>
            <a:ext cx="58293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0">
                <a:solidFill>
                  <a:srgbClr val="626262"/>
                </a:solidFill>
                <a:latin typeface="Helvetica Neue"/>
                <a:ea typeface="Helvetica Neue"/>
                <a:cs typeface="Helvetica Neue"/>
              </a:defRPr>
            </a:pPr>
            <a:r>
              <a:rPr sz="1425" b="0">
                <a:solidFill>
                  <a:srgbClr val="626262"/>
                </a:solidFill>
                <a:latin typeface="Helvetica Neue"/>
                <a:ea typeface="Helvetica Neue"/>
                <a:cs typeface="Helvetica Neue"/>
              </a:rPr>
              <a:t>The voucher uses the order’s real items, prices, payment state, assigned serial/account reference and warranty period. Browser printing supports the configured thermal width.</a:t>
            </a:r>
          </a:p>
        </p:txBody>
      </p:sp>
      <p:sp>
        <p:nvSpPr>
          <p:cNvPr id="15" name="">
            <a:extLst xmlns:a="http://schemas.openxmlformats.org/drawingml/2006/main">
              <a:ext uri="{FF2B5EF4-FFF2-40B4-BE49-F238E27FC236}">
                <a16:creationId xmlns:a16="http://schemas.microsoft.com/office/drawing/2014/main" id="{A22DB6EA-E01F-4927-B9D2-DC1BF0530B1C}"/>
              </a:ext>
            </a:extLst>
          </p:cNvPr>
          <p:cNvSpPr>
            <a:spLocks xmlns:a="http://schemas.openxmlformats.org/drawingml/2006/main" noGrp="1"/>
          </p:cNvSpPr>
          <p:nvPr/>
        </p:nvSpPr>
        <p:spPr>
          <a:xfrm xmlns:a="http://schemas.openxmlformats.org/drawingml/2006/main">
            <a:off x="5334000" y="4800600"/>
            <a:ext cx="12954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CUSTOMER COPY</a:t>
            </a:r>
          </a:p>
        </p:txBody>
      </p:sp>
      <p:sp>
        <p:nvSpPr>
          <p:cNvPr id="16" name="">
            <a:extLst xmlns:a="http://schemas.openxmlformats.org/drawingml/2006/main">
              <a:ext uri="{FF2B5EF4-FFF2-40B4-BE49-F238E27FC236}">
                <a16:creationId xmlns:a16="http://schemas.microsoft.com/office/drawing/2014/main" id="{6BBFEC20-01E7-4ED7-9386-D2DF40888A2C}"/>
              </a:ext>
            </a:extLst>
          </p:cNvPr>
          <p:cNvSpPr>
            <a:spLocks xmlns:a="http://schemas.openxmlformats.org/drawingml/2006/main" noGrp="1"/>
          </p:cNvSpPr>
          <p:nvPr/>
        </p:nvSpPr>
        <p:spPr>
          <a:xfrm xmlns:a="http://schemas.openxmlformats.org/drawingml/2006/main">
            <a:off x="6762750" y="4800600"/>
            <a:ext cx="1009650" cy="285750"/>
          </a:xfrm>
          <a:prstGeom xmlns:a="http://schemas.openxmlformats.org/drawingml/2006/main" prst="roundRect">
            <a:avLst>
              <a:gd name="adj" fmla="val 50000"/>
            </a:avLst>
          </a:prstGeom>
          <a:solidFill xmlns:a="http://schemas.openxmlformats.org/drawingml/2006/main">
            <a:srgbClr val="DDE8FF"/>
          </a:solidFill>
          <a:ln xmlns:a="http://schemas.openxmlformats.org/drawingml/2006/main" w="9525">
            <a:solidFill>
              <a:srgbClr val="DDE8FF"/>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AUDITABLE</a:t>
            </a:r>
          </a:p>
        </p:txBody>
      </p:sp>
    </p:spTree>
    <p:extLst>
      <p:ext uri="{BB962C8B-B14F-4D97-AF65-F5344CB8AC3E}">
        <p14:creationId xmlns:p14="http://schemas.microsoft.com/office/powerpoint/2010/main" val="96099772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6D15106C-D2A3-4799-BF41-3F21C1C9EB28}"/>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AFTER-SALES</a:t>
            </a:r>
          </a:p>
        </p:txBody>
      </p:sp>
      <p:sp>
        <p:nvSpPr>
          <p:cNvPr id="2" name="">
            <a:extLst xmlns:a="http://schemas.openxmlformats.org/drawingml/2006/main">
              <a:ext uri="{FF2B5EF4-FFF2-40B4-BE49-F238E27FC236}">
                <a16:creationId xmlns:a16="http://schemas.microsoft.com/office/drawing/2014/main" id="{4577F5D8-7D96-4B87-AD2D-0D1F13828AF2}"/>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Warranty becomes a policy-driven RMA workflow</a:t>
            </a:r>
          </a:p>
        </p:txBody>
      </p:sp>
      <p:sp>
        <p:nvSpPr>
          <p:cNvPr id="3" name="">
            <a:extLst xmlns:a="http://schemas.openxmlformats.org/drawingml/2006/main">
              <a:ext uri="{FF2B5EF4-FFF2-40B4-BE49-F238E27FC236}">
                <a16:creationId xmlns:a16="http://schemas.microsoft.com/office/drawing/2014/main" id="{DEF5CF1D-C13E-463C-843A-191EDDF25D77}"/>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17FA39A4-149D-4898-940B-D6C8ADB53F3E}"/>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65759990-CF67-4343-AE5A-D587353DE95B}"/>
              </a:ext>
            </a:extLst>
          </p:cNvPr>
          <p:cNvSpPr>
            <a:spLocks xmlns:a="http://schemas.openxmlformats.org/drawingml/2006/main" noGrp="1"/>
          </p:cNvSpPr>
          <p:nvPr/>
        </p:nvSpPr>
        <p:spPr>
          <a:xfrm xmlns:a="http://schemas.openxmlformats.org/drawingml/2006/main">
            <a:off x="400050" y="1752600"/>
            <a:ext cx="2076450" cy="2667000"/>
          </a:xfrm>
          <a:prstGeom xmlns:a="http://schemas.openxmlformats.org/drawingml/2006/main" prst="roundRect">
            <a:avLst>
              <a:gd name="adj" fmla="val 7339"/>
            </a:avLst>
          </a:prstGeom>
          <a:solidFill xmlns:a="http://schemas.openxmlformats.org/drawingml/2006/main">
            <a:srgbClr val="F3F3F1"/>
          </a:solidFill>
          <a:ln xmlns:a="http://schemas.openxmlformats.org/drawingml/2006/main" w="9525">
            <a:solidFill>
              <a:srgbClr val="D9D9D5"/>
            </a:solidFill>
            <a:prstDash val="solid"/>
          </a:ln>
        </p:spPr>
      </p:sp>
      <p:sp>
        <p:nvSpPr>
          <p:cNvPr id="6" name="">
            <a:extLst xmlns:a="http://schemas.openxmlformats.org/drawingml/2006/main">
              <a:ext uri="{FF2B5EF4-FFF2-40B4-BE49-F238E27FC236}">
                <a16:creationId xmlns:a16="http://schemas.microsoft.com/office/drawing/2014/main" id="{1B8AF554-D158-4B3A-8DED-485A2170BC68}"/>
              </a:ext>
            </a:extLst>
          </p:cNvPr>
          <p:cNvSpPr>
            <a:spLocks xmlns:a="http://schemas.openxmlformats.org/drawingml/2006/main" noGrp="1"/>
          </p:cNvSpPr>
          <p:nvPr/>
        </p:nvSpPr>
        <p:spPr>
          <a:xfrm xmlns:a="http://schemas.openxmlformats.org/drawingml/2006/main">
            <a:off x="571500" y="1943100"/>
            <a:ext cx="3810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B9CA6242-6A13-4189-AA9B-39FE76987911}"/>
              </a:ext>
            </a:extLst>
          </p:cNvPr>
          <p:cNvSpPr>
            <a:spLocks xmlns:a="http://schemas.openxmlformats.org/drawingml/2006/main" noGrp="1"/>
          </p:cNvSpPr>
          <p:nvPr/>
        </p:nvSpPr>
        <p:spPr>
          <a:xfrm xmlns:a="http://schemas.openxmlformats.org/drawingml/2006/main">
            <a:off x="571500" y="2457450"/>
            <a:ext cx="175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101010"/>
                </a:solidFill>
                <a:latin typeface="Helvetica Neue"/>
                <a:ea typeface="Helvetica Neue"/>
                <a:cs typeface="Helvetica Neue"/>
              </a:defRPr>
            </a:pPr>
            <a:r>
              <a:rPr sz="1500" b="1">
                <a:solidFill>
                  <a:srgbClr val="101010"/>
                </a:solidFill>
                <a:latin typeface="Helvetica Neue"/>
                <a:ea typeface="Helvetica Neue"/>
                <a:cs typeface="Helvetica Neue"/>
              </a:rPr>
              <a:t>LOOKUP</a:t>
            </a:r>
          </a:p>
        </p:txBody>
      </p:sp>
      <p:sp>
        <p:nvSpPr>
          <p:cNvPr id="8" name="">
            <a:extLst xmlns:a="http://schemas.openxmlformats.org/drawingml/2006/main">
              <a:ext uri="{FF2B5EF4-FFF2-40B4-BE49-F238E27FC236}">
                <a16:creationId xmlns:a16="http://schemas.microsoft.com/office/drawing/2014/main" id="{5D3D33B9-42C8-409D-BC41-2CA9DE850AE6}"/>
              </a:ext>
            </a:extLst>
          </p:cNvPr>
          <p:cNvSpPr>
            <a:spLocks xmlns:a="http://schemas.openxmlformats.org/drawingml/2006/main" noGrp="1"/>
          </p:cNvSpPr>
          <p:nvPr/>
        </p:nvSpPr>
        <p:spPr>
          <a:xfrm xmlns:a="http://schemas.openxmlformats.org/drawingml/2006/main">
            <a:off x="571500" y="2990850"/>
            <a:ext cx="1714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Order code + phone + serial when applicable</a:t>
            </a:r>
          </a:p>
        </p:txBody>
      </p:sp>
      <p:sp>
        <p:nvSpPr>
          <p:cNvPr id="9" name="">
            <a:extLst xmlns:a="http://schemas.openxmlformats.org/drawingml/2006/main">
              <a:ext uri="{FF2B5EF4-FFF2-40B4-BE49-F238E27FC236}">
                <a16:creationId xmlns:a16="http://schemas.microsoft.com/office/drawing/2014/main" id="{055CA0C7-B7F2-4172-8713-A2FA38A14337}"/>
              </a:ext>
            </a:extLst>
          </p:cNvPr>
          <p:cNvSpPr>
            <a:spLocks xmlns:a="http://schemas.openxmlformats.org/drawingml/2006/main" noGrp="1"/>
          </p:cNvSpPr>
          <p:nvPr/>
        </p:nvSpPr>
        <p:spPr>
          <a:xfrm xmlns:a="http://schemas.openxmlformats.org/drawingml/2006/main">
            <a:off x="2676525" y="1752600"/>
            <a:ext cx="2076450" cy="2667000"/>
          </a:xfrm>
          <a:prstGeom xmlns:a="http://schemas.openxmlformats.org/drawingml/2006/main" prst="roundRect">
            <a:avLst>
              <a:gd name="adj" fmla="val 7339"/>
            </a:avLst>
          </a:prstGeom>
          <a:solidFill xmlns:a="http://schemas.openxmlformats.org/drawingml/2006/main">
            <a:srgbClr val="F3F3F1"/>
          </a:solidFill>
          <a:ln xmlns:a="http://schemas.openxmlformats.org/drawingml/2006/main" w="9525">
            <a:solidFill>
              <a:srgbClr val="D9D9D5"/>
            </a:solidFill>
            <a:prstDash val="solid"/>
          </a:ln>
        </p:spPr>
      </p:sp>
      <p:sp>
        <p:nvSpPr>
          <p:cNvPr id="10" name="">
            <a:extLst xmlns:a="http://schemas.openxmlformats.org/drawingml/2006/main">
              <a:ext uri="{FF2B5EF4-FFF2-40B4-BE49-F238E27FC236}">
                <a16:creationId xmlns:a16="http://schemas.microsoft.com/office/drawing/2014/main" id="{D0B3BBE4-D41A-418F-908B-7B1821CB6BAF}"/>
              </a:ext>
            </a:extLst>
          </p:cNvPr>
          <p:cNvSpPr>
            <a:spLocks xmlns:a="http://schemas.openxmlformats.org/drawingml/2006/main" noGrp="1"/>
          </p:cNvSpPr>
          <p:nvPr/>
        </p:nvSpPr>
        <p:spPr>
          <a:xfrm xmlns:a="http://schemas.openxmlformats.org/drawingml/2006/main">
            <a:off x="2847975" y="1943100"/>
            <a:ext cx="3810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3A73E496-D28E-4525-88C6-5E3631D82CB5}"/>
              </a:ext>
            </a:extLst>
          </p:cNvPr>
          <p:cNvSpPr>
            <a:spLocks xmlns:a="http://schemas.openxmlformats.org/drawingml/2006/main" noGrp="1"/>
          </p:cNvSpPr>
          <p:nvPr/>
        </p:nvSpPr>
        <p:spPr>
          <a:xfrm xmlns:a="http://schemas.openxmlformats.org/drawingml/2006/main">
            <a:off x="2847975" y="2457450"/>
            <a:ext cx="175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101010"/>
                </a:solidFill>
                <a:latin typeface="Helvetica Neue"/>
                <a:ea typeface="Helvetica Neue"/>
                <a:cs typeface="Helvetica Neue"/>
              </a:defRPr>
            </a:pPr>
            <a:r>
              <a:rPr sz="1500" b="1">
                <a:solidFill>
                  <a:srgbClr val="101010"/>
                </a:solidFill>
                <a:latin typeface="Helvetica Neue"/>
                <a:ea typeface="Helvetica Neue"/>
                <a:cs typeface="Helvetica Neue"/>
              </a:rPr>
              <a:t>ELIGIBILITY</a:t>
            </a:r>
          </a:p>
        </p:txBody>
      </p:sp>
      <p:sp>
        <p:nvSpPr>
          <p:cNvPr id="12" name="">
            <a:extLst xmlns:a="http://schemas.openxmlformats.org/drawingml/2006/main">
              <a:ext uri="{FF2B5EF4-FFF2-40B4-BE49-F238E27FC236}">
                <a16:creationId xmlns:a16="http://schemas.microsoft.com/office/drawing/2014/main" id="{69127DC4-E0A6-40FC-9309-384EEC5518E2}"/>
              </a:ext>
            </a:extLst>
          </p:cNvPr>
          <p:cNvSpPr>
            <a:spLocks xmlns:a="http://schemas.openxmlformats.org/drawingml/2006/main" noGrp="1"/>
          </p:cNvSpPr>
          <p:nvPr/>
        </p:nvSpPr>
        <p:spPr>
          <a:xfrm xmlns:a="http://schemas.openxmlformats.org/drawingml/2006/main">
            <a:off x="2847975" y="2990850"/>
            <a:ext cx="1714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Delivered date, warranty months and item match</a:t>
            </a:r>
          </a:p>
        </p:txBody>
      </p:sp>
      <p:sp>
        <p:nvSpPr>
          <p:cNvPr id="13" name="">
            <a:extLst xmlns:a="http://schemas.openxmlformats.org/drawingml/2006/main">
              <a:ext uri="{FF2B5EF4-FFF2-40B4-BE49-F238E27FC236}">
                <a16:creationId xmlns:a16="http://schemas.microsoft.com/office/drawing/2014/main" id="{A5DB55C6-7AD5-451E-8E9C-41D52D24FC2F}"/>
              </a:ext>
            </a:extLst>
          </p:cNvPr>
          <p:cNvSpPr>
            <a:spLocks xmlns:a="http://schemas.openxmlformats.org/drawingml/2006/main" noGrp="1"/>
          </p:cNvSpPr>
          <p:nvPr/>
        </p:nvSpPr>
        <p:spPr>
          <a:xfrm xmlns:a="http://schemas.openxmlformats.org/drawingml/2006/main">
            <a:off x="4953000" y="1752600"/>
            <a:ext cx="2076450" cy="2667000"/>
          </a:xfrm>
          <a:prstGeom xmlns:a="http://schemas.openxmlformats.org/drawingml/2006/main" prst="roundRect">
            <a:avLst>
              <a:gd name="adj" fmla="val 7339"/>
            </a:avLst>
          </a:prstGeom>
          <a:solidFill xmlns:a="http://schemas.openxmlformats.org/drawingml/2006/main">
            <a:srgbClr val="F3F3F1"/>
          </a:solidFill>
          <a:ln xmlns:a="http://schemas.openxmlformats.org/drawingml/2006/main" w="9525">
            <a:solidFill>
              <a:srgbClr val="D9D9D5"/>
            </a:solidFill>
            <a:prstDash val="solid"/>
          </a:ln>
        </p:spPr>
      </p:sp>
      <p:sp>
        <p:nvSpPr>
          <p:cNvPr id="14" name="">
            <a:extLst xmlns:a="http://schemas.openxmlformats.org/drawingml/2006/main">
              <a:ext uri="{FF2B5EF4-FFF2-40B4-BE49-F238E27FC236}">
                <a16:creationId xmlns:a16="http://schemas.microsoft.com/office/drawing/2014/main" id="{9D64C0CF-2385-439D-AD8A-A3A50FEC909C}"/>
              </a:ext>
            </a:extLst>
          </p:cNvPr>
          <p:cNvSpPr>
            <a:spLocks xmlns:a="http://schemas.openxmlformats.org/drawingml/2006/main" noGrp="1"/>
          </p:cNvSpPr>
          <p:nvPr/>
        </p:nvSpPr>
        <p:spPr>
          <a:xfrm xmlns:a="http://schemas.openxmlformats.org/drawingml/2006/main">
            <a:off x="5124450" y="1943100"/>
            <a:ext cx="3810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93B3F34B-41B9-487F-84FA-FBB7735F9F1F}"/>
              </a:ext>
            </a:extLst>
          </p:cNvPr>
          <p:cNvSpPr>
            <a:spLocks xmlns:a="http://schemas.openxmlformats.org/drawingml/2006/main" noGrp="1"/>
          </p:cNvSpPr>
          <p:nvPr/>
        </p:nvSpPr>
        <p:spPr>
          <a:xfrm xmlns:a="http://schemas.openxmlformats.org/drawingml/2006/main">
            <a:off x="5124450" y="2457450"/>
            <a:ext cx="175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101010"/>
                </a:solidFill>
                <a:latin typeface="Helvetica Neue"/>
                <a:ea typeface="Helvetica Neue"/>
                <a:cs typeface="Helvetica Neue"/>
              </a:defRPr>
            </a:pPr>
            <a:r>
              <a:rPr sz="1500" b="1">
                <a:solidFill>
                  <a:srgbClr val="101010"/>
                </a:solidFill>
                <a:latin typeface="Helvetica Neue"/>
                <a:ea typeface="Helvetica Neue"/>
                <a:cs typeface="Helvetica Neue"/>
              </a:rPr>
              <a:t>INSPECTION</a:t>
            </a:r>
          </a:p>
        </p:txBody>
      </p:sp>
      <p:sp>
        <p:nvSpPr>
          <p:cNvPr id="16" name="">
            <a:extLst xmlns:a="http://schemas.openxmlformats.org/drawingml/2006/main">
              <a:ext uri="{FF2B5EF4-FFF2-40B4-BE49-F238E27FC236}">
                <a16:creationId xmlns:a16="http://schemas.microsoft.com/office/drawing/2014/main" id="{864B7D7D-D384-4C62-983C-7F4501AB3C79}"/>
              </a:ext>
            </a:extLst>
          </p:cNvPr>
          <p:cNvSpPr>
            <a:spLocks xmlns:a="http://schemas.openxmlformats.org/drawingml/2006/main" noGrp="1"/>
          </p:cNvSpPr>
          <p:nvPr/>
        </p:nvSpPr>
        <p:spPr>
          <a:xfrm xmlns:a="http://schemas.openxmlformats.org/drawingml/2006/main">
            <a:off x="5124450" y="2990850"/>
            <a:ext cx="1714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Record fault, evidence and device lifecycle</a:t>
            </a:r>
          </a:p>
        </p:txBody>
      </p:sp>
      <p:sp>
        <p:nvSpPr>
          <p:cNvPr id="17" name="">
            <a:extLst xmlns:a="http://schemas.openxmlformats.org/drawingml/2006/main">
              <a:ext uri="{FF2B5EF4-FFF2-40B4-BE49-F238E27FC236}">
                <a16:creationId xmlns:a16="http://schemas.microsoft.com/office/drawing/2014/main" id="{EEBA5B34-ECE7-42F2-95F7-CB097D473CF8}"/>
              </a:ext>
            </a:extLst>
          </p:cNvPr>
          <p:cNvSpPr>
            <a:spLocks xmlns:a="http://schemas.openxmlformats.org/drawingml/2006/main" noGrp="1"/>
          </p:cNvSpPr>
          <p:nvPr/>
        </p:nvSpPr>
        <p:spPr>
          <a:xfrm xmlns:a="http://schemas.openxmlformats.org/drawingml/2006/main">
            <a:off x="7229475" y="1752600"/>
            <a:ext cx="2076450" cy="2667000"/>
          </a:xfrm>
          <a:prstGeom xmlns:a="http://schemas.openxmlformats.org/drawingml/2006/main" prst="roundRect">
            <a:avLst>
              <a:gd name="adj" fmla="val 7339"/>
            </a:avLst>
          </a:prstGeom>
          <a:solidFill xmlns:a="http://schemas.openxmlformats.org/drawingml/2006/main">
            <a:srgbClr val="FFF2EC"/>
          </a:solidFill>
          <a:ln xmlns:a="http://schemas.openxmlformats.org/drawingml/2006/main" w="9525">
            <a:solidFill>
              <a:srgbClr val="FFD6C5"/>
            </a:solidFill>
            <a:prstDash val="solid"/>
          </a:ln>
        </p:spPr>
      </p:sp>
      <p:sp>
        <p:nvSpPr>
          <p:cNvPr id="18" name="">
            <a:extLst xmlns:a="http://schemas.openxmlformats.org/drawingml/2006/main">
              <a:ext uri="{FF2B5EF4-FFF2-40B4-BE49-F238E27FC236}">
                <a16:creationId xmlns:a16="http://schemas.microsoft.com/office/drawing/2014/main" id="{4D29CD7D-66DD-406D-A436-0F071C5AD4F0}"/>
              </a:ext>
            </a:extLst>
          </p:cNvPr>
          <p:cNvSpPr>
            <a:spLocks xmlns:a="http://schemas.openxmlformats.org/drawingml/2006/main" noGrp="1"/>
          </p:cNvSpPr>
          <p:nvPr/>
        </p:nvSpPr>
        <p:spPr>
          <a:xfrm xmlns:a="http://schemas.openxmlformats.org/drawingml/2006/main">
            <a:off x="7400925" y="1943100"/>
            <a:ext cx="38100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7C2F8DCC-6B03-430E-9A67-B76093137BE2}"/>
              </a:ext>
            </a:extLst>
          </p:cNvPr>
          <p:cNvSpPr>
            <a:spLocks xmlns:a="http://schemas.openxmlformats.org/drawingml/2006/main" noGrp="1"/>
          </p:cNvSpPr>
          <p:nvPr/>
        </p:nvSpPr>
        <p:spPr>
          <a:xfrm xmlns:a="http://schemas.openxmlformats.org/drawingml/2006/main">
            <a:off x="7400925" y="2457450"/>
            <a:ext cx="175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101010"/>
                </a:solidFill>
                <a:latin typeface="Helvetica Neue"/>
                <a:ea typeface="Helvetica Neue"/>
                <a:cs typeface="Helvetica Neue"/>
              </a:defRPr>
            </a:pPr>
            <a:r>
              <a:rPr sz="1500" b="1">
                <a:solidFill>
                  <a:srgbClr val="101010"/>
                </a:solidFill>
                <a:latin typeface="Helvetica Neue"/>
                <a:ea typeface="Helvetica Neue"/>
                <a:cs typeface="Helvetica Neue"/>
              </a:rPr>
              <a:t>RESOLUTION</a:t>
            </a:r>
          </a:p>
        </p:txBody>
      </p:sp>
      <p:sp>
        <p:nvSpPr>
          <p:cNvPr id="20" name="">
            <a:extLst xmlns:a="http://schemas.openxmlformats.org/drawingml/2006/main">
              <a:ext uri="{FF2B5EF4-FFF2-40B4-BE49-F238E27FC236}">
                <a16:creationId xmlns:a16="http://schemas.microsoft.com/office/drawing/2014/main" id="{A0F5D9F7-CD92-4B6E-9386-1C5F8DFE5BAC}"/>
              </a:ext>
            </a:extLst>
          </p:cNvPr>
          <p:cNvSpPr>
            <a:spLocks xmlns:a="http://schemas.openxmlformats.org/drawingml/2006/main" noGrp="1"/>
          </p:cNvSpPr>
          <p:nvPr/>
        </p:nvSpPr>
        <p:spPr>
          <a:xfrm xmlns:a="http://schemas.openxmlformats.org/drawingml/2006/main">
            <a:off x="7400925" y="2990850"/>
            <a:ext cx="1714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Repair, replacement, refund or rejection</a:t>
            </a:r>
          </a:p>
        </p:txBody>
      </p:sp>
      <p:sp>
        <p:nvSpPr>
          <p:cNvPr id="21" name="">
            <a:extLst xmlns:a="http://schemas.openxmlformats.org/drawingml/2006/main">
              <a:ext uri="{FF2B5EF4-FFF2-40B4-BE49-F238E27FC236}">
                <a16:creationId xmlns:a16="http://schemas.microsoft.com/office/drawing/2014/main" id="{F01338F4-FD0E-44CC-A357-7FA0B31132F7}"/>
              </a:ext>
            </a:extLst>
          </p:cNvPr>
          <p:cNvSpPr>
            <a:spLocks xmlns:a="http://schemas.openxmlformats.org/drawingml/2006/main" noGrp="1"/>
          </p:cNvSpPr>
          <p:nvPr/>
        </p:nvSpPr>
        <p:spPr>
          <a:xfrm xmlns:a="http://schemas.openxmlformats.org/drawingml/2006/main">
            <a:off x="9505950" y="1752600"/>
            <a:ext cx="2076450" cy="2667000"/>
          </a:xfrm>
          <a:prstGeom xmlns:a="http://schemas.openxmlformats.org/drawingml/2006/main" prst="roundRect">
            <a:avLst>
              <a:gd name="adj" fmla="val 7339"/>
            </a:avLst>
          </a:prstGeom>
          <a:solidFill xmlns:a="http://schemas.openxmlformats.org/drawingml/2006/main">
            <a:srgbClr val="F3F3F1"/>
          </a:solidFill>
          <a:ln xmlns:a="http://schemas.openxmlformats.org/drawingml/2006/main" w="9525">
            <a:solidFill>
              <a:srgbClr val="D9D9D5"/>
            </a:solidFill>
            <a:prstDash val="solid"/>
          </a:ln>
        </p:spPr>
      </p:sp>
      <p:sp>
        <p:nvSpPr>
          <p:cNvPr id="22" name="">
            <a:extLst xmlns:a="http://schemas.openxmlformats.org/drawingml/2006/main">
              <a:ext uri="{FF2B5EF4-FFF2-40B4-BE49-F238E27FC236}">
                <a16:creationId xmlns:a16="http://schemas.microsoft.com/office/drawing/2014/main" id="{F76974FB-2311-4622-94AF-99FB6AD2F6CC}"/>
              </a:ext>
            </a:extLst>
          </p:cNvPr>
          <p:cNvSpPr>
            <a:spLocks xmlns:a="http://schemas.openxmlformats.org/drawingml/2006/main" noGrp="1"/>
          </p:cNvSpPr>
          <p:nvPr/>
        </p:nvSpPr>
        <p:spPr>
          <a:xfrm xmlns:a="http://schemas.openxmlformats.org/drawingml/2006/main">
            <a:off x="9677400" y="1943100"/>
            <a:ext cx="3810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5</a:t>
            </a:r>
          </a:p>
        </p:txBody>
      </p:sp>
      <p:sp>
        <p:nvSpPr>
          <p:cNvPr id="23" name="">
            <a:extLst xmlns:a="http://schemas.openxmlformats.org/drawingml/2006/main">
              <a:ext uri="{FF2B5EF4-FFF2-40B4-BE49-F238E27FC236}">
                <a16:creationId xmlns:a16="http://schemas.microsoft.com/office/drawing/2014/main" id="{7CF7F612-83C9-49D0-90D3-29BB36135B73}"/>
              </a:ext>
            </a:extLst>
          </p:cNvPr>
          <p:cNvSpPr>
            <a:spLocks xmlns:a="http://schemas.openxmlformats.org/drawingml/2006/main" noGrp="1"/>
          </p:cNvSpPr>
          <p:nvPr/>
        </p:nvSpPr>
        <p:spPr>
          <a:xfrm xmlns:a="http://schemas.openxmlformats.org/drawingml/2006/main">
            <a:off x="9677400" y="2457450"/>
            <a:ext cx="1752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500" b="1">
                <a:solidFill>
                  <a:srgbClr val="101010"/>
                </a:solidFill>
                <a:latin typeface="Helvetica Neue"/>
                <a:ea typeface="Helvetica Neue"/>
                <a:cs typeface="Helvetica Neue"/>
              </a:defRPr>
            </a:pPr>
            <a:r>
              <a:rPr sz="1500" b="1">
                <a:solidFill>
                  <a:srgbClr val="101010"/>
                </a:solidFill>
                <a:latin typeface="Helvetica Neue"/>
                <a:ea typeface="Helvetica Neue"/>
                <a:cs typeface="Helvetica Neue"/>
              </a:rPr>
              <a:t>SYNC</a:t>
            </a:r>
          </a:p>
        </p:txBody>
      </p:sp>
      <p:sp>
        <p:nvSpPr>
          <p:cNvPr id="24" name="">
            <a:extLst xmlns:a="http://schemas.openxmlformats.org/drawingml/2006/main">
              <a:ext uri="{FF2B5EF4-FFF2-40B4-BE49-F238E27FC236}">
                <a16:creationId xmlns:a16="http://schemas.microsoft.com/office/drawing/2014/main" id="{DA7F3C3F-44D2-48C3-9146-51F066320DFA}"/>
              </a:ext>
            </a:extLst>
          </p:cNvPr>
          <p:cNvSpPr>
            <a:spLocks xmlns:a="http://schemas.openxmlformats.org/drawingml/2006/main" noGrp="1"/>
          </p:cNvSpPr>
          <p:nvPr/>
        </p:nvSpPr>
        <p:spPr>
          <a:xfrm xmlns:a="http://schemas.openxmlformats.org/drawingml/2006/main">
            <a:off x="9677400" y="2990850"/>
            <a:ext cx="1714500" cy="1009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Update stock, order, warranty cost, ERP and alerts</a:t>
            </a:r>
          </a:p>
        </p:txBody>
      </p:sp>
      <p:sp>
        <p:nvSpPr>
          <p:cNvPr id="25" name="">
            <a:extLst xmlns:a="http://schemas.openxmlformats.org/drawingml/2006/main">
              <a:ext uri="{FF2B5EF4-FFF2-40B4-BE49-F238E27FC236}">
                <a16:creationId xmlns:a16="http://schemas.microsoft.com/office/drawing/2014/main" id="{CC6C1ACA-7F12-4943-AEEC-C5B1DF0A5AE3}"/>
              </a:ext>
            </a:extLst>
          </p:cNvPr>
          <p:cNvSpPr>
            <a:spLocks xmlns:a="http://schemas.openxmlformats.org/drawingml/2006/main" noGrp="1"/>
          </p:cNvSpPr>
          <p:nvPr/>
        </p:nvSpPr>
        <p:spPr>
          <a:xfrm xmlns:a="http://schemas.openxmlformats.org/drawingml/2006/main">
            <a:off x="400050" y="4857750"/>
            <a:ext cx="11220450" cy="781050"/>
          </a:xfrm>
          <a:prstGeom xmlns:a="http://schemas.openxmlformats.org/drawingml/2006/main" prst="roundRect">
            <a:avLst>
              <a:gd name="adj" fmla="val 17073"/>
            </a:avLst>
          </a:prstGeom>
          <a:solidFill xmlns:a="http://schemas.openxmlformats.org/drawingml/2006/main">
            <a:srgbClr val="171717"/>
          </a:solidFill>
          <a:ln xmlns:a="http://schemas.openxmlformats.org/drawingml/2006/main" w="9525">
            <a:solidFill>
              <a:srgbClr val="171717"/>
            </a:solidFill>
            <a:prstDash val="solid"/>
          </a:ln>
        </p:spPr>
      </p:sp>
      <p:sp>
        <p:nvSpPr>
          <p:cNvPr id="26" name="">
            <a:extLst xmlns:a="http://schemas.openxmlformats.org/drawingml/2006/main">
              <a:ext uri="{FF2B5EF4-FFF2-40B4-BE49-F238E27FC236}">
                <a16:creationId xmlns:a16="http://schemas.microsoft.com/office/drawing/2014/main" id="{EFA24E76-8C4A-4E67-AD1A-DE05CC836B23}"/>
              </a:ext>
            </a:extLst>
          </p:cNvPr>
          <p:cNvSpPr>
            <a:spLocks xmlns:a="http://schemas.openxmlformats.org/drawingml/2006/main" noGrp="1"/>
          </p:cNvSpPr>
          <p:nvPr/>
        </p:nvSpPr>
        <p:spPr>
          <a:xfrm xmlns:a="http://schemas.openxmlformats.org/drawingml/2006/main">
            <a:off x="628650" y="5057775"/>
            <a:ext cx="2714625"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68889"/>
          </a:bodyPr>
          <a:lstStyle xmlns:a="http://schemas.openxmlformats.org/drawingml/2006/main"/>
          <a:p xmlns:a="http://schemas.openxmlformats.org/drawingml/2006/main">
            <a:pPr algn="l">
              <a:defRPr sz="1125" b="1">
                <a:solidFill>
                  <a:srgbClr val="C7F36B"/>
                </a:solidFill>
                <a:latin typeface="Helvetica Neue"/>
                <a:ea typeface="Helvetica Neue"/>
                <a:cs typeface="Helvetica Neue"/>
              </a:defRPr>
            </a:pPr>
            <a:r>
              <a:rPr sz="1125" b="1">
                <a:solidFill>
                  <a:srgbClr val="C7F36B"/>
                </a:solidFill>
                <a:latin typeface="Helvetica Neue"/>
                <a:ea typeface="Helvetica Neue"/>
                <a:cs typeface="Helvetica Neue"/>
              </a:rPr>
              <a:t>NON-SERIALIZED ACCESSORIES</a:t>
            </a:r>
          </a:p>
        </p:txBody>
      </p:sp>
      <p:sp>
        <p:nvSpPr>
          <p:cNvPr id="27" name="">
            <a:extLst xmlns:a="http://schemas.openxmlformats.org/drawingml/2006/main">
              <a:ext uri="{FF2B5EF4-FFF2-40B4-BE49-F238E27FC236}">
                <a16:creationId xmlns:a16="http://schemas.microsoft.com/office/drawing/2014/main" id="{FC75ED34-7B8C-4FDD-B990-5382DD3EEE6B}"/>
              </a:ext>
            </a:extLst>
          </p:cNvPr>
          <p:cNvSpPr>
            <a:spLocks xmlns:a="http://schemas.openxmlformats.org/drawingml/2006/main" noGrp="1"/>
          </p:cNvSpPr>
          <p:nvPr/>
        </p:nvSpPr>
        <p:spPr>
          <a:xfrm xmlns:a="http://schemas.openxmlformats.org/drawingml/2006/main">
            <a:off x="3486150" y="4991100"/>
            <a:ext cx="7772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9216"/>
          </a:bodyPr>
          <a:lstStyle xmlns:a="http://schemas.openxmlformats.org/drawingml/2006/main"/>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Claims can still be validated from the order item and delivery date; a serial number is not mandatory for quantity-only accessories.</a:t>
            </a:r>
          </a:p>
        </p:txBody>
      </p:sp>
    </p:spTree>
    <p:extLst>
      <p:ext uri="{BB962C8B-B14F-4D97-AF65-F5344CB8AC3E}">
        <p14:creationId xmlns:p14="http://schemas.microsoft.com/office/powerpoint/2010/main" val="1229751584"/>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BFE01951-4F4D-4FB5-9B72-AEC9AA072238}"/>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ERP PURCHASING</a:t>
            </a:r>
          </a:p>
        </p:txBody>
      </p:sp>
      <p:sp>
        <p:nvSpPr>
          <p:cNvPr id="2" name="">
            <a:extLst xmlns:a="http://schemas.openxmlformats.org/drawingml/2006/main">
              <a:ext uri="{FF2B5EF4-FFF2-40B4-BE49-F238E27FC236}">
                <a16:creationId xmlns:a16="http://schemas.microsoft.com/office/drawing/2014/main" id="{46694F63-6DF3-429C-8917-145287356D01}"/>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Purchasing adds stock only after physical receiving</a:t>
            </a:r>
          </a:p>
        </p:txBody>
      </p:sp>
      <p:sp>
        <p:nvSpPr>
          <p:cNvPr id="3" name="">
            <a:extLst xmlns:a="http://schemas.openxmlformats.org/drawingml/2006/main">
              <a:ext uri="{FF2B5EF4-FFF2-40B4-BE49-F238E27FC236}">
                <a16:creationId xmlns:a16="http://schemas.microsoft.com/office/drawing/2014/main" id="{5B2D5629-D24E-43B4-87D1-2E2DF5139BBE}"/>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6C3AE73E-D185-44A5-BE38-9F84BD4A0E25}"/>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DFD03016-FA33-40CD-A1AE-338171201B72}"/>
              </a:ext>
            </a:extLst>
          </p:cNvPr>
          <p:cNvSpPr>
            <a:spLocks xmlns:a="http://schemas.openxmlformats.org/drawingml/2006/main" noGrp="1"/>
          </p:cNvSpPr>
          <p:nvPr/>
        </p:nvSpPr>
        <p:spPr>
          <a:xfrm xmlns:a="http://schemas.openxmlformats.org/drawingml/2006/main">
            <a:off x="2228850" y="2886075"/>
            <a:ext cx="447675" cy="0"/>
          </a:xfrm>
          <a:prstGeom xmlns:a="http://schemas.openxmlformats.org/drawingml/2006/main" prst="line">
            <a:avLst/>
          </a:prstGeom>
          <a:noFill xmlns:a="http://schemas.openxmlformats.org/drawingml/2006/main"/>
          <a:ln xmlns:a="http://schemas.openxmlformats.org/drawingml/2006/main" w="19050">
            <a:solidFill>
              <a:srgbClr val="101010"/>
            </a:solidFill>
            <a:prstDash val="solid"/>
          </a:ln>
        </p:spPr>
      </p:sp>
      <p:sp>
        <p:nvSpPr>
          <p:cNvPr id="6" name="">
            <a:extLst xmlns:a="http://schemas.openxmlformats.org/drawingml/2006/main">
              <a:ext uri="{FF2B5EF4-FFF2-40B4-BE49-F238E27FC236}">
                <a16:creationId xmlns:a16="http://schemas.microsoft.com/office/drawing/2014/main" id="{F3E6FCD8-70C3-4707-A627-E115E5935877}"/>
              </a:ext>
            </a:extLst>
          </p:cNvPr>
          <p:cNvSpPr>
            <a:spLocks xmlns:a="http://schemas.openxmlformats.org/drawingml/2006/main" noGrp="1"/>
          </p:cNvSpPr>
          <p:nvPr/>
        </p:nvSpPr>
        <p:spPr>
          <a:xfrm xmlns:a="http://schemas.openxmlformats.org/drawingml/2006/main">
            <a:off x="400050" y="1828800"/>
            <a:ext cx="4191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ECE5FEF9-0E93-4DAF-BD1B-C6B4A98F35EE}"/>
              </a:ext>
            </a:extLst>
          </p:cNvPr>
          <p:cNvSpPr>
            <a:spLocks xmlns:a="http://schemas.openxmlformats.org/drawingml/2006/main" noGrp="1"/>
          </p:cNvSpPr>
          <p:nvPr/>
        </p:nvSpPr>
        <p:spPr>
          <a:xfrm xmlns:a="http://schemas.openxmlformats.org/drawingml/2006/main">
            <a:off x="400050" y="23431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1010"/>
                </a:solidFill>
                <a:latin typeface="Helvetica Neue"/>
                <a:ea typeface="Helvetica Neue"/>
                <a:cs typeface="Helvetica Neue"/>
              </a:defRPr>
            </a:pPr>
            <a:r>
              <a:rPr sz="1425" b="1">
                <a:solidFill>
                  <a:srgbClr val="101010"/>
                </a:solidFill>
                <a:latin typeface="Helvetica Neue"/>
                <a:ea typeface="Helvetica Neue"/>
                <a:cs typeface="Helvetica Neue"/>
              </a:rPr>
              <a:t>SUPPLIER</a:t>
            </a:r>
          </a:p>
        </p:txBody>
      </p:sp>
      <p:sp>
        <p:nvSpPr>
          <p:cNvPr id="8" name="">
            <a:extLst xmlns:a="http://schemas.openxmlformats.org/drawingml/2006/main">
              <a:ext uri="{FF2B5EF4-FFF2-40B4-BE49-F238E27FC236}">
                <a16:creationId xmlns:a16="http://schemas.microsoft.com/office/drawing/2014/main" id="{4DCEBB4D-EAC6-486C-AE85-64D3B37B9E9A}"/>
              </a:ext>
            </a:extLst>
          </p:cNvPr>
          <p:cNvSpPr>
            <a:spLocks xmlns:a="http://schemas.openxmlformats.org/drawingml/2006/main" noGrp="1"/>
          </p:cNvSpPr>
          <p:nvPr/>
        </p:nvSpPr>
        <p:spPr>
          <a:xfrm xmlns:a="http://schemas.openxmlformats.org/drawingml/2006/main">
            <a:off x="400050" y="3143250"/>
            <a:ext cx="180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Create authorized supplier record.</a:t>
            </a:r>
          </a:p>
        </p:txBody>
      </p:sp>
      <p:sp>
        <p:nvSpPr>
          <p:cNvPr id="9" name="">
            <a:extLst xmlns:a="http://schemas.openxmlformats.org/drawingml/2006/main">
              <a:ext uri="{FF2B5EF4-FFF2-40B4-BE49-F238E27FC236}">
                <a16:creationId xmlns:a16="http://schemas.microsoft.com/office/drawing/2014/main" id="{E4C61F89-1D46-49F7-B709-9BEEAD0A15BD}"/>
              </a:ext>
            </a:extLst>
          </p:cNvPr>
          <p:cNvSpPr>
            <a:spLocks xmlns:a="http://schemas.openxmlformats.org/drawingml/2006/main" noGrp="1"/>
          </p:cNvSpPr>
          <p:nvPr/>
        </p:nvSpPr>
        <p:spPr>
          <a:xfrm xmlns:a="http://schemas.openxmlformats.org/drawingml/2006/main">
            <a:off x="4505325" y="2886075"/>
            <a:ext cx="447675" cy="0"/>
          </a:xfrm>
          <a:prstGeom xmlns:a="http://schemas.openxmlformats.org/drawingml/2006/main" prst="line">
            <a:avLst/>
          </a:prstGeom>
          <a:noFill xmlns:a="http://schemas.openxmlformats.org/drawingml/2006/main"/>
          <a:ln xmlns:a="http://schemas.openxmlformats.org/drawingml/2006/main" w="19050">
            <a:solidFill>
              <a:srgbClr val="101010"/>
            </a:solidFill>
            <a:prstDash val="solid"/>
          </a:ln>
        </p:spPr>
      </p:sp>
      <p:sp>
        <p:nvSpPr>
          <p:cNvPr id="10" name="">
            <a:extLst xmlns:a="http://schemas.openxmlformats.org/drawingml/2006/main">
              <a:ext uri="{FF2B5EF4-FFF2-40B4-BE49-F238E27FC236}">
                <a16:creationId xmlns:a16="http://schemas.microsoft.com/office/drawing/2014/main" id="{C7DBE659-AE72-4EE0-BE28-508160244F8E}"/>
              </a:ext>
            </a:extLst>
          </p:cNvPr>
          <p:cNvSpPr>
            <a:spLocks xmlns:a="http://schemas.openxmlformats.org/drawingml/2006/main" noGrp="1"/>
          </p:cNvSpPr>
          <p:nvPr/>
        </p:nvSpPr>
        <p:spPr>
          <a:xfrm xmlns:a="http://schemas.openxmlformats.org/drawingml/2006/main">
            <a:off x="2676525" y="1828800"/>
            <a:ext cx="4191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A8517CE4-0C95-45CB-AED5-158755E3418F}"/>
              </a:ext>
            </a:extLst>
          </p:cNvPr>
          <p:cNvSpPr>
            <a:spLocks xmlns:a="http://schemas.openxmlformats.org/drawingml/2006/main" noGrp="1"/>
          </p:cNvSpPr>
          <p:nvPr/>
        </p:nvSpPr>
        <p:spPr>
          <a:xfrm xmlns:a="http://schemas.openxmlformats.org/drawingml/2006/main">
            <a:off x="2676525" y="23431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1010"/>
                </a:solidFill>
                <a:latin typeface="Helvetica Neue"/>
                <a:ea typeface="Helvetica Neue"/>
                <a:cs typeface="Helvetica Neue"/>
              </a:defRPr>
            </a:pPr>
            <a:r>
              <a:rPr sz="1425" b="1">
                <a:solidFill>
                  <a:srgbClr val="101010"/>
                </a:solidFill>
                <a:latin typeface="Helvetica Neue"/>
                <a:ea typeface="Helvetica Neue"/>
                <a:cs typeface="Helvetica Neue"/>
              </a:rPr>
              <a:t>PURCHASE ORDER</a:t>
            </a:r>
          </a:p>
        </p:txBody>
      </p:sp>
      <p:sp>
        <p:nvSpPr>
          <p:cNvPr id="12" name="">
            <a:extLst xmlns:a="http://schemas.openxmlformats.org/drawingml/2006/main">
              <a:ext uri="{FF2B5EF4-FFF2-40B4-BE49-F238E27FC236}">
                <a16:creationId xmlns:a16="http://schemas.microsoft.com/office/drawing/2014/main" id="{398BF14E-2EB0-4329-ACE6-2F6D1B79C746}"/>
              </a:ext>
            </a:extLst>
          </p:cNvPr>
          <p:cNvSpPr>
            <a:spLocks xmlns:a="http://schemas.openxmlformats.org/drawingml/2006/main" noGrp="1"/>
          </p:cNvSpPr>
          <p:nvPr/>
        </p:nvSpPr>
        <p:spPr>
          <a:xfrm xmlns:a="http://schemas.openxmlformats.org/drawingml/2006/main">
            <a:off x="2676525" y="3143250"/>
            <a:ext cx="180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Select SKUs, quantities and unit costs.</a:t>
            </a:r>
          </a:p>
        </p:txBody>
      </p:sp>
      <p:sp>
        <p:nvSpPr>
          <p:cNvPr id="13" name="">
            <a:extLst xmlns:a="http://schemas.openxmlformats.org/drawingml/2006/main">
              <a:ext uri="{FF2B5EF4-FFF2-40B4-BE49-F238E27FC236}">
                <a16:creationId xmlns:a16="http://schemas.microsoft.com/office/drawing/2014/main" id="{1BEB3C69-7496-4470-91A2-CE4EA27C73B8}"/>
              </a:ext>
            </a:extLst>
          </p:cNvPr>
          <p:cNvSpPr>
            <a:spLocks xmlns:a="http://schemas.openxmlformats.org/drawingml/2006/main" noGrp="1"/>
          </p:cNvSpPr>
          <p:nvPr/>
        </p:nvSpPr>
        <p:spPr>
          <a:xfrm xmlns:a="http://schemas.openxmlformats.org/drawingml/2006/main">
            <a:off x="6781800" y="2886075"/>
            <a:ext cx="447675" cy="0"/>
          </a:xfrm>
          <a:prstGeom xmlns:a="http://schemas.openxmlformats.org/drawingml/2006/main" prst="line">
            <a:avLst/>
          </a:prstGeom>
          <a:noFill xmlns:a="http://schemas.openxmlformats.org/drawingml/2006/main"/>
          <a:ln xmlns:a="http://schemas.openxmlformats.org/drawingml/2006/main" w="19050">
            <a:solidFill>
              <a:srgbClr val="101010"/>
            </a:solidFill>
            <a:prstDash val="solid"/>
          </a:ln>
        </p:spPr>
      </p:sp>
      <p:sp>
        <p:nvSpPr>
          <p:cNvPr id="14" name="">
            <a:extLst xmlns:a="http://schemas.openxmlformats.org/drawingml/2006/main">
              <a:ext uri="{FF2B5EF4-FFF2-40B4-BE49-F238E27FC236}">
                <a16:creationId xmlns:a16="http://schemas.microsoft.com/office/drawing/2014/main" id="{5CC8079D-E270-40FE-898C-3166C3478E66}"/>
              </a:ext>
            </a:extLst>
          </p:cNvPr>
          <p:cNvSpPr>
            <a:spLocks xmlns:a="http://schemas.openxmlformats.org/drawingml/2006/main" noGrp="1"/>
          </p:cNvSpPr>
          <p:nvPr/>
        </p:nvSpPr>
        <p:spPr>
          <a:xfrm xmlns:a="http://schemas.openxmlformats.org/drawingml/2006/main">
            <a:off x="4953000" y="1828800"/>
            <a:ext cx="4191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5E8C0AA4-4CE8-4D9B-AAAF-9648DBAC197B}"/>
              </a:ext>
            </a:extLst>
          </p:cNvPr>
          <p:cNvSpPr>
            <a:spLocks xmlns:a="http://schemas.openxmlformats.org/drawingml/2006/main" noGrp="1"/>
          </p:cNvSpPr>
          <p:nvPr/>
        </p:nvSpPr>
        <p:spPr>
          <a:xfrm xmlns:a="http://schemas.openxmlformats.org/drawingml/2006/main">
            <a:off x="4953000" y="23431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1010"/>
                </a:solidFill>
                <a:latin typeface="Helvetica Neue"/>
                <a:ea typeface="Helvetica Neue"/>
                <a:cs typeface="Helvetica Neue"/>
              </a:defRPr>
            </a:pPr>
            <a:r>
              <a:rPr sz="1425" b="1">
                <a:solidFill>
                  <a:srgbClr val="101010"/>
                </a:solidFill>
                <a:latin typeface="Helvetica Neue"/>
                <a:ea typeface="Helvetica Neue"/>
                <a:cs typeface="Helvetica Neue"/>
              </a:rPr>
              <a:t>OPEN</a:t>
            </a:r>
          </a:p>
        </p:txBody>
      </p:sp>
      <p:sp>
        <p:nvSpPr>
          <p:cNvPr id="16" name="">
            <a:extLst xmlns:a="http://schemas.openxmlformats.org/drawingml/2006/main">
              <a:ext uri="{FF2B5EF4-FFF2-40B4-BE49-F238E27FC236}">
                <a16:creationId xmlns:a16="http://schemas.microsoft.com/office/drawing/2014/main" id="{14DB2CD5-8682-4214-82F0-7A375A32F6EB}"/>
              </a:ext>
            </a:extLst>
          </p:cNvPr>
          <p:cNvSpPr>
            <a:spLocks xmlns:a="http://schemas.openxmlformats.org/drawingml/2006/main" noGrp="1"/>
          </p:cNvSpPr>
          <p:nvPr/>
        </p:nvSpPr>
        <p:spPr>
          <a:xfrm xmlns:a="http://schemas.openxmlformats.org/drawingml/2006/main">
            <a:off x="4953000" y="3143250"/>
            <a:ext cx="180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No stock change while goods are in transit.</a:t>
            </a:r>
          </a:p>
        </p:txBody>
      </p:sp>
      <p:sp>
        <p:nvSpPr>
          <p:cNvPr id="17" name="">
            <a:extLst xmlns:a="http://schemas.openxmlformats.org/drawingml/2006/main">
              <a:ext uri="{FF2B5EF4-FFF2-40B4-BE49-F238E27FC236}">
                <a16:creationId xmlns:a16="http://schemas.microsoft.com/office/drawing/2014/main" id="{CCDFF310-ECE2-4320-A47C-D3974DE1E240}"/>
              </a:ext>
            </a:extLst>
          </p:cNvPr>
          <p:cNvSpPr>
            <a:spLocks xmlns:a="http://schemas.openxmlformats.org/drawingml/2006/main" noGrp="1"/>
          </p:cNvSpPr>
          <p:nvPr/>
        </p:nvSpPr>
        <p:spPr>
          <a:xfrm xmlns:a="http://schemas.openxmlformats.org/drawingml/2006/main">
            <a:off x="9058275" y="2886075"/>
            <a:ext cx="447675" cy="0"/>
          </a:xfrm>
          <a:prstGeom xmlns:a="http://schemas.openxmlformats.org/drawingml/2006/main" prst="line">
            <a:avLst/>
          </a:prstGeom>
          <a:noFill xmlns:a="http://schemas.openxmlformats.org/drawingml/2006/main"/>
          <a:ln xmlns:a="http://schemas.openxmlformats.org/drawingml/2006/main" w="19050">
            <a:solidFill>
              <a:srgbClr val="101010"/>
            </a:solidFill>
            <a:prstDash val="solid"/>
          </a:ln>
        </p:spPr>
      </p:sp>
      <p:sp>
        <p:nvSpPr>
          <p:cNvPr id="18" name="">
            <a:extLst xmlns:a="http://schemas.openxmlformats.org/drawingml/2006/main">
              <a:ext uri="{FF2B5EF4-FFF2-40B4-BE49-F238E27FC236}">
                <a16:creationId xmlns:a16="http://schemas.microsoft.com/office/drawing/2014/main" id="{C30EDDB0-9953-43BA-8BBC-D3C60A3EA235}"/>
              </a:ext>
            </a:extLst>
          </p:cNvPr>
          <p:cNvSpPr>
            <a:spLocks xmlns:a="http://schemas.openxmlformats.org/drawingml/2006/main" noGrp="1"/>
          </p:cNvSpPr>
          <p:nvPr/>
        </p:nvSpPr>
        <p:spPr>
          <a:xfrm xmlns:a="http://schemas.openxmlformats.org/drawingml/2006/main">
            <a:off x="7229475" y="1828800"/>
            <a:ext cx="41910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4</a:t>
            </a:r>
          </a:p>
        </p:txBody>
      </p:sp>
      <p:sp>
        <p:nvSpPr>
          <p:cNvPr id="19" name="">
            <a:extLst xmlns:a="http://schemas.openxmlformats.org/drawingml/2006/main">
              <a:ext uri="{FF2B5EF4-FFF2-40B4-BE49-F238E27FC236}">
                <a16:creationId xmlns:a16="http://schemas.microsoft.com/office/drawing/2014/main" id="{2A302CC5-E7C8-47BF-AA2E-18848A3B2A04}"/>
              </a:ext>
            </a:extLst>
          </p:cNvPr>
          <p:cNvSpPr>
            <a:spLocks xmlns:a="http://schemas.openxmlformats.org/drawingml/2006/main" noGrp="1"/>
          </p:cNvSpPr>
          <p:nvPr/>
        </p:nvSpPr>
        <p:spPr>
          <a:xfrm xmlns:a="http://schemas.openxmlformats.org/drawingml/2006/main">
            <a:off x="7229475" y="23431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1010"/>
                </a:solidFill>
                <a:latin typeface="Helvetica Neue"/>
                <a:ea typeface="Helvetica Neue"/>
                <a:cs typeface="Helvetica Neue"/>
              </a:defRPr>
            </a:pPr>
            <a:r>
              <a:rPr sz="1425" b="1">
                <a:solidFill>
                  <a:srgbClr val="101010"/>
                </a:solidFill>
                <a:latin typeface="Helvetica Neue"/>
                <a:ea typeface="Helvetica Neue"/>
                <a:cs typeface="Helvetica Neue"/>
              </a:rPr>
              <a:t>RECEIVE</a:t>
            </a:r>
          </a:p>
        </p:txBody>
      </p:sp>
      <p:sp>
        <p:nvSpPr>
          <p:cNvPr id="20" name="">
            <a:extLst xmlns:a="http://schemas.openxmlformats.org/drawingml/2006/main">
              <a:ext uri="{FF2B5EF4-FFF2-40B4-BE49-F238E27FC236}">
                <a16:creationId xmlns:a16="http://schemas.microsoft.com/office/drawing/2014/main" id="{5EEE9070-62F4-4D0B-BF97-DEB4D2FE0300}"/>
              </a:ext>
            </a:extLst>
          </p:cNvPr>
          <p:cNvSpPr>
            <a:spLocks xmlns:a="http://schemas.openxmlformats.org/drawingml/2006/main" noGrp="1"/>
          </p:cNvSpPr>
          <p:nvPr/>
        </p:nvSpPr>
        <p:spPr>
          <a:xfrm xmlns:a="http://schemas.openxmlformats.org/drawingml/2006/main">
            <a:off x="7229475" y="3143250"/>
            <a:ext cx="180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Verify delivered quantity, then receive once.</a:t>
            </a:r>
          </a:p>
        </p:txBody>
      </p:sp>
      <p:sp>
        <p:nvSpPr>
          <p:cNvPr id="21" name="">
            <a:extLst xmlns:a="http://schemas.openxmlformats.org/drawingml/2006/main">
              <a:ext uri="{FF2B5EF4-FFF2-40B4-BE49-F238E27FC236}">
                <a16:creationId xmlns:a16="http://schemas.microsoft.com/office/drawing/2014/main" id="{C5C7C229-8292-4B20-B54E-6868CB4026E1}"/>
              </a:ext>
            </a:extLst>
          </p:cNvPr>
          <p:cNvSpPr>
            <a:spLocks xmlns:a="http://schemas.openxmlformats.org/drawingml/2006/main" noGrp="1"/>
          </p:cNvSpPr>
          <p:nvPr/>
        </p:nvSpPr>
        <p:spPr>
          <a:xfrm xmlns:a="http://schemas.openxmlformats.org/drawingml/2006/main">
            <a:off x="9505950" y="1828800"/>
            <a:ext cx="4191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5</a:t>
            </a:r>
          </a:p>
        </p:txBody>
      </p:sp>
      <p:sp>
        <p:nvSpPr>
          <p:cNvPr id="22" name="">
            <a:extLst xmlns:a="http://schemas.openxmlformats.org/drawingml/2006/main">
              <a:ext uri="{FF2B5EF4-FFF2-40B4-BE49-F238E27FC236}">
                <a16:creationId xmlns:a16="http://schemas.microsoft.com/office/drawing/2014/main" id="{21F6BA3A-4E45-43A5-AA24-E00423201D7B}"/>
              </a:ext>
            </a:extLst>
          </p:cNvPr>
          <p:cNvSpPr>
            <a:spLocks xmlns:a="http://schemas.openxmlformats.org/drawingml/2006/main" noGrp="1"/>
          </p:cNvSpPr>
          <p:nvPr/>
        </p:nvSpPr>
        <p:spPr>
          <a:xfrm xmlns:a="http://schemas.openxmlformats.org/drawingml/2006/main">
            <a:off x="9505950" y="2343150"/>
            <a:ext cx="18478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425" b="1">
                <a:solidFill>
                  <a:srgbClr val="101010"/>
                </a:solidFill>
                <a:latin typeface="Helvetica Neue"/>
                <a:ea typeface="Helvetica Neue"/>
                <a:cs typeface="Helvetica Neue"/>
              </a:defRPr>
            </a:pPr>
            <a:r>
              <a:rPr sz="1425" b="1">
                <a:solidFill>
                  <a:srgbClr val="101010"/>
                </a:solidFill>
                <a:latin typeface="Helvetica Neue"/>
                <a:ea typeface="Helvetica Neue"/>
                <a:cs typeface="Helvetica Neue"/>
              </a:rPr>
              <a:t>UPDATE</a:t>
            </a:r>
          </a:p>
        </p:txBody>
      </p:sp>
      <p:sp>
        <p:nvSpPr>
          <p:cNvPr id="23" name="">
            <a:extLst xmlns:a="http://schemas.openxmlformats.org/drawingml/2006/main">
              <a:ext uri="{FF2B5EF4-FFF2-40B4-BE49-F238E27FC236}">
                <a16:creationId xmlns:a16="http://schemas.microsoft.com/office/drawing/2014/main" id="{2916DF86-3CE9-497F-9811-B2A024463850}"/>
              </a:ext>
            </a:extLst>
          </p:cNvPr>
          <p:cNvSpPr>
            <a:spLocks xmlns:a="http://schemas.openxmlformats.org/drawingml/2006/main" noGrp="1"/>
          </p:cNvSpPr>
          <p:nvPr/>
        </p:nvSpPr>
        <p:spPr>
          <a:xfrm xmlns:a="http://schemas.openxmlformats.org/drawingml/2006/main">
            <a:off x="9505950" y="3143250"/>
            <a:ext cx="18097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Increase gadget stock and set latest unit cost.</a:t>
            </a:r>
          </a:p>
        </p:txBody>
      </p:sp>
      <p:sp>
        <p:nvSpPr>
          <p:cNvPr id="24" name="">
            <a:extLst xmlns:a="http://schemas.openxmlformats.org/drawingml/2006/main">
              <a:ext uri="{FF2B5EF4-FFF2-40B4-BE49-F238E27FC236}">
                <a16:creationId xmlns:a16="http://schemas.microsoft.com/office/drawing/2014/main" id="{1AEB1ABD-A474-4218-98D2-13877022070A}"/>
              </a:ext>
            </a:extLst>
          </p:cNvPr>
          <p:cNvSpPr>
            <a:spLocks xmlns:a="http://schemas.openxmlformats.org/drawingml/2006/main" noGrp="1"/>
          </p:cNvSpPr>
          <p:nvPr/>
        </p:nvSpPr>
        <p:spPr>
          <a:xfrm xmlns:a="http://schemas.openxmlformats.org/drawingml/2006/main">
            <a:off x="400050" y="4495800"/>
            <a:ext cx="112014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25" name="">
            <a:extLst xmlns:a="http://schemas.openxmlformats.org/drawingml/2006/main">
              <a:ext uri="{FF2B5EF4-FFF2-40B4-BE49-F238E27FC236}">
                <a16:creationId xmlns:a16="http://schemas.microsoft.com/office/drawing/2014/main" id="{44008EC1-5A14-41F0-B6C2-5C5D1E4DB6EB}"/>
              </a:ext>
            </a:extLst>
          </p:cNvPr>
          <p:cNvSpPr>
            <a:spLocks xmlns:a="http://schemas.openxmlformats.org/drawingml/2006/main" noGrp="1"/>
          </p:cNvSpPr>
          <p:nvPr/>
        </p:nvSpPr>
        <p:spPr>
          <a:xfrm xmlns:a="http://schemas.openxmlformats.org/drawingml/2006/main">
            <a:off x="400050" y="4743450"/>
            <a:ext cx="152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185"/>
          </a:bodyPr>
          <a:lstStyle xmlns:a="http://schemas.openxmlformats.org/drawingml/2006/main"/>
          <a:p xmlns:a="http://schemas.openxmlformats.org/drawingml/2006/main">
            <a:pPr algn="l">
              <a:defRPr sz="1350" b="1">
                <a:solidFill>
                  <a:srgbClr val="101010"/>
                </a:solidFill>
                <a:latin typeface="Helvetica Neue"/>
                <a:ea typeface="Helvetica Neue"/>
                <a:cs typeface="Helvetica Neue"/>
              </a:defRPr>
            </a:pPr>
            <a:r>
              <a:rPr sz="1350" b="1">
                <a:solidFill>
                  <a:srgbClr val="101010"/>
                </a:solidFill>
                <a:latin typeface="Helvetica Neue"/>
                <a:ea typeface="Helvetica Neue"/>
                <a:cs typeface="Helvetica Neue"/>
              </a:rPr>
              <a:t>Controls</a:t>
            </a:r>
          </a:p>
        </p:txBody>
      </p:sp>
      <p:sp>
        <p:nvSpPr>
          <p:cNvPr id="26" name="">
            <a:extLst xmlns:a="http://schemas.openxmlformats.org/drawingml/2006/main">
              <a:ext uri="{FF2B5EF4-FFF2-40B4-BE49-F238E27FC236}">
                <a16:creationId xmlns:a16="http://schemas.microsoft.com/office/drawing/2014/main" id="{0A7D9810-64EE-48D0-93FC-74F5F867EE6F}"/>
              </a:ext>
            </a:extLst>
          </p:cNvPr>
          <p:cNvSpPr>
            <a:spLocks xmlns:a="http://schemas.openxmlformats.org/drawingml/2006/main" noGrp="1"/>
          </p:cNvSpPr>
          <p:nvPr/>
        </p:nvSpPr>
        <p:spPr>
          <a:xfrm xmlns:a="http://schemas.openxmlformats.org/drawingml/2006/main">
            <a:off x="2133600" y="4705350"/>
            <a:ext cx="9239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Received or cancelled POs cannot be received again. PUBG accounts are added individually in Account Vault—not as anonymous purchase quantity.</a:t>
            </a:r>
          </a:p>
        </p:txBody>
      </p:sp>
    </p:spTree>
    <p:extLst>
      <p:ext uri="{BB962C8B-B14F-4D97-AF65-F5344CB8AC3E}">
        <p14:creationId xmlns:p14="http://schemas.microsoft.com/office/powerpoint/2010/main" val="1007378839"/>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9BDA0B16-6E8B-4A7B-9EE2-160FC76927A7}"/>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FINANCIAL CONTROL</a:t>
            </a:r>
          </a:p>
        </p:txBody>
      </p:sp>
      <p:sp>
        <p:nvSpPr>
          <p:cNvPr id="2" name="">
            <a:extLst xmlns:a="http://schemas.openxmlformats.org/drawingml/2006/main">
              <a:ext uri="{FF2B5EF4-FFF2-40B4-BE49-F238E27FC236}">
                <a16:creationId xmlns:a16="http://schemas.microsoft.com/office/drawing/2014/main" id="{D8016ACA-B2D5-4442-B76E-30B2C892AEE9}"/>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ERP &amp; Finance explains where profit comes from</a:t>
            </a:r>
          </a:p>
        </p:txBody>
      </p:sp>
      <p:sp>
        <p:nvSpPr>
          <p:cNvPr id="3" name="">
            <a:extLst xmlns:a="http://schemas.openxmlformats.org/drawingml/2006/main">
              <a:ext uri="{FF2B5EF4-FFF2-40B4-BE49-F238E27FC236}">
                <a16:creationId xmlns:a16="http://schemas.microsoft.com/office/drawing/2014/main" id="{DF9FAA89-E571-43A0-BF6A-F208C8CEF78A}"/>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DE68BF07-1669-4C8D-991F-F08940E428C1}"/>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15</a:t>
            </a:r>
          </a:p>
        </p:txBody>
      </p:sp>
      <p:sp>
        <p:nvSpPr>
          <p:cNvPr id="5" name="">
            <a:extLst xmlns:a="http://schemas.openxmlformats.org/drawingml/2006/main">
              <a:ext uri="{FF2B5EF4-FFF2-40B4-BE49-F238E27FC236}">
                <a16:creationId xmlns:a16="http://schemas.microsoft.com/office/drawing/2014/main" id="{9DB6EEB9-1BB5-4738-9AA6-FE093F7F731B}"/>
              </a:ext>
            </a:extLst>
          </p:cNvPr>
          <p:cNvSpPr>
            <a:spLocks xmlns:a="http://schemas.openxmlformats.org/drawingml/2006/main" noGrp="1"/>
          </p:cNvSpPr>
          <p:nvPr/>
        </p:nvSpPr>
        <p:spPr>
          <a:xfrm xmlns:a="http://schemas.openxmlformats.org/drawingml/2006/main">
            <a:off x="400050" y="1562100"/>
            <a:ext cx="6762750" cy="495300"/>
          </a:xfrm>
          <a:prstGeom xmlns:a="http://schemas.openxmlformats.org/drawingml/2006/main" prst="roundRect">
            <a:avLst>
              <a:gd name="adj" fmla="val 23077"/>
            </a:avLst>
          </a:prstGeom>
          <a:solidFill xmlns:a="http://schemas.openxmlformats.org/drawingml/2006/main">
            <a:srgbClr val="C7F36B"/>
          </a:solidFill>
          <a:ln xmlns:a="http://schemas.openxmlformats.org/drawingml/2006/main" w="9525">
            <a:solidFill>
              <a:srgbClr val="C7F36B"/>
            </a:solidFill>
            <a:prstDash val="solid"/>
          </a:ln>
        </p:spPr>
      </p:sp>
      <p:sp>
        <p:nvSpPr>
          <p:cNvPr id="6" name="">
            <a:extLst xmlns:a="http://schemas.openxmlformats.org/drawingml/2006/main">
              <a:ext uri="{FF2B5EF4-FFF2-40B4-BE49-F238E27FC236}">
                <a16:creationId xmlns:a16="http://schemas.microsoft.com/office/drawing/2014/main" id="{CAC0B7FE-6B04-4F2C-80C3-7061D53DFD76}"/>
              </a:ext>
            </a:extLst>
          </p:cNvPr>
          <p:cNvSpPr>
            <a:spLocks xmlns:a="http://schemas.openxmlformats.org/drawingml/2006/main" noGrp="1"/>
          </p:cNvSpPr>
          <p:nvPr/>
        </p:nvSpPr>
        <p:spPr>
          <a:xfrm xmlns:a="http://schemas.openxmlformats.org/drawingml/2006/main">
            <a:off x="590550" y="16954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defRPr sz="1275" b="1">
                <a:solidFill>
                  <a:srgbClr val="101010"/>
                </a:solidFill>
                <a:latin typeface="Helvetica Neue"/>
                <a:ea typeface="Helvetica Neue"/>
                <a:cs typeface="Helvetica Neue"/>
              </a:defRPr>
            </a:pPr>
            <a:r>
              <a:rPr sz="1275" b="1">
                <a:solidFill>
                  <a:srgbClr val="101010"/>
                </a:solidFill>
                <a:latin typeface="Helvetica Neue"/>
                <a:ea typeface="Helvetica Neue"/>
                <a:cs typeface="Helvetica Neue"/>
              </a:rPr>
              <a:t>VERIFIED SALES</a:t>
            </a:r>
          </a:p>
        </p:txBody>
      </p:sp>
      <p:sp>
        <p:nvSpPr>
          <p:cNvPr id="7" name="">
            <a:extLst xmlns:a="http://schemas.openxmlformats.org/drawingml/2006/main">
              <a:ext uri="{FF2B5EF4-FFF2-40B4-BE49-F238E27FC236}">
                <a16:creationId xmlns:a16="http://schemas.microsoft.com/office/drawing/2014/main" id="{3502830E-CAFC-4A32-A81B-5A44BCA449F3}"/>
              </a:ext>
            </a:extLst>
          </p:cNvPr>
          <p:cNvSpPr>
            <a:spLocks xmlns:a="http://schemas.openxmlformats.org/drawingml/2006/main" noGrp="1"/>
          </p:cNvSpPr>
          <p:nvPr/>
        </p:nvSpPr>
        <p:spPr>
          <a:xfrm xmlns:a="http://schemas.openxmlformats.org/drawingml/2006/main">
            <a:off x="3105150" y="1676400"/>
            <a:ext cx="3848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626262"/>
                </a:solidFill>
                <a:latin typeface="Helvetica Neue"/>
                <a:ea typeface="Helvetica Neue"/>
                <a:cs typeface="Helvetica Neue"/>
              </a:defRPr>
            </a:pPr>
            <a:r>
              <a:rPr sz="1125" b="0">
                <a:solidFill>
                  <a:srgbClr val="626262"/>
                </a:solidFill>
                <a:latin typeface="Helvetica Neue"/>
                <a:ea typeface="Helvetica Neue"/>
                <a:cs typeface="Helvetica Neue"/>
              </a:rPr>
              <a:t>Revenue from approved, completed commerce activity</a:t>
            </a:r>
          </a:p>
        </p:txBody>
      </p:sp>
      <p:sp>
        <p:nvSpPr>
          <p:cNvPr id="8" name="">
            <a:extLst xmlns:a="http://schemas.openxmlformats.org/drawingml/2006/main">
              <a:ext uri="{FF2B5EF4-FFF2-40B4-BE49-F238E27FC236}">
                <a16:creationId xmlns:a16="http://schemas.microsoft.com/office/drawing/2014/main" id="{5151EE59-7B3F-4337-A87D-9CCBF26F0764}"/>
              </a:ext>
            </a:extLst>
          </p:cNvPr>
          <p:cNvSpPr>
            <a:spLocks xmlns:a="http://schemas.openxmlformats.org/drawingml/2006/main" noGrp="1"/>
          </p:cNvSpPr>
          <p:nvPr/>
        </p:nvSpPr>
        <p:spPr>
          <a:xfrm xmlns:a="http://schemas.openxmlformats.org/drawingml/2006/main">
            <a:off x="400050" y="2209800"/>
            <a:ext cx="6762750" cy="495300"/>
          </a:xfrm>
          <a:prstGeom xmlns:a="http://schemas.openxmlformats.org/drawingml/2006/main" prst="roundRect">
            <a:avLst>
              <a:gd name="adj" fmla="val 23077"/>
            </a:avLst>
          </a:prstGeom>
          <a:solidFill xmlns:a="http://schemas.openxmlformats.org/drawingml/2006/main">
            <a:srgbClr val="E8E8E5"/>
          </a:solidFill>
          <a:ln xmlns:a="http://schemas.openxmlformats.org/drawingml/2006/main" w="9525">
            <a:solidFill>
              <a:srgbClr val="E8E8E5"/>
            </a:solidFill>
            <a:prstDash val="solid"/>
          </a:ln>
        </p:spPr>
      </p:sp>
      <p:sp>
        <p:nvSpPr>
          <p:cNvPr id="9" name="">
            <a:extLst xmlns:a="http://schemas.openxmlformats.org/drawingml/2006/main">
              <a:ext uri="{FF2B5EF4-FFF2-40B4-BE49-F238E27FC236}">
                <a16:creationId xmlns:a16="http://schemas.microsoft.com/office/drawing/2014/main" id="{7AB3B197-FBCD-4366-A8C9-CAEBD65E5AA4}"/>
              </a:ext>
            </a:extLst>
          </p:cNvPr>
          <p:cNvSpPr>
            <a:spLocks xmlns:a="http://schemas.openxmlformats.org/drawingml/2006/main" noGrp="1"/>
          </p:cNvSpPr>
          <p:nvPr/>
        </p:nvSpPr>
        <p:spPr>
          <a:xfrm xmlns:a="http://schemas.openxmlformats.org/drawingml/2006/main">
            <a:off x="590550" y="23431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defRPr sz="1275" b="1">
                <a:solidFill>
                  <a:srgbClr val="101010"/>
                </a:solidFill>
                <a:latin typeface="Helvetica Neue"/>
                <a:ea typeface="Helvetica Neue"/>
                <a:cs typeface="Helvetica Neue"/>
              </a:defRPr>
            </a:pPr>
            <a:r>
              <a:rPr sz="1275" b="1">
                <a:solidFill>
                  <a:srgbClr val="101010"/>
                </a:solidFill>
                <a:latin typeface="Helvetica Neue"/>
                <a:ea typeface="Helvetica Neue"/>
                <a:cs typeface="Helvetica Neue"/>
              </a:rPr>
              <a:t>− COST OF GOODS</a:t>
            </a:r>
          </a:p>
        </p:txBody>
      </p:sp>
      <p:sp>
        <p:nvSpPr>
          <p:cNvPr id="10" name="">
            <a:extLst xmlns:a="http://schemas.openxmlformats.org/drawingml/2006/main">
              <a:ext uri="{FF2B5EF4-FFF2-40B4-BE49-F238E27FC236}">
                <a16:creationId xmlns:a16="http://schemas.microsoft.com/office/drawing/2014/main" id="{923A1686-519A-48A2-814F-F551EC9FF23C}"/>
              </a:ext>
            </a:extLst>
          </p:cNvPr>
          <p:cNvSpPr>
            <a:spLocks xmlns:a="http://schemas.openxmlformats.org/drawingml/2006/main" noGrp="1"/>
          </p:cNvSpPr>
          <p:nvPr/>
        </p:nvSpPr>
        <p:spPr>
          <a:xfrm xmlns:a="http://schemas.openxmlformats.org/drawingml/2006/main">
            <a:off x="3105150" y="2324100"/>
            <a:ext cx="3848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626262"/>
                </a:solidFill>
                <a:latin typeface="Helvetica Neue"/>
                <a:ea typeface="Helvetica Neue"/>
                <a:cs typeface="Helvetica Neue"/>
              </a:defRPr>
            </a:pPr>
            <a:r>
              <a:rPr sz="1125" b="0">
                <a:solidFill>
                  <a:srgbClr val="626262"/>
                </a:solidFill>
                <a:latin typeface="Helvetica Neue"/>
                <a:ea typeface="Helvetica Neue"/>
                <a:cs typeface="Helvetica Neue"/>
              </a:rPr>
              <a:t>Stored unit cost for sold gadgets / accounts</a:t>
            </a:r>
          </a:p>
        </p:txBody>
      </p:sp>
      <p:sp>
        <p:nvSpPr>
          <p:cNvPr id="11" name="">
            <a:extLst xmlns:a="http://schemas.openxmlformats.org/drawingml/2006/main">
              <a:ext uri="{FF2B5EF4-FFF2-40B4-BE49-F238E27FC236}">
                <a16:creationId xmlns:a16="http://schemas.microsoft.com/office/drawing/2014/main" id="{2B6B68E1-6789-483F-B8BD-CB8D900E8341}"/>
              </a:ext>
            </a:extLst>
          </p:cNvPr>
          <p:cNvSpPr>
            <a:spLocks xmlns:a="http://schemas.openxmlformats.org/drawingml/2006/main" noGrp="1"/>
          </p:cNvSpPr>
          <p:nvPr/>
        </p:nvSpPr>
        <p:spPr>
          <a:xfrm xmlns:a="http://schemas.openxmlformats.org/drawingml/2006/main">
            <a:off x="400050" y="2857500"/>
            <a:ext cx="6762750" cy="495300"/>
          </a:xfrm>
          <a:prstGeom xmlns:a="http://schemas.openxmlformats.org/drawingml/2006/main" prst="roundRect">
            <a:avLst>
              <a:gd name="adj" fmla="val 23077"/>
            </a:avLst>
          </a:prstGeom>
          <a:solidFill xmlns:a="http://schemas.openxmlformats.org/drawingml/2006/main">
            <a:srgbClr val="DDE8FF"/>
          </a:solidFill>
          <a:ln xmlns:a="http://schemas.openxmlformats.org/drawingml/2006/main" w="9525">
            <a:solidFill>
              <a:srgbClr val="DDE8FF"/>
            </a:solidFill>
            <a:prstDash val="solid"/>
          </a:ln>
        </p:spPr>
      </p:sp>
      <p:sp>
        <p:nvSpPr>
          <p:cNvPr id="12" name="">
            <a:extLst xmlns:a="http://schemas.openxmlformats.org/drawingml/2006/main">
              <a:ext uri="{FF2B5EF4-FFF2-40B4-BE49-F238E27FC236}">
                <a16:creationId xmlns:a16="http://schemas.microsoft.com/office/drawing/2014/main" id="{55B910D8-8D89-4A39-8D07-0F55AAE202C3}"/>
              </a:ext>
            </a:extLst>
          </p:cNvPr>
          <p:cNvSpPr>
            <a:spLocks xmlns:a="http://schemas.openxmlformats.org/drawingml/2006/main" noGrp="1"/>
          </p:cNvSpPr>
          <p:nvPr/>
        </p:nvSpPr>
        <p:spPr>
          <a:xfrm xmlns:a="http://schemas.openxmlformats.org/drawingml/2006/main">
            <a:off x="590550" y="29908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defRPr sz="1275" b="1">
                <a:solidFill>
                  <a:srgbClr val="101010"/>
                </a:solidFill>
                <a:latin typeface="Helvetica Neue"/>
                <a:ea typeface="Helvetica Neue"/>
                <a:cs typeface="Helvetica Neue"/>
              </a:defRPr>
            </a:pPr>
            <a:r>
              <a:rPr sz="1275" b="1">
                <a:solidFill>
                  <a:srgbClr val="101010"/>
                </a:solidFill>
                <a:latin typeface="Helvetica Neue"/>
                <a:ea typeface="Helvetica Neue"/>
                <a:cs typeface="Helvetica Neue"/>
              </a:rPr>
              <a:t>= GROSS PROFIT</a:t>
            </a:r>
          </a:p>
        </p:txBody>
      </p:sp>
      <p:sp>
        <p:nvSpPr>
          <p:cNvPr id="13" name="">
            <a:extLst xmlns:a="http://schemas.openxmlformats.org/drawingml/2006/main">
              <a:ext uri="{FF2B5EF4-FFF2-40B4-BE49-F238E27FC236}">
                <a16:creationId xmlns:a16="http://schemas.microsoft.com/office/drawing/2014/main" id="{06EB1E5C-FF59-4A92-A11B-62C1CA276506}"/>
              </a:ext>
            </a:extLst>
          </p:cNvPr>
          <p:cNvSpPr>
            <a:spLocks xmlns:a="http://schemas.openxmlformats.org/drawingml/2006/main" noGrp="1"/>
          </p:cNvSpPr>
          <p:nvPr/>
        </p:nvSpPr>
        <p:spPr>
          <a:xfrm xmlns:a="http://schemas.openxmlformats.org/drawingml/2006/main">
            <a:off x="3105150" y="2971800"/>
            <a:ext cx="3848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626262"/>
                </a:solidFill>
                <a:latin typeface="Helvetica Neue"/>
                <a:ea typeface="Helvetica Neue"/>
                <a:cs typeface="Helvetica Neue"/>
              </a:defRPr>
            </a:pPr>
            <a:r>
              <a:rPr sz="1125" b="0">
                <a:solidFill>
                  <a:srgbClr val="626262"/>
                </a:solidFill>
                <a:latin typeface="Helvetica Neue"/>
                <a:ea typeface="Helvetica Neue"/>
                <a:cs typeface="Helvetica Neue"/>
              </a:rPr>
              <a:t>Trading margin before operating costs</a:t>
            </a:r>
          </a:p>
        </p:txBody>
      </p:sp>
      <p:sp>
        <p:nvSpPr>
          <p:cNvPr id="14" name="">
            <a:extLst xmlns:a="http://schemas.openxmlformats.org/drawingml/2006/main">
              <a:ext uri="{FF2B5EF4-FFF2-40B4-BE49-F238E27FC236}">
                <a16:creationId xmlns:a16="http://schemas.microsoft.com/office/drawing/2014/main" id="{03D5C70B-FC6F-4E60-9302-EFD4723CA069}"/>
              </a:ext>
            </a:extLst>
          </p:cNvPr>
          <p:cNvSpPr>
            <a:spLocks xmlns:a="http://schemas.openxmlformats.org/drawingml/2006/main" noGrp="1"/>
          </p:cNvSpPr>
          <p:nvPr/>
        </p:nvSpPr>
        <p:spPr>
          <a:xfrm xmlns:a="http://schemas.openxmlformats.org/drawingml/2006/main">
            <a:off x="400050" y="3505200"/>
            <a:ext cx="6762750" cy="495300"/>
          </a:xfrm>
          <a:prstGeom xmlns:a="http://schemas.openxmlformats.org/drawingml/2006/main" prst="roundRect">
            <a:avLst>
              <a:gd name="adj" fmla="val 23077"/>
            </a:avLst>
          </a:prstGeom>
          <a:solidFill xmlns:a="http://schemas.openxmlformats.org/drawingml/2006/main">
            <a:srgbClr val="FFF0E9"/>
          </a:solidFill>
          <a:ln xmlns:a="http://schemas.openxmlformats.org/drawingml/2006/main" w="9525">
            <a:solidFill>
              <a:srgbClr val="FFF0E9"/>
            </a:solidFill>
            <a:prstDash val="solid"/>
          </a:ln>
        </p:spPr>
      </p:sp>
      <p:sp>
        <p:nvSpPr>
          <p:cNvPr id="15" name="">
            <a:extLst xmlns:a="http://schemas.openxmlformats.org/drawingml/2006/main">
              <a:ext uri="{FF2B5EF4-FFF2-40B4-BE49-F238E27FC236}">
                <a16:creationId xmlns:a16="http://schemas.microsoft.com/office/drawing/2014/main" id="{8701C0BB-6586-4808-AF61-689F0AABEA74}"/>
              </a:ext>
            </a:extLst>
          </p:cNvPr>
          <p:cNvSpPr>
            <a:spLocks xmlns:a="http://schemas.openxmlformats.org/drawingml/2006/main" noGrp="1"/>
          </p:cNvSpPr>
          <p:nvPr/>
        </p:nvSpPr>
        <p:spPr>
          <a:xfrm xmlns:a="http://schemas.openxmlformats.org/drawingml/2006/main">
            <a:off x="590550" y="36385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defRPr sz="1275" b="1">
                <a:solidFill>
                  <a:srgbClr val="101010"/>
                </a:solidFill>
                <a:latin typeface="Helvetica Neue"/>
                <a:ea typeface="Helvetica Neue"/>
                <a:cs typeface="Helvetica Neue"/>
              </a:defRPr>
            </a:pPr>
            <a:r>
              <a:rPr sz="1275" b="1">
                <a:solidFill>
                  <a:srgbClr val="101010"/>
                </a:solidFill>
                <a:latin typeface="Helvetica Neue"/>
                <a:ea typeface="Helvetica Neue"/>
                <a:cs typeface="Helvetica Neue"/>
              </a:rPr>
              <a:t>− EXPENSES</a:t>
            </a:r>
          </a:p>
        </p:txBody>
      </p:sp>
      <p:sp>
        <p:nvSpPr>
          <p:cNvPr id="16" name="">
            <a:extLst xmlns:a="http://schemas.openxmlformats.org/drawingml/2006/main">
              <a:ext uri="{FF2B5EF4-FFF2-40B4-BE49-F238E27FC236}">
                <a16:creationId xmlns:a16="http://schemas.microsoft.com/office/drawing/2014/main" id="{67A0A20F-0825-4831-B485-A63AA0655CF9}"/>
              </a:ext>
            </a:extLst>
          </p:cNvPr>
          <p:cNvSpPr>
            <a:spLocks xmlns:a="http://schemas.openxmlformats.org/drawingml/2006/main" noGrp="1"/>
          </p:cNvSpPr>
          <p:nvPr/>
        </p:nvSpPr>
        <p:spPr>
          <a:xfrm xmlns:a="http://schemas.openxmlformats.org/drawingml/2006/main">
            <a:off x="3105150" y="3619500"/>
            <a:ext cx="3848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626262"/>
                </a:solidFill>
                <a:latin typeface="Helvetica Neue"/>
                <a:ea typeface="Helvetica Neue"/>
                <a:cs typeface="Helvetica Neue"/>
              </a:defRPr>
            </a:pPr>
            <a:r>
              <a:rPr sz="1125" b="0">
                <a:solidFill>
                  <a:srgbClr val="626262"/>
                </a:solidFill>
                <a:latin typeface="Helvetica Neue"/>
                <a:ea typeface="Helvetica Neue"/>
                <a:cs typeface="Helvetica Neue"/>
              </a:rPr>
              <a:t>Marketing, rent, tools and other operating costs</a:t>
            </a:r>
          </a:p>
        </p:txBody>
      </p:sp>
      <p:sp>
        <p:nvSpPr>
          <p:cNvPr id="17" name="">
            <a:extLst xmlns:a="http://schemas.openxmlformats.org/drawingml/2006/main">
              <a:ext uri="{FF2B5EF4-FFF2-40B4-BE49-F238E27FC236}">
                <a16:creationId xmlns:a16="http://schemas.microsoft.com/office/drawing/2014/main" id="{0EEF6E83-5DA7-4CAC-8F93-118D055F9702}"/>
              </a:ext>
            </a:extLst>
          </p:cNvPr>
          <p:cNvSpPr>
            <a:spLocks xmlns:a="http://schemas.openxmlformats.org/drawingml/2006/main" noGrp="1"/>
          </p:cNvSpPr>
          <p:nvPr/>
        </p:nvSpPr>
        <p:spPr>
          <a:xfrm xmlns:a="http://schemas.openxmlformats.org/drawingml/2006/main">
            <a:off x="400050" y="4152900"/>
            <a:ext cx="6762750" cy="495300"/>
          </a:xfrm>
          <a:prstGeom xmlns:a="http://schemas.openxmlformats.org/drawingml/2006/main" prst="roundRect">
            <a:avLst>
              <a:gd name="adj" fmla="val 23077"/>
            </a:avLst>
          </a:prstGeom>
          <a:solidFill xmlns:a="http://schemas.openxmlformats.org/drawingml/2006/main">
            <a:srgbClr val="FFF0E9"/>
          </a:solidFill>
          <a:ln xmlns:a="http://schemas.openxmlformats.org/drawingml/2006/main" w="9525">
            <a:solidFill>
              <a:srgbClr val="FFF0E9"/>
            </a:solidFill>
            <a:prstDash val="solid"/>
          </a:ln>
        </p:spPr>
      </p:sp>
      <p:sp>
        <p:nvSpPr>
          <p:cNvPr id="18" name="">
            <a:extLst xmlns:a="http://schemas.openxmlformats.org/drawingml/2006/main">
              <a:ext uri="{FF2B5EF4-FFF2-40B4-BE49-F238E27FC236}">
                <a16:creationId xmlns:a16="http://schemas.microsoft.com/office/drawing/2014/main" id="{16631317-913E-4077-880A-C5E7CBDF5C2F}"/>
              </a:ext>
            </a:extLst>
          </p:cNvPr>
          <p:cNvSpPr>
            <a:spLocks xmlns:a="http://schemas.openxmlformats.org/drawingml/2006/main" noGrp="1"/>
          </p:cNvSpPr>
          <p:nvPr/>
        </p:nvSpPr>
        <p:spPr>
          <a:xfrm xmlns:a="http://schemas.openxmlformats.org/drawingml/2006/main">
            <a:off x="590550" y="42862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defRPr sz="1275" b="1">
                <a:solidFill>
                  <a:srgbClr val="101010"/>
                </a:solidFill>
                <a:latin typeface="Helvetica Neue"/>
                <a:ea typeface="Helvetica Neue"/>
                <a:cs typeface="Helvetica Neue"/>
              </a:defRPr>
            </a:pPr>
            <a:r>
              <a:rPr sz="1275" b="1">
                <a:solidFill>
                  <a:srgbClr val="101010"/>
                </a:solidFill>
                <a:latin typeface="Helvetica Neue"/>
                <a:ea typeface="Helvetica Neue"/>
                <a:cs typeface="Helvetica Neue"/>
              </a:rPr>
              <a:t>− AFTER-SALES</a:t>
            </a:r>
          </a:p>
        </p:txBody>
      </p:sp>
      <p:sp>
        <p:nvSpPr>
          <p:cNvPr id="19" name="">
            <a:extLst xmlns:a="http://schemas.openxmlformats.org/drawingml/2006/main">
              <a:ext uri="{FF2B5EF4-FFF2-40B4-BE49-F238E27FC236}">
                <a16:creationId xmlns:a16="http://schemas.microsoft.com/office/drawing/2014/main" id="{3753AE2D-A4B0-47EF-8FD8-873108482653}"/>
              </a:ext>
            </a:extLst>
          </p:cNvPr>
          <p:cNvSpPr>
            <a:spLocks xmlns:a="http://schemas.openxmlformats.org/drawingml/2006/main" noGrp="1"/>
          </p:cNvSpPr>
          <p:nvPr/>
        </p:nvSpPr>
        <p:spPr>
          <a:xfrm xmlns:a="http://schemas.openxmlformats.org/drawingml/2006/main">
            <a:off x="3105150" y="4267200"/>
            <a:ext cx="3848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626262"/>
                </a:solidFill>
                <a:latin typeface="Helvetica Neue"/>
                <a:ea typeface="Helvetica Neue"/>
                <a:cs typeface="Helvetica Neue"/>
              </a:defRPr>
            </a:pPr>
            <a:r>
              <a:rPr sz="1125" b="0">
                <a:solidFill>
                  <a:srgbClr val="626262"/>
                </a:solidFill>
                <a:latin typeface="Helvetica Neue"/>
                <a:ea typeface="Helvetica Neue"/>
                <a:cs typeface="Helvetica Neue"/>
              </a:rPr>
              <a:t>Refund and warranty resolution costs</a:t>
            </a:r>
          </a:p>
        </p:txBody>
      </p:sp>
      <p:sp>
        <p:nvSpPr>
          <p:cNvPr id="20" name="">
            <a:extLst xmlns:a="http://schemas.openxmlformats.org/drawingml/2006/main">
              <a:ext uri="{FF2B5EF4-FFF2-40B4-BE49-F238E27FC236}">
                <a16:creationId xmlns:a16="http://schemas.microsoft.com/office/drawing/2014/main" id="{A7486EB5-C09D-4EAF-8DFE-7C71E68C8D14}"/>
              </a:ext>
            </a:extLst>
          </p:cNvPr>
          <p:cNvSpPr>
            <a:spLocks xmlns:a="http://schemas.openxmlformats.org/drawingml/2006/main" noGrp="1"/>
          </p:cNvSpPr>
          <p:nvPr/>
        </p:nvSpPr>
        <p:spPr>
          <a:xfrm xmlns:a="http://schemas.openxmlformats.org/drawingml/2006/main">
            <a:off x="400050" y="4800600"/>
            <a:ext cx="6762750" cy="495300"/>
          </a:xfrm>
          <a:prstGeom xmlns:a="http://schemas.openxmlformats.org/drawingml/2006/main" prst="roundRect">
            <a:avLst>
              <a:gd name="adj" fmla="val 23077"/>
            </a:avLst>
          </a:prstGeom>
          <a:solidFill xmlns:a="http://schemas.openxmlformats.org/drawingml/2006/main">
            <a:srgbClr val="FF6B35"/>
          </a:solidFill>
          <a:ln xmlns:a="http://schemas.openxmlformats.org/drawingml/2006/main" w="9525">
            <a:solidFill>
              <a:srgbClr val="FF6B35"/>
            </a:solidFill>
            <a:prstDash val="solid"/>
          </a:ln>
        </p:spPr>
      </p:sp>
      <p:sp>
        <p:nvSpPr>
          <p:cNvPr id="21" name="">
            <a:extLst xmlns:a="http://schemas.openxmlformats.org/drawingml/2006/main">
              <a:ext uri="{FF2B5EF4-FFF2-40B4-BE49-F238E27FC236}">
                <a16:creationId xmlns:a16="http://schemas.microsoft.com/office/drawing/2014/main" id="{4CB612ED-3826-48E5-AE20-877925798C17}"/>
              </a:ext>
            </a:extLst>
          </p:cNvPr>
          <p:cNvSpPr>
            <a:spLocks xmlns:a="http://schemas.openxmlformats.org/drawingml/2006/main" noGrp="1"/>
          </p:cNvSpPr>
          <p:nvPr/>
        </p:nvSpPr>
        <p:spPr>
          <a:xfrm xmlns:a="http://schemas.openxmlformats.org/drawingml/2006/main">
            <a:off x="590550" y="4933950"/>
            <a:ext cx="2476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0588"/>
          </a:bodyPr>
          <a:lstStyle xmlns:a="http://schemas.openxmlformats.org/drawingml/2006/main"/>
          <a:p xmlns:a="http://schemas.openxmlformats.org/drawingml/2006/main">
            <a:pPr algn="l">
              <a:defRPr sz="1275" b="1">
                <a:solidFill>
                  <a:srgbClr val="101010"/>
                </a:solidFill>
                <a:latin typeface="Helvetica Neue"/>
                <a:ea typeface="Helvetica Neue"/>
                <a:cs typeface="Helvetica Neue"/>
              </a:defRPr>
            </a:pPr>
            <a:r>
              <a:rPr sz="1275" b="1">
                <a:solidFill>
                  <a:srgbClr val="101010"/>
                </a:solidFill>
                <a:latin typeface="Helvetica Neue"/>
                <a:ea typeface="Helvetica Neue"/>
                <a:cs typeface="Helvetica Neue"/>
              </a:rPr>
              <a:t>= NET PROFIT</a:t>
            </a:r>
          </a:p>
        </p:txBody>
      </p:sp>
      <p:sp>
        <p:nvSpPr>
          <p:cNvPr id="22" name="">
            <a:extLst xmlns:a="http://schemas.openxmlformats.org/drawingml/2006/main">
              <a:ext uri="{FF2B5EF4-FFF2-40B4-BE49-F238E27FC236}">
                <a16:creationId xmlns:a16="http://schemas.microsoft.com/office/drawing/2014/main" id="{719DE9B2-6E50-4190-BCF8-7EAB81D4DD3C}"/>
              </a:ext>
            </a:extLst>
          </p:cNvPr>
          <p:cNvSpPr>
            <a:spLocks xmlns:a="http://schemas.openxmlformats.org/drawingml/2006/main" noGrp="1"/>
          </p:cNvSpPr>
          <p:nvPr/>
        </p:nvSpPr>
        <p:spPr>
          <a:xfrm xmlns:a="http://schemas.openxmlformats.org/drawingml/2006/main">
            <a:off x="3105150" y="4914900"/>
            <a:ext cx="3848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125" b="0">
                <a:solidFill>
                  <a:srgbClr val="626262"/>
                </a:solidFill>
                <a:latin typeface="Helvetica Neue"/>
                <a:ea typeface="Helvetica Neue"/>
                <a:cs typeface="Helvetica Neue"/>
              </a:defRPr>
            </a:pPr>
            <a:r>
              <a:rPr sz="1125" b="0">
                <a:solidFill>
                  <a:srgbClr val="626262"/>
                </a:solidFill>
                <a:latin typeface="Helvetica Neue"/>
                <a:ea typeface="Helvetica Neue"/>
                <a:cs typeface="Helvetica Neue"/>
              </a:rPr>
              <a:t>Business result for the selected period</a:t>
            </a:r>
          </a:p>
        </p:txBody>
      </p:sp>
      <p:sp>
        <p:nvSpPr>
          <p:cNvPr id="23" name="">
            <a:extLst xmlns:a="http://schemas.openxmlformats.org/drawingml/2006/main">
              <a:ext uri="{FF2B5EF4-FFF2-40B4-BE49-F238E27FC236}">
                <a16:creationId xmlns:a16="http://schemas.microsoft.com/office/drawing/2014/main" id="{1AF601FD-A6EF-456C-9CE7-991186CE6A68}"/>
              </a:ext>
            </a:extLst>
          </p:cNvPr>
          <p:cNvSpPr>
            <a:spLocks xmlns:a="http://schemas.openxmlformats.org/drawingml/2006/main" noGrp="1"/>
          </p:cNvSpPr>
          <p:nvPr/>
        </p:nvSpPr>
        <p:spPr>
          <a:xfrm xmlns:a="http://schemas.openxmlformats.org/drawingml/2006/main">
            <a:off x="7677150" y="1562100"/>
            <a:ext cx="3905250" cy="3733800"/>
          </a:xfrm>
          <a:prstGeom xmlns:a="http://schemas.openxmlformats.org/drawingml/2006/main" prst="roundRect">
            <a:avLst>
              <a:gd name="adj" fmla="val 4592"/>
            </a:avLst>
          </a:prstGeom>
          <a:solidFill xmlns:a="http://schemas.openxmlformats.org/drawingml/2006/main">
            <a:srgbClr val="171717"/>
          </a:solidFill>
          <a:ln xmlns:a="http://schemas.openxmlformats.org/drawingml/2006/main" w="9525">
            <a:solidFill>
              <a:srgbClr val="171717"/>
            </a:solidFill>
            <a:prstDash val="solid"/>
          </a:ln>
        </p:spPr>
      </p:sp>
      <p:sp>
        <p:nvSpPr>
          <p:cNvPr id="24" name="">
            <a:extLst xmlns:a="http://schemas.openxmlformats.org/drawingml/2006/main">
              <a:ext uri="{FF2B5EF4-FFF2-40B4-BE49-F238E27FC236}">
                <a16:creationId xmlns:a16="http://schemas.microsoft.com/office/drawing/2014/main" id="{EF2BA886-EB31-4004-A468-0C893EABC514}"/>
              </a:ext>
            </a:extLst>
          </p:cNvPr>
          <p:cNvSpPr>
            <a:spLocks xmlns:a="http://schemas.openxmlformats.org/drawingml/2006/main" noGrp="1"/>
          </p:cNvSpPr>
          <p:nvPr/>
        </p:nvSpPr>
        <p:spPr>
          <a:xfrm xmlns:a="http://schemas.openxmlformats.org/drawingml/2006/main">
            <a:off x="7924800" y="1809750"/>
            <a:ext cx="2857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5417"/>
          </a:bodyPr>
          <a:lstStyle xmlns:a="http://schemas.openxmlformats.org/drawingml/2006/main"/>
          <a:p xmlns:a="http://schemas.openxmlformats.org/drawingml/2006/main">
            <a:pPr algn="l">
              <a:defRPr sz="1200" b="1">
                <a:solidFill>
                  <a:srgbClr val="C7F36B"/>
                </a:solidFill>
                <a:latin typeface="Helvetica Neue"/>
                <a:ea typeface="Helvetica Neue"/>
                <a:cs typeface="Helvetica Neue"/>
              </a:defRPr>
            </a:pPr>
            <a:r>
              <a:rPr sz="1200" b="1">
                <a:solidFill>
                  <a:srgbClr val="C7F36B"/>
                </a:solidFill>
                <a:latin typeface="Helvetica Neue"/>
                <a:ea typeface="Helvetica Neue"/>
                <a:cs typeface="Helvetica Neue"/>
              </a:rPr>
              <a:t>FINANCIAL SNAPSHOT</a:t>
            </a:r>
          </a:p>
        </p:txBody>
      </p:sp>
      <p:sp>
        <p:nvSpPr>
          <p:cNvPr id="25" name="">
            <a:extLst xmlns:a="http://schemas.openxmlformats.org/drawingml/2006/main">
              <a:ext uri="{FF2B5EF4-FFF2-40B4-BE49-F238E27FC236}">
                <a16:creationId xmlns:a16="http://schemas.microsoft.com/office/drawing/2014/main" id="{E0B55881-5E9B-4DC1-BA24-6B92749764B7}"/>
              </a:ext>
            </a:extLst>
          </p:cNvPr>
          <p:cNvSpPr>
            <a:spLocks xmlns:a="http://schemas.openxmlformats.org/drawingml/2006/main" noGrp="1"/>
          </p:cNvSpPr>
          <p:nvPr/>
        </p:nvSpPr>
        <p:spPr>
          <a:xfrm xmlns:a="http://schemas.openxmlformats.org/drawingml/2006/main">
            <a:off x="7924800" y="2343150"/>
            <a:ext cx="3143250" cy="2152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Revenue</a:t>
            </a:r>
          </a:p>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Gross profit</a:t>
            </a:r>
          </a:p>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Expenses</a:t>
            </a:r>
          </a:p>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Net profit</a:t>
            </a:r>
          </a:p>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Inventory asset value</a:t>
            </a:r>
          </a:p>
          <a:p xmlns:a="http://schemas.openxmlformats.org/drawingml/2006/main">
            <a:pPr algn="l">
              <a:defRPr sz="1875" b="1">
                <a:solidFill>
                  <a:srgbClr val="FFFFFF"/>
                </a:solidFill>
                <a:latin typeface="Helvetica Neue"/>
                <a:ea typeface="Helvetica Neue"/>
                <a:cs typeface="Helvetica Neue"/>
              </a:defRPr>
            </a:pPr>
            <a:r>
              <a:rPr sz="1875" b="1">
                <a:solidFill>
                  <a:srgbClr val="FFFFFF"/>
                </a:solidFill>
                <a:latin typeface="Helvetica Neue"/>
                <a:ea typeface="Helvetica Neue"/>
                <a:cs typeface="Helvetica Neue"/>
              </a:rPr>
              <a:t>Open purchasing commitments</a:t>
            </a:r>
          </a:p>
        </p:txBody>
      </p:sp>
      <p:sp>
        <p:nvSpPr>
          <p:cNvPr id="26" name="">
            <a:extLst xmlns:a="http://schemas.openxmlformats.org/drawingml/2006/main">
              <a:ext uri="{FF2B5EF4-FFF2-40B4-BE49-F238E27FC236}">
                <a16:creationId xmlns:a16="http://schemas.microsoft.com/office/drawing/2014/main" id="{D4A8213B-EE31-4A8B-9A40-D7348EC883DB}"/>
              </a:ext>
            </a:extLst>
          </p:cNvPr>
          <p:cNvSpPr>
            <a:spLocks xmlns:a="http://schemas.openxmlformats.org/drawingml/2006/main" noGrp="1"/>
          </p:cNvSpPr>
          <p:nvPr/>
        </p:nvSpPr>
        <p:spPr>
          <a:xfrm xmlns:a="http://schemas.openxmlformats.org/drawingml/2006/main">
            <a:off x="7924800" y="4762500"/>
            <a:ext cx="3238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0000"/>
          </a:bodyPr>
          <a:lstStyle xmlns:a="http://schemas.openxmlformats.org/drawingml/2006/main"/>
          <a:p xmlns:a="http://schemas.openxmlformats.org/drawingml/2006/main">
            <a:pPr algn="l">
              <a:defRPr sz="1125" b="0">
                <a:solidFill>
                  <a:srgbClr val="D5D5D5"/>
                </a:solidFill>
                <a:latin typeface="Helvetica Neue"/>
                <a:ea typeface="Helvetica Neue"/>
                <a:cs typeface="Helvetica Neue"/>
              </a:defRPr>
            </a:pPr>
            <a:r>
              <a:rPr sz="1125" b="0">
                <a:solidFill>
                  <a:srgbClr val="D5D5D5"/>
                </a:solidFill>
                <a:latin typeface="Helvetica Neue"/>
                <a:ea typeface="Helvetica Neue"/>
                <a:cs typeface="Helvetica Neue"/>
              </a:rPr>
              <a:t>Delivery batch accounting is intentionally not part of this ERP model.</a:t>
            </a:r>
          </a:p>
        </p:txBody>
      </p:sp>
    </p:spTree>
    <p:extLst>
      <p:ext uri="{BB962C8B-B14F-4D97-AF65-F5344CB8AC3E}">
        <p14:creationId xmlns:p14="http://schemas.microsoft.com/office/powerpoint/2010/main" val="166950327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A9F8CAF-42D0-46ED-B221-8F6F49F7C20B}"/>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TELEGRAM &amp; INTEGRATIONS</a:t>
            </a:r>
          </a:p>
        </p:txBody>
      </p:sp>
      <p:sp>
        <p:nvSpPr>
          <p:cNvPr id="2" name="">
            <a:extLst xmlns:a="http://schemas.openxmlformats.org/drawingml/2006/main">
              <a:ext uri="{FF2B5EF4-FFF2-40B4-BE49-F238E27FC236}">
                <a16:creationId xmlns:a16="http://schemas.microsoft.com/office/drawing/2014/main" id="{3FC89593-C0E8-4CBE-B4E2-872579DCCF6C}"/>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Automation accelerates communication without bypassing controls</a:t>
            </a:r>
          </a:p>
        </p:txBody>
      </p:sp>
      <p:sp>
        <p:nvSpPr>
          <p:cNvPr id="3" name="">
            <a:extLst xmlns:a="http://schemas.openxmlformats.org/drawingml/2006/main">
              <a:ext uri="{FF2B5EF4-FFF2-40B4-BE49-F238E27FC236}">
                <a16:creationId xmlns:a16="http://schemas.microsoft.com/office/drawing/2014/main" id="{5A86A37C-7EA8-4C05-AEAC-59177EB222B3}"/>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C66D3987-DFF7-4138-9088-69807D80F7CD}"/>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16</a:t>
            </a:r>
          </a:p>
        </p:txBody>
      </p:sp>
      <p:sp>
        <p:nvSpPr>
          <p:cNvPr id="5" name="">
            <a:extLst xmlns:a="http://schemas.openxmlformats.org/drawingml/2006/main">
              <a:ext uri="{FF2B5EF4-FFF2-40B4-BE49-F238E27FC236}">
                <a16:creationId xmlns:a16="http://schemas.microsoft.com/office/drawing/2014/main" id="{2EF782B4-48A5-4356-B017-6DA7C38D7672}"/>
              </a:ext>
            </a:extLst>
          </p:cNvPr>
          <p:cNvSpPr>
            <a:spLocks xmlns:a="http://schemas.openxmlformats.org/drawingml/2006/main" noGrp="1"/>
          </p:cNvSpPr>
          <p:nvPr/>
        </p:nvSpPr>
        <p:spPr>
          <a:xfrm xmlns:a="http://schemas.openxmlformats.org/drawingml/2006/main">
            <a:off x="400050" y="1657350"/>
            <a:ext cx="3524250" cy="3752850"/>
          </a:xfrm>
          <a:prstGeom xmlns:a="http://schemas.openxmlformats.org/drawingml/2006/main" prst="roundRect">
            <a:avLst>
              <a:gd name="adj" fmla="val 4865"/>
            </a:avLst>
          </a:prstGeom>
          <a:solidFill xmlns:a="http://schemas.openxmlformats.org/drawingml/2006/main">
            <a:srgbClr val="F3F3F1"/>
          </a:solidFill>
          <a:ln xmlns:a="http://schemas.openxmlformats.org/drawingml/2006/main" w="9525">
            <a:solidFill>
              <a:srgbClr val="D9D9D5"/>
            </a:solidFill>
            <a:prstDash val="solid"/>
          </a:ln>
        </p:spPr>
      </p:sp>
      <p:sp>
        <p:nvSpPr>
          <p:cNvPr id="6" name="">
            <a:extLst xmlns:a="http://schemas.openxmlformats.org/drawingml/2006/main">
              <a:ext uri="{FF2B5EF4-FFF2-40B4-BE49-F238E27FC236}">
                <a16:creationId xmlns:a16="http://schemas.microsoft.com/office/drawing/2014/main" id="{8CDA11F3-AED5-48CA-AA3D-B67735E7203F}"/>
              </a:ext>
            </a:extLst>
          </p:cNvPr>
          <p:cNvSpPr>
            <a:spLocks xmlns:a="http://schemas.openxmlformats.org/drawingml/2006/main" noGrp="1"/>
          </p:cNvSpPr>
          <p:nvPr/>
        </p:nvSpPr>
        <p:spPr>
          <a:xfrm xmlns:a="http://schemas.openxmlformats.org/drawingml/2006/main">
            <a:off x="628650" y="1885950"/>
            <a:ext cx="120015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CUSTOMER BOT</a:t>
            </a:r>
          </a:p>
        </p:txBody>
      </p:sp>
      <p:sp>
        <p:nvSpPr>
          <p:cNvPr id="7" name="">
            <a:extLst xmlns:a="http://schemas.openxmlformats.org/drawingml/2006/main">
              <a:ext uri="{FF2B5EF4-FFF2-40B4-BE49-F238E27FC236}">
                <a16:creationId xmlns:a16="http://schemas.microsoft.com/office/drawing/2014/main" id="{1BA57564-37F7-4A0E-B49E-BCA13634BFBB}"/>
              </a:ext>
            </a:extLst>
          </p:cNvPr>
          <p:cNvSpPr>
            <a:spLocks xmlns:a="http://schemas.openxmlformats.org/drawingml/2006/main" noGrp="1"/>
          </p:cNvSpPr>
          <p:nvPr/>
        </p:nvSpPr>
        <p:spPr>
          <a:xfrm xmlns:a="http://schemas.openxmlformats.org/drawingml/2006/main">
            <a:off x="628650" y="2362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15"/>
          </a:bodyPr>
          <a:lstStyle xmlns:a="http://schemas.openxmlformats.org/drawingml/2006/main"/>
          <a:p xmlns:a="http://schemas.openxmlformats.org/drawingml/2006/main">
            <a:pPr algn="l">
              <a:defRPr sz="1950" b="1">
                <a:solidFill>
                  <a:srgbClr val="101010"/>
                </a:solidFill>
                <a:latin typeface="Helvetica Neue"/>
                <a:ea typeface="Helvetica Neue"/>
                <a:cs typeface="Helvetica Neue"/>
              </a:defRPr>
            </a:pPr>
            <a:r>
              <a:rPr sz="1950" b="1">
                <a:solidFill>
                  <a:srgbClr val="101010"/>
                </a:solidFill>
                <a:latin typeface="Helvetica Neue"/>
                <a:ea typeface="Helvetica Neue"/>
                <a:cs typeface="Helvetica Neue"/>
              </a:rPr>
              <a:t>@MhopAssistant</a:t>
            </a:r>
          </a:p>
        </p:txBody>
      </p:sp>
      <p:sp>
        <p:nvSpPr>
          <p:cNvPr id="8" name="">
            <a:extLst xmlns:a="http://schemas.openxmlformats.org/drawingml/2006/main">
              <a:ext uri="{FF2B5EF4-FFF2-40B4-BE49-F238E27FC236}">
                <a16:creationId xmlns:a16="http://schemas.microsoft.com/office/drawing/2014/main" id="{6280E8A2-B94B-448B-AC0C-371F5AF999DA}"/>
              </a:ext>
            </a:extLst>
          </p:cNvPr>
          <p:cNvSpPr>
            <a:spLocks xmlns:a="http://schemas.openxmlformats.org/drawingml/2006/main" noGrp="1"/>
          </p:cNvSpPr>
          <p:nvPr/>
        </p:nvSpPr>
        <p:spPr>
          <a:xfrm xmlns:a="http://schemas.openxmlformats.org/drawingml/2006/main">
            <a:off x="628650" y="3009900"/>
            <a:ext cx="281940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Catalog and availability</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Payment-slip acknowledgement</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Warranty lookup guidance</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Support handoff</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Friendly Burmese responses</a:t>
            </a:r>
          </a:p>
        </p:txBody>
      </p:sp>
      <p:sp>
        <p:nvSpPr>
          <p:cNvPr id="9" name="">
            <a:extLst xmlns:a="http://schemas.openxmlformats.org/drawingml/2006/main">
              <a:ext uri="{FF2B5EF4-FFF2-40B4-BE49-F238E27FC236}">
                <a16:creationId xmlns:a16="http://schemas.microsoft.com/office/drawing/2014/main" id="{1E8892ED-4DE6-4D70-A4EA-AEBA52A23A0F}"/>
              </a:ext>
            </a:extLst>
          </p:cNvPr>
          <p:cNvSpPr>
            <a:spLocks xmlns:a="http://schemas.openxmlformats.org/drawingml/2006/main" noGrp="1"/>
          </p:cNvSpPr>
          <p:nvPr/>
        </p:nvSpPr>
        <p:spPr>
          <a:xfrm xmlns:a="http://schemas.openxmlformats.org/drawingml/2006/main">
            <a:off x="4333875" y="1657350"/>
            <a:ext cx="3524250" cy="3752850"/>
          </a:xfrm>
          <a:prstGeom xmlns:a="http://schemas.openxmlformats.org/drawingml/2006/main" prst="roundRect">
            <a:avLst>
              <a:gd name="adj" fmla="val 4865"/>
            </a:avLst>
          </a:prstGeom>
          <a:solidFill xmlns:a="http://schemas.openxmlformats.org/drawingml/2006/main">
            <a:srgbClr val="EFF4FF"/>
          </a:solidFill>
          <a:ln xmlns:a="http://schemas.openxmlformats.org/drawingml/2006/main" w="9525">
            <a:solidFill>
              <a:srgbClr val="CDDDF8"/>
            </a:solidFill>
            <a:prstDash val="solid"/>
          </a:ln>
        </p:spPr>
      </p:sp>
      <p:sp>
        <p:nvSpPr>
          <p:cNvPr id="10" name="">
            <a:extLst xmlns:a="http://schemas.openxmlformats.org/drawingml/2006/main">
              <a:ext uri="{FF2B5EF4-FFF2-40B4-BE49-F238E27FC236}">
                <a16:creationId xmlns:a16="http://schemas.microsoft.com/office/drawing/2014/main" id="{A51C3174-9755-4D96-B2FC-3070A573F84F}"/>
              </a:ext>
            </a:extLst>
          </p:cNvPr>
          <p:cNvSpPr>
            <a:spLocks xmlns:a="http://schemas.openxmlformats.org/drawingml/2006/main" noGrp="1"/>
          </p:cNvSpPr>
          <p:nvPr/>
        </p:nvSpPr>
        <p:spPr>
          <a:xfrm xmlns:a="http://schemas.openxmlformats.org/drawingml/2006/main">
            <a:off x="4562475" y="1885950"/>
            <a:ext cx="1066800" cy="285750"/>
          </a:xfrm>
          <a:prstGeom xmlns:a="http://schemas.openxmlformats.org/drawingml/2006/main" prst="roundRect">
            <a:avLst>
              <a:gd name="adj" fmla="val 50000"/>
            </a:avLst>
          </a:prstGeom>
          <a:solidFill xmlns:a="http://schemas.openxmlformats.org/drawingml/2006/main">
            <a:srgbClr val="DDE8FF"/>
          </a:solidFill>
          <a:ln xmlns:a="http://schemas.openxmlformats.org/drawingml/2006/main" w="9525">
            <a:solidFill>
              <a:srgbClr val="DDE8FF"/>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OPERATIONS</a:t>
            </a:r>
          </a:p>
        </p:txBody>
      </p:sp>
      <p:sp>
        <p:nvSpPr>
          <p:cNvPr id="11" name="">
            <a:extLst xmlns:a="http://schemas.openxmlformats.org/drawingml/2006/main">
              <a:ext uri="{FF2B5EF4-FFF2-40B4-BE49-F238E27FC236}">
                <a16:creationId xmlns:a16="http://schemas.microsoft.com/office/drawing/2014/main" id="{F0FF9AAD-1F0B-4FF9-A4A5-891DE2690C85}"/>
              </a:ext>
            </a:extLst>
          </p:cNvPr>
          <p:cNvSpPr>
            <a:spLocks xmlns:a="http://schemas.openxmlformats.org/drawingml/2006/main" noGrp="1"/>
          </p:cNvSpPr>
          <p:nvPr/>
        </p:nvSpPr>
        <p:spPr>
          <a:xfrm xmlns:a="http://schemas.openxmlformats.org/drawingml/2006/main">
            <a:off x="4562475" y="2362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15"/>
          </a:bodyPr>
          <a:lstStyle xmlns:a="http://schemas.openxmlformats.org/drawingml/2006/main"/>
          <a:p xmlns:a="http://schemas.openxmlformats.org/drawingml/2006/main">
            <a:pPr algn="l">
              <a:defRPr sz="1950" b="1">
                <a:solidFill>
                  <a:srgbClr val="101010"/>
                </a:solidFill>
                <a:latin typeface="Helvetica Neue"/>
                <a:ea typeface="Helvetica Neue"/>
                <a:cs typeface="Helvetica Neue"/>
              </a:defRPr>
            </a:pPr>
            <a:r>
              <a:rPr sz="1950" b="1">
                <a:solidFill>
                  <a:srgbClr val="101010"/>
                </a:solidFill>
                <a:latin typeface="Helvetica Neue"/>
                <a:ea typeface="Helvetica Neue"/>
                <a:cs typeface="Helvetica Neue"/>
              </a:rPr>
              <a:t>Staff alerts</a:t>
            </a:r>
          </a:p>
        </p:txBody>
      </p:sp>
      <p:sp>
        <p:nvSpPr>
          <p:cNvPr id="12" name="">
            <a:extLst xmlns:a="http://schemas.openxmlformats.org/drawingml/2006/main">
              <a:ext uri="{FF2B5EF4-FFF2-40B4-BE49-F238E27FC236}">
                <a16:creationId xmlns:a16="http://schemas.microsoft.com/office/drawing/2014/main" id="{CA56FFE0-1BE9-476D-B293-96C0425823A4}"/>
              </a:ext>
            </a:extLst>
          </p:cNvPr>
          <p:cNvSpPr>
            <a:spLocks xmlns:a="http://schemas.openxmlformats.org/drawingml/2006/main" noGrp="1"/>
          </p:cNvSpPr>
          <p:nvPr/>
        </p:nvSpPr>
        <p:spPr>
          <a:xfrm xmlns:a="http://schemas.openxmlformats.org/drawingml/2006/main">
            <a:off x="4562475" y="3009900"/>
            <a:ext cx="281940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New orders and slips</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Low stock warnings</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Support and RMA events</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Daily 09:00 briefing</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Read / unread inbox</a:t>
            </a:r>
          </a:p>
        </p:txBody>
      </p:sp>
      <p:sp>
        <p:nvSpPr>
          <p:cNvPr id="13" name="">
            <a:extLst xmlns:a="http://schemas.openxmlformats.org/drawingml/2006/main">
              <a:ext uri="{FF2B5EF4-FFF2-40B4-BE49-F238E27FC236}">
                <a16:creationId xmlns:a16="http://schemas.microsoft.com/office/drawing/2014/main" id="{88437DA4-4678-4417-9D5F-6236D376064F}"/>
              </a:ext>
            </a:extLst>
          </p:cNvPr>
          <p:cNvSpPr>
            <a:spLocks xmlns:a="http://schemas.openxmlformats.org/drawingml/2006/main" noGrp="1"/>
          </p:cNvSpPr>
          <p:nvPr/>
        </p:nvSpPr>
        <p:spPr>
          <a:xfrm xmlns:a="http://schemas.openxmlformats.org/drawingml/2006/main">
            <a:off x="8267700" y="1657350"/>
            <a:ext cx="3524250" cy="3752850"/>
          </a:xfrm>
          <a:prstGeom xmlns:a="http://schemas.openxmlformats.org/drawingml/2006/main" prst="roundRect">
            <a:avLst>
              <a:gd name="adj" fmla="val 4865"/>
            </a:avLst>
          </a:prstGeom>
          <a:solidFill xmlns:a="http://schemas.openxmlformats.org/drawingml/2006/main">
            <a:srgbClr val="FFF2EC"/>
          </a:solidFill>
          <a:ln xmlns:a="http://schemas.openxmlformats.org/drawingml/2006/main" w="9525">
            <a:solidFill>
              <a:srgbClr val="FFD6C5"/>
            </a:solidFill>
            <a:prstDash val="solid"/>
          </a:ln>
        </p:spPr>
      </p:sp>
      <p:sp>
        <p:nvSpPr>
          <p:cNvPr id="14" name="">
            <a:extLst xmlns:a="http://schemas.openxmlformats.org/drawingml/2006/main">
              <a:ext uri="{FF2B5EF4-FFF2-40B4-BE49-F238E27FC236}">
                <a16:creationId xmlns:a16="http://schemas.microsoft.com/office/drawing/2014/main" id="{9B5C01BF-B709-47F2-9CB9-F642D2D4EC65}"/>
              </a:ext>
            </a:extLst>
          </p:cNvPr>
          <p:cNvSpPr>
            <a:spLocks xmlns:a="http://schemas.openxmlformats.org/drawingml/2006/main" noGrp="1"/>
          </p:cNvSpPr>
          <p:nvPr/>
        </p:nvSpPr>
        <p:spPr>
          <a:xfrm xmlns:a="http://schemas.openxmlformats.org/drawingml/2006/main">
            <a:off x="8496300" y="1885950"/>
            <a:ext cx="106680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INTEGRATION</a:t>
            </a:r>
          </a:p>
        </p:txBody>
      </p:sp>
      <p:sp>
        <p:nvSpPr>
          <p:cNvPr id="15" name="">
            <a:extLst xmlns:a="http://schemas.openxmlformats.org/drawingml/2006/main">
              <a:ext uri="{FF2B5EF4-FFF2-40B4-BE49-F238E27FC236}">
                <a16:creationId xmlns:a16="http://schemas.microsoft.com/office/drawing/2014/main" id="{8D79B51D-8885-4D35-91A9-C9F3126C352C}"/>
              </a:ext>
            </a:extLst>
          </p:cNvPr>
          <p:cNvSpPr>
            <a:spLocks xmlns:a="http://schemas.openxmlformats.org/drawingml/2006/main" noGrp="1"/>
          </p:cNvSpPr>
          <p:nvPr/>
        </p:nvSpPr>
        <p:spPr>
          <a:xfrm xmlns:a="http://schemas.openxmlformats.org/drawingml/2006/main">
            <a:off x="8496300" y="2362200"/>
            <a:ext cx="2857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4615"/>
          </a:bodyPr>
          <a:lstStyle xmlns:a="http://schemas.openxmlformats.org/drawingml/2006/main"/>
          <a:p xmlns:a="http://schemas.openxmlformats.org/drawingml/2006/main">
            <a:pPr algn="l">
              <a:defRPr sz="1950" b="1">
                <a:solidFill>
                  <a:srgbClr val="101010"/>
                </a:solidFill>
                <a:latin typeface="Helvetica Neue"/>
                <a:ea typeface="Helvetica Neue"/>
                <a:cs typeface="Helvetica Neue"/>
              </a:defRPr>
            </a:pPr>
            <a:r>
              <a:rPr sz="1950" b="1">
                <a:solidFill>
                  <a:srgbClr val="101010"/>
                </a:solidFill>
                <a:latin typeface="Helvetica Neue"/>
                <a:ea typeface="Helvetica Neue"/>
                <a:cs typeface="Helvetica Neue"/>
              </a:rPr>
              <a:t>n8n + live events</a:t>
            </a:r>
          </a:p>
        </p:txBody>
      </p:sp>
      <p:sp>
        <p:nvSpPr>
          <p:cNvPr id="16" name="">
            <a:extLst xmlns:a="http://schemas.openxmlformats.org/drawingml/2006/main">
              <a:ext uri="{FF2B5EF4-FFF2-40B4-BE49-F238E27FC236}">
                <a16:creationId xmlns:a16="http://schemas.microsoft.com/office/drawing/2014/main" id="{E7E60383-8B36-4389-81B6-7CB72263F48A}"/>
              </a:ext>
            </a:extLst>
          </p:cNvPr>
          <p:cNvSpPr>
            <a:spLocks xmlns:a="http://schemas.openxmlformats.org/drawingml/2006/main" noGrp="1"/>
          </p:cNvSpPr>
          <p:nvPr/>
        </p:nvSpPr>
        <p:spPr>
          <a:xfrm xmlns:a="http://schemas.openxmlformats.org/drawingml/2006/main">
            <a:off x="8496300" y="3009900"/>
            <a:ext cx="2819400" cy="1790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Signed webhook ingress</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Bearer-protected internal APIs</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Scheduled recovery / follow-up</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Server-Sent Event refresh</a:t>
            </a:r>
          </a:p>
          <a:p xmlns:a="http://schemas.openxmlformats.org/drawingml/2006/main">
            <a:pPr algn="l">
              <a:defRPr sz="1350" b="0">
                <a:solidFill>
                  <a:srgbClr val="626262"/>
                </a:solidFill>
                <a:latin typeface="Helvetica Neue"/>
                <a:ea typeface="Helvetica Neue"/>
                <a:cs typeface="Helvetica Neue"/>
              </a:defRPr>
            </a:pPr>
            <a:r>
              <a:rPr sz="1350" b="0">
                <a:solidFill>
                  <a:srgbClr val="626262"/>
                </a:solidFill>
                <a:latin typeface="Helvetica Neue"/>
                <a:ea typeface="Helvetica Neue"/>
                <a:cs typeface="Helvetica Neue"/>
              </a:rPr>
              <a:t>• System audit trail</a:t>
            </a:r>
          </a:p>
        </p:txBody>
      </p:sp>
    </p:spTree>
    <p:extLst>
      <p:ext uri="{BB962C8B-B14F-4D97-AF65-F5344CB8AC3E}">
        <p14:creationId xmlns:p14="http://schemas.microsoft.com/office/powerpoint/2010/main" val="796217708"/>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AFFB6E66-9754-42FE-9D1D-2CE1E8F7B910}"/>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COMMERCIAL CONTENT</a:t>
            </a:r>
          </a:p>
        </p:txBody>
      </p:sp>
      <p:sp>
        <p:nvSpPr>
          <p:cNvPr id="2" name="">
            <a:extLst xmlns:a="http://schemas.openxmlformats.org/drawingml/2006/main">
              <a:ext uri="{FF2B5EF4-FFF2-40B4-BE49-F238E27FC236}">
                <a16:creationId xmlns:a16="http://schemas.microsoft.com/office/drawing/2014/main" id="{10406E7B-5F25-4DCB-9B4C-90D3CA51F234}"/>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AI Creative Studio turns stock data into campaign-ready prompts</a:t>
            </a:r>
          </a:p>
        </p:txBody>
      </p:sp>
      <p:sp>
        <p:nvSpPr>
          <p:cNvPr id="3" name="">
            <a:extLst xmlns:a="http://schemas.openxmlformats.org/drawingml/2006/main">
              <a:ext uri="{FF2B5EF4-FFF2-40B4-BE49-F238E27FC236}">
                <a16:creationId xmlns:a16="http://schemas.microsoft.com/office/drawing/2014/main" id="{80DF3CF7-A919-44F8-AC3A-DED4A584A9A9}"/>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BEF4DFA8-84C3-4E47-AECE-0026218408D6}"/>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17</a:t>
            </a:r>
          </a:p>
        </p:txBody>
      </p:sp>
      <p:sp>
        <p:nvSpPr>
          <p:cNvPr id="5" name="">
            <a:extLst xmlns:a="http://schemas.openxmlformats.org/drawingml/2006/main">
              <a:ext uri="{FF2B5EF4-FFF2-40B4-BE49-F238E27FC236}">
                <a16:creationId xmlns:a16="http://schemas.microsoft.com/office/drawing/2014/main" id="{8889E774-7820-49F7-8F0A-34B940A46AA8}"/>
              </a:ext>
            </a:extLst>
          </p:cNvPr>
          <p:cNvSpPr>
            <a:spLocks xmlns:a="http://schemas.openxmlformats.org/drawingml/2006/main" noGrp="1"/>
          </p:cNvSpPr>
          <p:nvPr/>
        </p:nvSpPr>
        <p:spPr>
          <a:xfrm xmlns:a="http://schemas.openxmlformats.org/drawingml/2006/main">
            <a:off x="400050" y="1752600"/>
            <a:ext cx="2667000" cy="2438400"/>
          </a:xfrm>
          <a:prstGeom xmlns:a="http://schemas.openxmlformats.org/drawingml/2006/main" prst="roundRect">
            <a:avLst>
              <a:gd name="adj" fmla="val 6250"/>
            </a:avLst>
          </a:prstGeom>
          <a:solidFill xmlns:a="http://schemas.openxmlformats.org/drawingml/2006/main">
            <a:srgbClr val="F3F3F1"/>
          </a:solidFill>
          <a:ln xmlns:a="http://schemas.openxmlformats.org/drawingml/2006/main" w="9525">
            <a:solidFill>
              <a:srgbClr val="D9D9D5"/>
            </a:solidFill>
            <a:prstDash val="solid"/>
          </a:ln>
        </p:spPr>
      </p:sp>
      <p:sp>
        <p:nvSpPr>
          <p:cNvPr id="6" name="">
            <a:extLst xmlns:a="http://schemas.openxmlformats.org/drawingml/2006/main">
              <a:ext uri="{FF2B5EF4-FFF2-40B4-BE49-F238E27FC236}">
                <a16:creationId xmlns:a16="http://schemas.microsoft.com/office/drawing/2014/main" id="{37F4CBD2-79D6-4909-BEDA-B1A816954CBC}"/>
              </a:ext>
            </a:extLst>
          </p:cNvPr>
          <p:cNvSpPr>
            <a:spLocks xmlns:a="http://schemas.openxmlformats.org/drawingml/2006/main" noGrp="1"/>
          </p:cNvSpPr>
          <p:nvPr/>
        </p:nvSpPr>
        <p:spPr>
          <a:xfrm xmlns:a="http://schemas.openxmlformats.org/drawingml/2006/main">
            <a:off x="590550" y="1924050"/>
            <a:ext cx="4953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01</a:t>
            </a:r>
          </a:p>
        </p:txBody>
      </p:sp>
      <p:sp>
        <p:nvSpPr>
          <p:cNvPr id="7" name="">
            <a:extLst xmlns:a="http://schemas.openxmlformats.org/drawingml/2006/main">
              <a:ext uri="{FF2B5EF4-FFF2-40B4-BE49-F238E27FC236}">
                <a16:creationId xmlns:a16="http://schemas.microsoft.com/office/drawing/2014/main" id="{D376F410-9627-4FB0-BBCE-C1F7D095C459}"/>
              </a:ext>
            </a:extLst>
          </p:cNvPr>
          <p:cNvSpPr>
            <a:spLocks xmlns:a="http://schemas.openxmlformats.org/drawingml/2006/main" noGrp="1"/>
          </p:cNvSpPr>
          <p:nvPr/>
        </p:nvSpPr>
        <p:spPr>
          <a:xfrm xmlns:a="http://schemas.openxmlformats.org/drawingml/2006/main">
            <a:off x="590550" y="2343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SELECT</a:t>
            </a:r>
          </a:p>
        </p:txBody>
      </p:sp>
      <p:sp>
        <p:nvSpPr>
          <p:cNvPr id="8" name="">
            <a:extLst xmlns:a="http://schemas.openxmlformats.org/drawingml/2006/main">
              <a:ext uri="{FF2B5EF4-FFF2-40B4-BE49-F238E27FC236}">
                <a16:creationId xmlns:a16="http://schemas.microsoft.com/office/drawing/2014/main" id="{6561E4A9-2227-4390-A95A-BAA773BD5EEC}"/>
              </a:ext>
            </a:extLst>
          </p:cNvPr>
          <p:cNvSpPr>
            <a:spLocks xmlns:a="http://schemas.openxmlformats.org/drawingml/2006/main" noGrp="1"/>
          </p:cNvSpPr>
          <p:nvPr/>
        </p:nvSpPr>
        <p:spPr>
          <a:xfrm xmlns:a="http://schemas.openxmlformats.org/drawingml/2006/main">
            <a:off x="590550" y="2743200"/>
            <a:ext cx="22860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Choose a live physical gadget from Products &amp; Stock.</a:t>
            </a:r>
          </a:p>
        </p:txBody>
      </p:sp>
      <p:sp>
        <p:nvSpPr>
          <p:cNvPr id="9" name="">
            <a:extLst xmlns:a="http://schemas.openxmlformats.org/drawingml/2006/main">
              <a:ext uri="{FF2B5EF4-FFF2-40B4-BE49-F238E27FC236}">
                <a16:creationId xmlns:a16="http://schemas.microsoft.com/office/drawing/2014/main" id="{177FD9DA-A7F5-49EB-A123-4CF921F8C07F}"/>
              </a:ext>
            </a:extLst>
          </p:cNvPr>
          <p:cNvSpPr>
            <a:spLocks xmlns:a="http://schemas.openxmlformats.org/drawingml/2006/main" noGrp="1"/>
          </p:cNvSpPr>
          <p:nvPr/>
        </p:nvSpPr>
        <p:spPr>
          <a:xfrm xmlns:a="http://schemas.openxmlformats.org/drawingml/2006/main">
            <a:off x="3267075" y="1752600"/>
            <a:ext cx="2667000" cy="2438400"/>
          </a:xfrm>
          <a:prstGeom xmlns:a="http://schemas.openxmlformats.org/drawingml/2006/main" prst="roundRect">
            <a:avLst>
              <a:gd name="adj" fmla="val 6250"/>
            </a:avLst>
          </a:prstGeom>
          <a:solidFill xmlns:a="http://schemas.openxmlformats.org/drawingml/2006/main">
            <a:srgbClr val="F3F3F1"/>
          </a:solidFill>
          <a:ln xmlns:a="http://schemas.openxmlformats.org/drawingml/2006/main" w="9525">
            <a:solidFill>
              <a:srgbClr val="D9D9D5"/>
            </a:solidFill>
            <a:prstDash val="solid"/>
          </a:ln>
        </p:spPr>
      </p:sp>
      <p:sp>
        <p:nvSpPr>
          <p:cNvPr id="10" name="">
            <a:extLst xmlns:a="http://schemas.openxmlformats.org/drawingml/2006/main">
              <a:ext uri="{FF2B5EF4-FFF2-40B4-BE49-F238E27FC236}">
                <a16:creationId xmlns:a16="http://schemas.microsoft.com/office/drawing/2014/main" id="{D0588D02-CB7F-4BB3-AAE2-64A394E2E4AE}"/>
              </a:ext>
            </a:extLst>
          </p:cNvPr>
          <p:cNvSpPr>
            <a:spLocks xmlns:a="http://schemas.openxmlformats.org/drawingml/2006/main" noGrp="1"/>
          </p:cNvSpPr>
          <p:nvPr/>
        </p:nvSpPr>
        <p:spPr>
          <a:xfrm xmlns:a="http://schemas.openxmlformats.org/drawingml/2006/main">
            <a:off x="3457575" y="1924050"/>
            <a:ext cx="4953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02</a:t>
            </a:r>
          </a:p>
        </p:txBody>
      </p:sp>
      <p:sp>
        <p:nvSpPr>
          <p:cNvPr id="11" name="">
            <a:extLst xmlns:a="http://schemas.openxmlformats.org/drawingml/2006/main">
              <a:ext uri="{FF2B5EF4-FFF2-40B4-BE49-F238E27FC236}">
                <a16:creationId xmlns:a16="http://schemas.microsoft.com/office/drawing/2014/main" id="{65EDDFB5-CF71-4B86-ADA9-F5494EF1F236}"/>
              </a:ext>
            </a:extLst>
          </p:cNvPr>
          <p:cNvSpPr>
            <a:spLocks xmlns:a="http://schemas.openxmlformats.org/drawingml/2006/main" noGrp="1"/>
          </p:cNvSpPr>
          <p:nvPr/>
        </p:nvSpPr>
        <p:spPr>
          <a:xfrm xmlns:a="http://schemas.openxmlformats.org/drawingml/2006/main">
            <a:off x="3457575" y="2343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DIRECT</a:t>
            </a:r>
          </a:p>
        </p:txBody>
      </p:sp>
      <p:sp>
        <p:nvSpPr>
          <p:cNvPr id="12" name="">
            <a:extLst xmlns:a="http://schemas.openxmlformats.org/drawingml/2006/main">
              <a:ext uri="{FF2B5EF4-FFF2-40B4-BE49-F238E27FC236}">
                <a16:creationId xmlns:a16="http://schemas.microsoft.com/office/drawing/2014/main" id="{694BA0BD-00E2-4922-9093-19A977A831E3}"/>
              </a:ext>
            </a:extLst>
          </p:cNvPr>
          <p:cNvSpPr>
            <a:spLocks xmlns:a="http://schemas.openxmlformats.org/drawingml/2006/main" noGrp="1"/>
          </p:cNvSpPr>
          <p:nvPr/>
        </p:nvSpPr>
        <p:spPr>
          <a:xfrm xmlns:a="http://schemas.openxmlformats.org/drawingml/2006/main">
            <a:off x="3457575" y="2743200"/>
            <a:ext cx="22860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Pick a commercial shortcut, channel, crop, audience, offer and CTA.</a:t>
            </a:r>
          </a:p>
        </p:txBody>
      </p:sp>
      <p:sp>
        <p:nvSpPr>
          <p:cNvPr id="13" name="">
            <a:extLst xmlns:a="http://schemas.openxmlformats.org/drawingml/2006/main">
              <a:ext uri="{FF2B5EF4-FFF2-40B4-BE49-F238E27FC236}">
                <a16:creationId xmlns:a16="http://schemas.microsoft.com/office/drawing/2014/main" id="{C045505F-C3E6-4BD1-8FC2-3B44F55E2A26}"/>
              </a:ext>
            </a:extLst>
          </p:cNvPr>
          <p:cNvSpPr>
            <a:spLocks xmlns:a="http://schemas.openxmlformats.org/drawingml/2006/main" noGrp="1"/>
          </p:cNvSpPr>
          <p:nvPr/>
        </p:nvSpPr>
        <p:spPr>
          <a:xfrm xmlns:a="http://schemas.openxmlformats.org/drawingml/2006/main">
            <a:off x="6134100" y="1752600"/>
            <a:ext cx="2667000" cy="2438400"/>
          </a:xfrm>
          <a:prstGeom xmlns:a="http://schemas.openxmlformats.org/drawingml/2006/main" prst="roundRect">
            <a:avLst>
              <a:gd name="adj" fmla="val 6250"/>
            </a:avLst>
          </a:prstGeom>
          <a:solidFill xmlns:a="http://schemas.openxmlformats.org/drawingml/2006/main">
            <a:srgbClr val="F3F3F1"/>
          </a:solidFill>
          <a:ln xmlns:a="http://schemas.openxmlformats.org/drawingml/2006/main" w="9525">
            <a:solidFill>
              <a:srgbClr val="D9D9D5"/>
            </a:solidFill>
            <a:prstDash val="solid"/>
          </a:ln>
        </p:spPr>
      </p:sp>
      <p:sp>
        <p:nvSpPr>
          <p:cNvPr id="14" name="">
            <a:extLst xmlns:a="http://schemas.openxmlformats.org/drawingml/2006/main">
              <a:ext uri="{FF2B5EF4-FFF2-40B4-BE49-F238E27FC236}">
                <a16:creationId xmlns:a16="http://schemas.microsoft.com/office/drawing/2014/main" id="{540F32CE-2637-43AB-8D74-96DCA38A3A26}"/>
              </a:ext>
            </a:extLst>
          </p:cNvPr>
          <p:cNvSpPr>
            <a:spLocks xmlns:a="http://schemas.openxmlformats.org/drawingml/2006/main" noGrp="1"/>
          </p:cNvSpPr>
          <p:nvPr/>
        </p:nvSpPr>
        <p:spPr>
          <a:xfrm xmlns:a="http://schemas.openxmlformats.org/drawingml/2006/main">
            <a:off x="6324600" y="1924050"/>
            <a:ext cx="49530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03</a:t>
            </a:r>
          </a:p>
        </p:txBody>
      </p:sp>
      <p:sp>
        <p:nvSpPr>
          <p:cNvPr id="15" name="">
            <a:extLst xmlns:a="http://schemas.openxmlformats.org/drawingml/2006/main">
              <a:ext uri="{FF2B5EF4-FFF2-40B4-BE49-F238E27FC236}">
                <a16:creationId xmlns:a16="http://schemas.microsoft.com/office/drawing/2014/main" id="{1F8FBC00-EF2C-4EBA-B2C1-63F25E655B46}"/>
              </a:ext>
            </a:extLst>
          </p:cNvPr>
          <p:cNvSpPr>
            <a:spLocks xmlns:a="http://schemas.openxmlformats.org/drawingml/2006/main" noGrp="1"/>
          </p:cNvSpPr>
          <p:nvPr/>
        </p:nvSpPr>
        <p:spPr>
          <a:xfrm xmlns:a="http://schemas.openxmlformats.org/drawingml/2006/main">
            <a:off x="6324600" y="2343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COPY</a:t>
            </a:r>
          </a:p>
        </p:txBody>
      </p:sp>
      <p:sp>
        <p:nvSpPr>
          <p:cNvPr id="16" name="">
            <a:extLst xmlns:a="http://schemas.openxmlformats.org/drawingml/2006/main">
              <a:ext uri="{FF2B5EF4-FFF2-40B4-BE49-F238E27FC236}">
                <a16:creationId xmlns:a16="http://schemas.microsoft.com/office/drawing/2014/main" id="{72B7EC5B-7372-45D4-9D29-4E089A2AEB54}"/>
              </a:ext>
            </a:extLst>
          </p:cNvPr>
          <p:cNvSpPr>
            <a:spLocks xmlns:a="http://schemas.openxmlformats.org/drawingml/2006/main" noGrp="1"/>
          </p:cNvSpPr>
          <p:nvPr/>
        </p:nvSpPr>
        <p:spPr>
          <a:xfrm xmlns:a="http://schemas.openxmlformats.org/drawingml/2006/main">
            <a:off x="6324600" y="2743200"/>
            <a:ext cx="22860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Open the catalog image and copy the generated master prompt.</a:t>
            </a:r>
          </a:p>
        </p:txBody>
      </p:sp>
      <p:sp>
        <p:nvSpPr>
          <p:cNvPr id="17" name="">
            <a:extLst xmlns:a="http://schemas.openxmlformats.org/drawingml/2006/main">
              <a:ext uri="{FF2B5EF4-FFF2-40B4-BE49-F238E27FC236}">
                <a16:creationId xmlns:a16="http://schemas.microsoft.com/office/drawing/2014/main" id="{EC063388-D7F7-4930-8917-8C5AA9EB8D4B}"/>
              </a:ext>
            </a:extLst>
          </p:cNvPr>
          <p:cNvSpPr>
            <a:spLocks xmlns:a="http://schemas.openxmlformats.org/drawingml/2006/main" noGrp="1"/>
          </p:cNvSpPr>
          <p:nvPr/>
        </p:nvSpPr>
        <p:spPr>
          <a:xfrm xmlns:a="http://schemas.openxmlformats.org/drawingml/2006/main">
            <a:off x="9001125" y="1752600"/>
            <a:ext cx="2667000" cy="2438400"/>
          </a:xfrm>
          <a:prstGeom xmlns:a="http://schemas.openxmlformats.org/drawingml/2006/main" prst="roundRect">
            <a:avLst>
              <a:gd name="adj" fmla="val 6250"/>
            </a:avLst>
          </a:prstGeom>
          <a:solidFill xmlns:a="http://schemas.openxmlformats.org/drawingml/2006/main">
            <a:srgbClr val="F3F3F1"/>
          </a:solidFill>
          <a:ln xmlns:a="http://schemas.openxmlformats.org/drawingml/2006/main" w="9525">
            <a:solidFill>
              <a:srgbClr val="D9D9D5"/>
            </a:solidFill>
            <a:prstDash val="solid"/>
          </a:ln>
        </p:spPr>
      </p:sp>
      <p:sp>
        <p:nvSpPr>
          <p:cNvPr id="18" name="">
            <a:extLst xmlns:a="http://schemas.openxmlformats.org/drawingml/2006/main">
              <a:ext uri="{FF2B5EF4-FFF2-40B4-BE49-F238E27FC236}">
                <a16:creationId xmlns:a16="http://schemas.microsoft.com/office/drawing/2014/main" id="{A84B9575-B921-487C-9B0A-FF15060A447A}"/>
              </a:ext>
            </a:extLst>
          </p:cNvPr>
          <p:cNvSpPr>
            <a:spLocks xmlns:a="http://schemas.openxmlformats.org/drawingml/2006/main" noGrp="1"/>
          </p:cNvSpPr>
          <p:nvPr/>
        </p:nvSpPr>
        <p:spPr>
          <a:xfrm xmlns:a="http://schemas.openxmlformats.org/drawingml/2006/main">
            <a:off x="9191625" y="1924050"/>
            <a:ext cx="49530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04</a:t>
            </a:r>
          </a:p>
        </p:txBody>
      </p:sp>
      <p:sp>
        <p:nvSpPr>
          <p:cNvPr id="19" name="">
            <a:extLst xmlns:a="http://schemas.openxmlformats.org/drawingml/2006/main">
              <a:ext uri="{FF2B5EF4-FFF2-40B4-BE49-F238E27FC236}">
                <a16:creationId xmlns:a16="http://schemas.microsoft.com/office/drawing/2014/main" id="{70A115EB-A7E0-4E4A-8FDE-DA6998C96792}"/>
              </a:ext>
            </a:extLst>
          </p:cNvPr>
          <p:cNvSpPr>
            <a:spLocks xmlns:a="http://schemas.openxmlformats.org/drawingml/2006/main" noGrp="1"/>
          </p:cNvSpPr>
          <p:nvPr/>
        </p:nvSpPr>
        <p:spPr>
          <a:xfrm xmlns:a="http://schemas.openxmlformats.org/drawingml/2006/main">
            <a:off x="9191625" y="234315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2424"/>
          </a:bodyPr>
          <a:lstStyle xmlns:a="http://schemas.openxmlformats.org/drawingml/2006/main"/>
          <a:p xmlns:a="http://schemas.openxmlformats.org/drawingml/2006/main">
            <a:pPr algn="l">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CREATE</a:t>
            </a:r>
          </a:p>
        </p:txBody>
      </p:sp>
      <p:sp>
        <p:nvSpPr>
          <p:cNvPr id="20" name="">
            <a:extLst xmlns:a="http://schemas.openxmlformats.org/drawingml/2006/main">
              <a:ext uri="{FF2B5EF4-FFF2-40B4-BE49-F238E27FC236}">
                <a16:creationId xmlns:a16="http://schemas.microsoft.com/office/drawing/2014/main" id="{CABE5ECB-A972-4B4B-BD92-9D107E30ED8A}"/>
              </a:ext>
            </a:extLst>
          </p:cNvPr>
          <p:cNvSpPr>
            <a:spLocks xmlns:a="http://schemas.openxmlformats.org/drawingml/2006/main" noGrp="1"/>
          </p:cNvSpPr>
          <p:nvPr/>
        </p:nvSpPr>
        <p:spPr>
          <a:xfrm xmlns:a="http://schemas.openxmlformats.org/drawingml/2006/main">
            <a:off x="9191625" y="2743200"/>
            <a:ext cx="2286000" cy="1276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Attach the image in ChatGPT Images or another tool and paste the prompt.</a:t>
            </a:r>
          </a:p>
        </p:txBody>
      </p:sp>
      <p:sp>
        <p:nvSpPr>
          <p:cNvPr id="21" name="">
            <a:extLst xmlns:a="http://schemas.openxmlformats.org/drawingml/2006/main">
              <a:ext uri="{FF2B5EF4-FFF2-40B4-BE49-F238E27FC236}">
                <a16:creationId xmlns:a16="http://schemas.microsoft.com/office/drawing/2014/main" id="{F8C04742-2512-4335-B0CB-7D8AC711C1B0}"/>
              </a:ext>
            </a:extLst>
          </p:cNvPr>
          <p:cNvSpPr>
            <a:spLocks xmlns:a="http://schemas.openxmlformats.org/drawingml/2006/main" noGrp="1"/>
          </p:cNvSpPr>
          <p:nvPr/>
        </p:nvSpPr>
        <p:spPr>
          <a:xfrm xmlns:a="http://schemas.openxmlformats.org/drawingml/2006/main">
            <a:off x="400050" y="4629150"/>
            <a:ext cx="11277600" cy="1066800"/>
          </a:xfrm>
          <a:prstGeom xmlns:a="http://schemas.openxmlformats.org/drawingml/2006/main" prst="roundRect">
            <a:avLst>
              <a:gd name="adj" fmla="val 14286"/>
            </a:avLst>
          </a:prstGeom>
          <a:solidFill xmlns:a="http://schemas.openxmlformats.org/drawingml/2006/main">
            <a:srgbClr val="171717"/>
          </a:solidFill>
          <a:ln xmlns:a="http://schemas.openxmlformats.org/drawingml/2006/main" w="9525">
            <a:solidFill>
              <a:srgbClr val="171717"/>
            </a:solidFill>
            <a:prstDash val="solid"/>
          </a:ln>
        </p:spPr>
      </p:sp>
      <p:sp>
        <p:nvSpPr>
          <p:cNvPr id="22" name="">
            <a:extLst xmlns:a="http://schemas.openxmlformats.org/drawingml/2006/main">
              <a:ext uri="{FF2B5EF4-FFF2-40B4-BE49-F238E27FC236}">
                <a16:creationId xmlns:a16="http://schemas.microsoft.com/office/drawing/2014/main" id="{AF427287-B07A-496D-8C83-74402519FC38}"/>
              </a:ext>
            </a:extLst>
          </p:cNvPr>
          <p:cNvSpPr>
            <a:spLocks xmlns:a="http://schemas.openxmlformats.org/drawingml/2006/main" noGrp="1"/>
          </p:cNvSpPr>
          <p:nvPr/>
        </p:nvSpPr>
        <p:spPr>
          <a:xfrm xmlns:a="http://schemas.openxmlformats.org/drawingml/2006/main">
            <a:off x="647700" y="487680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000"/>
          </a:bodyPr>
          <a:lstStyle xmlns:a="http://schemas.openxmlformats.org/drawingml/2006/main"/>
          <a:p xmlns:a="http://schemas.openxmlformats.org/drawingml/2006/main">
            <a:pPr algn="l">
              <a:defRPr sz="1200" b="1">
                <a:solidFill>
                  <a:srgbClr val="C7F36B"/>
                </a:solidFill>
                <a:latin typeface="Helvetica Neue"/>
                <a:ea typeface="Helvetica Neue"/>
                <a:cs typeface="Helvetica Neue"/>
              </a:defRPr>
            </a:pPr>
            <a:r>
              <a:rPr sz="1200" b="1">
                <a:solidFill>
                  <a:srgbClr val="C7F36B"/>
                </a:solidFill>
                <a:latin typeface="Helvetica Neue"/>
                <a:ea typeface="Helvetica Neue"/>
                <a:cs typeface="Helvetica Neue"/>
              </a:rPr>
              <a:t>NO API • NO UPLOAD DUPLICATION</a:t>
            </a:r>
          </a:p>
        </p:txBody>
      </p:sp>
      <p:sp>
        <p:nvSpPr>
          <p:cNvPr id="23" name="">
            <a:extLst xmlns:a="http://schemas.openxmlformats.org/drawingml/2006/main">
              <a:ext uri="{FF2B5EF4-FFF2-40B4-BE49-F238E27FC236}">
                <a16:creationId xmlns:a16="http://schemas.microsoft.com/office/drawing/2014/main" id="{4DCF7C89-7FEE-4E4A-831E-0F23BF0871B7}"/>
              </a:ext>
            </a:extLst>
          </p:cNvPr>
          <p:cNvSpPr>
            <a:spLocks xmlns:a="http://schemas.openxmlformats.org/drawingml/2006/main" noGrp="1"/>
          </p:cNvSpPr>
          <p:nvPr/>
        </p:nvSpPr>
        <p:spPr>
          <a:xfrm xmlns:a="http://schemas.openxmlformats.org/drawingml/2006/main">
            <a:off x="4686300" y="4800600"/>
            <a:ext cx="6572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75" b="0">
                <a:solidFill>
                  <a:srgbClr val="FFFFFF"/>
                </a:solidFill>
                <a:latin typeface="Helvetica Neue"/>
                <a:ea typeface="Helvetica Neue"/>
                <a:cs typeface="Helvetica Neue"/>
              </a:defRPr>
            </a:pPr>
            <a:r>
              <a:rPr sz="1275" b="0">
                <a:solidFill>
                  <a:srgbClr val="FFFFFF"/>
                </a:solidFill>
                <a:latin typeface="Helvetica Neue"/>
                <a:ea typeface="Helvetica Neue"/>
                <a:cs typeface="Helvetica Neue"/>
              </a:rPr>
              <a:t>The prompt locks product shape, materials, controls and genuine branding while changing the scene, lighting and ad layout. PUBG accounts are excluded.</a:t>
            </a:r>
          </a:p>
        </p:txBody>
      </p:sp>
    </p:spTree>
    <p:extLst>
      <p:ext uri="{BB962C8B-B14F-4D97-AF65-F5344CB8AC3E}">
        <p14:creationId xmlns:p14="http://schemas.microsoft.com/office/powerpoint/2010/main" val="2115650495"/>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8F89BC19-3DAD-43E5-A37F-9C5403151CE9}"/>
              </a:ext>
            </a:extLst>
          </p:cNvPr>
          <p:cNvSpPr>
            <a:spLocks xmlns:a="http://schemas.openxmlformats.org/drawingml/2006/main" noGrp="1"/>
          </p:cNvSpPr>
          <p:nvPr/>
        </p:nvSpPr>
        <p:spPr>
          <a:xfrm xmlns:a="http://schemas.openxmlformats.org/drawingml/2006/main">
            <a:off x="400050" y="266700"/>
            <a:ext cx="7620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86111"/>
          </a:bodyPr>
          <a:lstStyle xmlns:a="http://schemas.openxmlformats.org/drawingml/2006/main"/>
          <a:p xmlns:a="http://schemas.openxmlformats.org/drawingml/2006/main">
            <a:pPr algn="l">
              <a:defRPr sz="900" b="1">
                <a:solidFill>
                  <a:srgbClr val="626262"/>
                </a:solidFill>
                <a:latin typeface="Helvetica Neue"/>
                <a:ea typeface="Helvetica Neue"/>
                <a:cs typeface="Helvetica Neue"/>
              </a:defRPr>
            </a:pPr>
            <a:r>
              <a:rPr sz="900" b="1">
                <a:solidFill>
                  <a:srgbClr val="626262"/>
                </a:solidFill>
                <a:latin typeface="Helvetica Neue"/>
                <a:ea typeface="Helvetica Neue"/>
                <a:cs typeface="Helvetica Neue"/>
              </a:rPr>
              <a:t>GO-LIVE</a:t>
            </a:r>
          </a:p>
        </p:txBody>
      </p:sp>
      <p:sp>
        <p:nvSpPr>
          <p:cNvPr id="2" name="">
            <a:extLst xmlns:a="http://schemas.openxmlformats.org/drawingml/2006/main">
              <a:ext uri="{FF2B5EF4-FFF2-40B4-BE49-F238E27FC236}">
                <a16:creationId xmlns:a16="http://schemas.microsoft.com/office/drawing/2014/main" id="{7DA35B98-48EB-4FDF-905A-3E84964A8C8A}"/>
              </a:ext>
            </a:extLst>
          </p:cNvPr>
          <p:cNvSpPr>
            <a:spLocks xmlns:a="http://schemas.openxmlformats.org/drawingml/2006/main" noGrp="1"/>
          </p:cNvSpPr>
          <p:nvPr/>
        </p:nvSpPr>
        <p:spPr>
          <a:xfrm xmlns:a="http://schemas.openxmlformats.org/drawingml/2006/main">
            <a:off x="400050" y="552450"/>
            <a:ext cx="10953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2850" b="1">
                <a:solidFill>
                  <a:srgbClr val="101010"/>
                </a:solidFill>
                <a:latin typeface="Helvetica Neue"/>
                <a:ea typeface="Helvetica Neue"/>
                <a:cs typeface="Helvetica Neue"/>
              </a:defRPr>
            </a:pPr>
            <a:r>
              <a:rPr sz="2850" b="1">
                <a:solidFill>
                  <a:srgbClr val="101010"/>
                </a:solidFill>
                <a:latin typeface="Helvetica Neue"/>
                <a:ea typeface="Helvetica Neue"/>
                <a:cs typeface="Helvetica Neue"/>
              </a:rPr>
              <a:t>Clear roles and controls make the system operational</a:t>
            </a:r>
          </a:p>
        </p:txBody>
      </p:sp>
      <p:sp>
        <p:nvSpPr>
          <p:cNvPr id="3" name="">
            <a:extLst xmlns:a="http://schemas.openxmlformats.org/drawingml/2006/main">
              <a:ext uri="{FF2B5EF4-FFF2-40B4-BE49-F238E27FC236}">
                <a16:creationId xmlns:a16="http://schemas.microsoft.com/office/drawing/2014/main" id="{006B666A-430A-49EE-9599-BE9E4B9233C4}"/>
              </a:ext>
            </a:extLst>
          </p:cNvPr>
          <p:cNvSpPr>
            <a:spLocks xmlns:a="http://schemas.openxmlformats.org/drawingml/2006/main" noGrp="1"/>
          </p:cNvSpPr>
          <p:nvPr/>
        </p:nvSpPr>
        <p:spPr>
          <a:xfrm xmlns:a="http://schemas.openxmlformats.org/drawingml/2006/main">
            <a:off x="400050" y="1257300"/>
            <a:ext cx="11391900" cy="0"/>
          </a:xfrm>
          <a:prstGeom xmlns:a="http://schemas.openxmlformats.org/drawingml/2006/main" prst="line">
            <a:avLst/>
          </a:prstGeom>
          <a:noFill xmlns:a="http://schemas.openxmlformats.org/drawingml/2006/main"/>
          <a:ln xmlns:a="http://schemas.openxmlformats.org/drawingml/2006/main" w="9525">
            <a:solidFill>
              <a:srgbClr val="D9D9D5"/>
            </a:solidFill>
            <a:prstDash val="solid"/>
          </a:ln>
        </p:spPr>
      </p:sp>
      <p:sp>
        <p:nvSpPr>
          <p:cNvPr id="4" name="">
            <a:extLst xmlns:a="http://schemas.openxmlformats.org/drawingml/2006/main">
              <a:ext uri="{FF2B5EF4-FFF2-40B4-BE49-F238E27FC236}">
                <a16:creationId xmlns:a16="http://schemas.microsoft.com/office/drawing/2014/main" id="{DA3327F5-99E5-47C1-8D3D-080F79831F22}"/>
              </a:ext>
            </a:extLst>
          </p:cNvPr>
          <p:cNvSpPr>
            <a:spLocks xmlns:a="http://schemas.openxmlformats.org/drawingml/2006/main" noGrp="1"/>
          </p:cNvSpPr>
          <p:nvPr/>
        </p:nvSpPr>
        <p:spPr>
          <a:xfrm xmlns:a="http://schemas.openxmlformats.org/drawingml/2006/main">
            <a:off x="11201400" y="6381750"/>
            <a:ext cx="5905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2222"/>
          </a:bodyPr>
          <a:lstStyle xmlns:a="http://schemas.openxmlformats.org/drawingml/2006/main"/>
          <a:p xmlns:a="http://schemas.openxmlformats.org/drawingml/2006/main">
            <a:pPr algn="r">
              <a:defRPr sz="900" b="0">
                <a:solidFill>
                  <a:srgbClr val="626262"/>
                </a:solidFill>
                <a:latin typeface="Helvetica Neue"/>
                <a:ea typeface="Helvetica Neue"/>
                <a:cs typeface="Helvetica Neue"/>
              </a:defRPr>
            </a:pPr>
            <a:r>
              <a:rPr sz="900" b="0">
                <a:solidFill>
                  <a:srgbClr val="626262"/>
                </a:solidFill>
                <a:latin typeface="Helvetica Neue"/>
                <a:ea typeface="Helvetica Neue"/>
                <a:cs typeface="Helvetica Neue"/>
              </a:rPr>
              <a:t>18</a:t>
            </a:r>
          </a:p>
        </p:txBody>
      </p:sp>
      <p:sp>
        <p:nvSpPr>
          <p:cNvPr id="5" name="">
            <a:extLst xmlns:a="http://schemas.openxmlformats.org/drawingml/2006/main">
              <a:ext uri="{FF2B5EF4-FFF2-40B4-BE49-F238E27FC236}">
                <a16:creationId xmlns:a16="http://schemas.microsoft.com/office/drawing/2014/main" id="{D4FB1855-3842-4003-B6F2-CEA8C59C3831}"/>
              </a:ext>
            </a:extLst>
          </p:cNvPr>
          <p:cNvSpPr>
            <a:spLocks xmlns:a="http://schemas.openxmlformats.org/drawingml/2006/main" noGrp="1"/>
          </p:cNvSpPr>
          <p:nvPr/>
        </p:nvSpPr>
        <p:spPr>
          <a:xfrm xmlns:a="http://schemas.openxmlformats.org/drawingml/2006/main">
            <a:off x="400050" y="1562100"/>
            <a:ext cx="3562350" cy="2324100"/>
          </a:xfrm>
          <a:prstGeom xmlns:a="http://schemas.openxmlformats.org/drawingml/2006/main" prst="roundRect">
            <a:avLst>
              <a:gd name="adj" fmla="val 7377"/>
            </a:avLst>
          </a:prstGeom>
          <a:solidFill xmlns:a="http://schemas.openxmlformats.org/drawingml/2006/main">
            <a:srgbClr val="F3F3F1"/>
          </a:solidFill>
          <a:ln xmlns:a="http://schemas.openxmlformats.org/drawingml/2006/main" w="9525">
            <a:solidFill>
              <a:srgbClr val="D9D9D5"/>
            </a:solidFill>
            <a:prstDash val="solid"/>
          </a:ln>
        </p:spPr>
      </p:sp>
      <p:sp>
        <p:nvSpPr>
          <p:cNvPr id="6" name="">
            <a:extLst xmlns:a="http://schemas.openxmlformats.org/drawingml/2006/main">
              <a:ext uri="{FF2B5EF4-FFF2-40B4-BE49-F238E27FC236}">
                <a16:creationId xmlns:a16="http://schemas.microsoft.com/office/drawing/2014/main" id="{EBF728A9-7F04-45C5-91C0-B56900E957D3}"/>
              </a:ext>
            </a:extLst>
          </p:cNvPr>
          <p:cNvSpPr>
            <a:spLocks xmlns:a="http://schemas.openxmlformats.org/drawingml/2006/main" noGrp="1"/>
          </p:cNvSpPr>
          <p:nvPr/>
        </p:nvSpPr>
        <p:spPr>
          <a:xfrm xmlns:a="http://schemas.openxmlformats.org/drawingml/2006/main">
            <a:off x="628650" y="1790700"/>
            <a:ext cx="40005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1</a:t>
            </a:r>
          </a:p>
        </p:txBody>
      </p:sp>
      <p:sp>
        <p:nvSpPr>
          <p:cNvPr id="7" name="">
            <a:extLst xmlns:a="http://schemas.openxmlformats.org/drawingml/2006/main">
              <a:ext uri="{FF2B5EF4-FFF2-40B4-BE49-F238E27FC236}">
                <a16:creationId xmlns:a16="http://schemas.microsoft.com/office/drawing/2014/main" id="{CEBDC227-F8F9-478E-BABE-8AEF284703A7}"/>
              </a:ext>
            </a:extLst>
          </p:cNvPr>
          <p:cNvSpPr>
            <a:spLocks xmlns:a="http://schemas.openxmlformats.org/drawingml/2006/main" noGrp="1"/>
          </p:cNvSpPr>
          <p:nvPr/>
        </p:nvSpPr>
        <p:spPr>
          <a:xfrm xmlns:a="http://schemas.openxmlformats.org/drawingml/2006/main">
            <a:off x="628650" y="22860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l">
              <a:defRPr sz="1500" b="1">
                <a:solidFill>
                  <a:srgbClr val="101010"/>
                </a:solidFill>
                <a:latin typeface="Helvetica Neue"/>
                <a:ea typeface="Helvetica Neue"/>
                <a:cs typeface="Helvetica Neue"/>
              </a:defRPr>
            </a:pPr>
            <a:r>
              <a:rPr sz="1500" b="1">
                <a:solidFill>
                  <a:srgbClr val="101010"/>
                </a:solidFill>
                <a:latin typeface="Helvetica Neue"/>
                <a:ea typeface="Helvetica Neue"/>
                <a:cs typeface="Helvetica Neue"/>
              </a:rPr>
              <a:t>ADMINISTRATOR</a:t>
            </a:r>
          </a:p>
        </p:txBody>
      </p:sp>
      <p:sp>
        <p:nvSpPr>
          <p:cNvPr id="8" name="">
            <a:extLst xmlns:a="http://schemas.openxmlformats.org/drawingml/2006/main">
              <a:ext uri="{FF2B5EF4-FFF2-40B4-BE49-F238E27FC236}">
                <a16:creationId xmlns:a16="http://schemas.microsoft.com/office/drawing/2014/main" id="{C75B750D-14DA-486A-B0D9-4A6996AFEB81}"/>
              </a:ext>
            </a:extLst>
          </p:cNvPr>
          <p:cNvSpPr>
            <a:spLocks xmlns:a="http://schemas.openxmlformats.org/drawingml/2006/main" noGrp="1"/>
          </p:cNvSpPr>
          <p:nvPr/>
        </p:nvSpPr>
        <p:spPr>
          <a:xfrm xmlns:a="http://schemas.openxmlformats.org/drawingml/2006/main">
            <a:off x="628650" y="2800350"/>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Staff accounts and roles</a:t>
            </a:r>
          </a:p>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Suppliers and expenses</a:t>
            </a:r>
          </a:p>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System settings and audit</a:t>
            </a:r>
          </a:p>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Security and backups</a:t>
            </a:r>
          </a:p>
        </p:txBody>
      </p:sp>
      <p:sp>
        <p:nvSpPr>
          <p:cNvPr id="9" name="">
            <a:extLst xmlns:a="http://schemas.openxmlformats.org/drawingml/2006/main">
              <a:ext uri="{FF2B5EF4-FFF2-40B4-BE49-F238E27FC236}">
                <a16:creationId xmlns:a16="http://schemas.microsoft.com/office/drawing/2014/main" id="{18DFD9E0-1D61-48D8-BE7E-848BA9F89359}"/>
              </a:ext>
            </a:extLst>
          </p:cNvPr>
          <p:cNvSpPr>
            <a:spLocks xmlns:a="http://schemas.openxmlformats.org/drawingml/2006/main" noGrp="1"/>
          </p:cNvSpPr>
          <p:nvPr/>
        </p:nvSpPr>
        <p:spPr>
          <a:xfrm xmlns:a="http://schemas.openxmlformats.org/drawingml/2006/main">
            <a:off x="4219575" y="1562100"/>
            <a:ext cx="3562350" cy="2324100"/>
          </a:xfrm>
          <a:prstGeom xmlns:a="http://schemas.openxmlformats.org/drawingml/2006/main" prst="roundRect">
            <a:avLst>
              <a:gd name="adj" fmla="val 7377"/>
            </a:avLst>
          </a:prstGeom>
          <a:solidFill xmlns:a="http://schemas.openxmlformats.org/drawingml/2006/main">
            <a:srgbClr val="F3F3F1"/>
          </a:solidFill>
          <a:ln xmlns:a="http://schemas.openxmlformats.org/drawingml/2006/main" w="9525">
            <a:solidFill>
              <a:srgbClr val="D9D9D5"/>
            </a:solidFill>
            <a:prstDash val="solid"/>
          </a:ln>
        </p:spPr>
      </p:sp>
      <p:sp>
        <p:nvSpPr>
          <p:cNvPr id="10" name="">
            <a:extLst xmlns:a="http://schemas.openxmlformats.org/drawingml/2006/main">
              <a:ext uri="{FF2B5EF4-FFF2-40B4-BE49-F238E27FC236}">
                <a16:creationId xmlns:a16="http://schemas.microsoft.com/office/drawing/2014/main" id="{4645B63A-4EAB-4A65-8260-59367D352196}"/>
              </a:ext>
            </a:extLst>
          </p:cNvPr>
          <p:cNvSpPr>
            <a:spLocks xmlns:a="http://schemas.openxmlformats.org/drawingml/2006/main" noGrp="1"/>
          </p:cNvSpPr>
          <p:nvPr/>
        </p:nvSpPr>
        <p:spPr>
          <a:xfrm xmlns:a="http://schemas.openxmlformats.org/drawingml/2006/main">
            <a:off x="4448175" y="1790700"/>
            <a:ext cx="400050" cy="285750"/>
          </a:xfrm>
          <a:prstGeom xmlns:a="http://schemas.openxmlformats.org/drawingml/2006/main" prst="roundRect">
            <a:avLst>
              <a:gd name="adj" fmla="val 50000"/>
            </a:avLst>
          </a:prstGeom>
          <a:solidFill xmlns:a="http://schemas.openxmlformats.org/drawingml/2006/main">
            <a:srgbClr val="FF6B35"/>
          </a:solidFill>
          <a:ln xmlns:a="http://schemas.openxmlformats.org/drawingml/2006/main" w="9525">
            <a:solidFill>
              <a:srgbClr val="FF6B35"/>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FFFFFF"/>
                </a:solidFill>
                <a:latin typeface="Helvetica Neue"/>
                <a:ea typeface="Helvetica Neue"/>
                <a:cs typeface="Helvetica Neue"/>
              </a:defRPr>
            </a:pPr>
            <a:r>
              <a:rPr sz="900" b="1">
                <a:solidFill>
                  <a:srgbClr val="FFFFFF"/>
                </a:solidFill>
                <a:latin typeface="Helvetica Neue"/>
                <a:ea typeface="Helvetica Neue"/>
                <a:cs typeface="Helvetica Neue"/>
              </a:rPr>
              <a:t>2</a:t>
            </a:r>
          </a:p>
        </p:txBody>
      </p:sp>
      <p:sp>
        <p:nvSpPr>
          <p:cNvPr id="11" name="">
            <a:extLst xmlns:a="http://schemas.openxmlformats.org/drawingml/2006/main">
              <a:ext uri="{FF2B5EF4-FFF2-40B4-BE49-F238E27FC236}">
                <a16:creationId xmlns:a16="http://schemas.microsoft.com/office/drawing/2014/main" id="{9DCBE528-7DAA-4F09-9F08-B25B87E7D8F0}"/>
              </a:ext>
            </a:extLst>
          </p:cNvPr>
          <p:cNvSpPr>
            <a:spLocks xmlns:a="http://schemas.openxmlformats.org/drawingml/2006/main" noGrp="1"/>
          </p:cNvSpPr>
          <p:nvPr/>
        </p:nvSpPr>
        <p:spPr>
          <a:xfrm xmlns:a="http://schemas.openxmlformats.org/drawingml/2006/main">
            <a:off x="4448175" y="22860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l">
              <a:defRPr sz="1500" b="1">
                <a:solidFill>
                  <a:srgbClr val="101010"/>
                </a:solidFill>
                <a:latin typeface="Helvetica Neue"/>
                <a:ea typeface="Helvetica Neue"/>
                <a:cs typeface="Helvetica Neue"/>
              </a:defRPr>
            </a:pPr>
            <a:r>
              <a:rPr sz="1500" b="1">
                <a:solidFill>
                  <a:srgbClr val="101010"/>
                </a:solidFill>
                <a:latin typeface="Helvetica Neue"/>
                <a:ea typeface="Helvetica Neue"/>
                <a:cs typeface="Helvetica Neue"/>
              </a:rPr>
              <a:t>OPERATIONS STAFF</a:t>
            </a:r>
          </a:p>
        </p:txBody>
      </p:sp>
      <p:sp>
        <p:nvSpPr>
          <p:cNvPr id="12" name="">
            <a:extLst xmlns:a="http://schemas.openxmlformats.org/drawingml/2006/main">
              <a:ext uri="{FF2B5EF4-FFF2-40B4-BE49-F238E27FC236}">
                <a16:creationId xmlns:a16="http://schemas.microsoft.com/office/drawing/2014/main" id="{5146BDAF-E8A1-4771-8C66-38E2A6C5C6B3}"/>
              </a:ext>
            </a:extLst>
          </p:cNvPr>
          <p:cNvSpPr>
            <a:spLocks xmlns:a="http://schemas.openxmlformats.org/drawingml/2006/main" noGrp="1"/>
          </p:cNvSpPr>
          <p:nvPr/>
        </p:nvSpPr>
        <p:spPr>
          <a:xfrm xmlns:a="http://schemas.openxmlformats.org/drawingml/2006/main">
            <a:off x="4448175" y="2800350"/>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Payment verification</a:t>
            </a:r>
          </a:p>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Packing and handover</a:t>
            </a:r>
          </a:p>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Dispatch and receipts</a:t>
            </a:r>
          </a:p>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Warranty and customer care</a:t>
            </a:r>
          </a:p>
        </p:txBody>
      </p:sp>
      <p:sp>
        <p:nvSpPr>
          <p:cNvPr id="13" name="">
            <a:extLst xmlns:a="http://schemas.openxmlformats.org/drawingml/2006/main">
              <a:ext uri="{FF2B5EF4-FFF2-40B4-BE49-F238E27FC236}">
                <a16:creationId xmlns:a16="http://schemas.microsoft.com/office/drawing/2014/main" id="{E0DA86F6-FB99-4D44-84D1-3A0F5D90FFA7}"/>
              </a:ext>
            </a:extLst>
          </p:cNvPr>
          <p:cNvSpPr>
            <a:spLocks xmlns:a="http://schemas.openxmlformats.org/drawingml/2006/main" noGrp="1"/>
          </p:cNvSpPr>
          <p:nvPr/>
        </p:nvSpPr>
        <p:spPr>
          <a:xfrm xmlns:a="http://schemas.openxmlformats.org/drawingml/2006/main">
            <a:off x="8039100" y="1562100"/>
            <a:ext cx="3562350" cy="2324100"/>
          </a:xfrm>
          <a:prstGeom xmlns:a="http://schemas.openxmlformats.org/drawingml/2006/main" prst="roundRect">
            <a:avLst>
              <a:gd name="adj" fmla="val 7377"/>
            </a:avLst>
          </a:prstGeom>
          <a:solidFill xmlns:a="http://schemas.openxmlformats.org/drawingml/2006/main">
            <a:srgbClr val="F3F3F1"/>
          </a:solidFill>
          <a:ln xmlns:a="http://schemas.openxmlformats.org/drawingml/2006/main" w="9525">
            <a:solidFill>
              <a:srgbClr val="D9D9D5"/>
            </a:solidFill>
            <a:prstDash val="solid"/>
          </a:ln>
        </p:spPr>
      </p:sp>
      <p:sp>
        <p:nvSpPr>
          <p:cNvPr id="14" name="">
            <a:extLst xmlns:a="http://schemas.openxmlformats.org/drawingml/2006/main">
              <a:ext uri="{FF2B5EF4-FFF2-40B4-BE49-F238E27FC236}">
                <a16:creationId xmlns:a16="http://schemas.microsoft.com/office/drawing/2014/main" id="{4828A885-4AA8-440E-ACB5-F0F1AEFA64D0}"/>
              </a:ext>
            </a:extLst>
          </p:cNvPr>
          <p:cNvSpPr>
            <a:spLocks xmlns:a="http://schemas.openxmlformats.org/drawingml/2006/main" noGrp="1"/>
          </p:cNvSpPr>
          <p:nvPr/>
        </p:nvSpPr>
        <p:spPr>
          <a:xfrm xmlns:a="http://schemas.openxmlformats.org/drawingml/2006/main">
            <a:off x="8267700" y="1790700"/>
            <a:ext cx="400050" cy="285750"/>
          </a:xfrm>
          <a:prstGeom xmlns:a="http://schemas.openxmlformats.org/drawingml/2006/main" prst="roundRect">
            <a:avLst>
              <a:gd name="adj" fmla="val 50000"/>
            </a:avLst>
          </a:prstGeom>
          <a:solidFill xmlns:a="http://schemas.openxmlformats.org/drawingml/2006/main">
            <a:srgbClr val="C7F36B"/>
          </a:solidFill>
          <a:ln xmlns:a="http://schemas.openxmlformats.org/drawingml/2006/main" w="9525">
            <a:solidFill>
              <a:srgbClr val="C7F36B"/>
            </a:solidFill>
            <a:prstDash val="solid"/>
          </a:ln>
        </p:spPr>
        <p:txBody>
          <a:bodyPr xmlns:a="http://schemas.openxmlformats.org/drawingml/2006/main" anchor="ctr">
            <a:normAutofit fontScale="80648"/>
          </a:bodyPr>
          <a:lstStyle xmlns:a="http://schemas.openxmlformats.org/drawingml/2006/main"/>
          <a:p xmlns:a="http://schemas.openxmlformats.org/drawingml/2006/main">
            <a:pPr algn="ctr">
              <a:defRPr sz="900" b="1">
                <a:solidFill>
                  <a:srgbClr val="101010"/>
                </a:solidFill>
                <a:latin typeface="Helvetica Neue"/>
                <a:ea typeface="Helvetica Neue"/>
                <a:cs typeface="Helvetica Neue"/>
              </a:defRPr>
            </a:pPr>
            <a:r>
              <a:rPr sz="900" b="1">
                <a:solidFill>
                  <a:srgbClr val="101010"/>
                </a:solidFill>
                <a:latin typeface="Helvetica Neue"/>
                <a:ea typeface="Helvetica Neue"/>
                <a:cs typeface="Helvetica Neue"/>
              </a:rPr>
              <a:t>3</a:t>
            </a:r>
          </a:p>
        </p:txBody>
      </p:sp>
      <p:sp>
        <p:nvSpPr>
          <p:cNvPr id="15" name="">
            <a:extLst xmlns:a="http://schemas.openxmlformats.org/drawingml/2006/main">
              <a:ext uri="{FF2B5EF4-FFF2-40B4-BE49-F238E27FC236}">
                <a16:creationId xmlns:a16="http://schemas.microsoft.com/office/drawing/2014/main" id="{02327691-37C8-4E02-B65C-ADDAD4AB6418}"/>
              </a:ext>
            </a:extLst>
          </p:cNvPr>
          <p:cNvSpPr>
            <a:spLocks xmlns:a="http://schemas.openxmlformats.org/drawingml/2006/main" noGrp="1"/>
          </p:cNvSpPr>
          <p:nvPr/>
        </p:nvSpPr>
        <p:spPr>
          <a:xfrm xmlns:a="http://schemas.openxmlformats.org/drawingml/2006/main">
            <a:off x="8267700" y="2286000"/>
            <a:ext cx="2952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3333"/>
          </a:bodyPr>
          <a:lstStyle xmlns:a="http://schemas.openxmlformats.org/drawingml/2006/main"/>
          <a:p xmlns:a="http://schemas.openxmlformats.org/drawingml/2006/main">
            <a:pPr algn="l">
              <a:defRPr sz="1500" b="1">
                <a:solidFill>
                  <a:srgbClr val="101010"/>
                </a:solidFill>
                <a:latin typeface="Helvetica Neue"/>
                <a:ea typeface="Helvetica Neue"/>
                <a:cs typeface="Helvetica Neue"/>
              </a:defRPr>
            </a:pPr>
            <a:r>
              <a:rPr sz="1500" b="1">
                <a:solidFill>
                  <a:srgbClr val="101010"/>
                </a:solidFill>
                <a:latin typeface="Helvetica Neue"/>
                <a:ea typeface="Helvetica Neue"/>
                <a:cs typeface="Helvetica Neue"/>
              </a:rPr>
              <a:t>AUTOMATION</a:t>
            </a:r>
          </a:p>
        </p:txBody>
      </p:sp>
      <p:sp>
        <p:nvSpPr>
          <p:cNvPr id="16" name="">
            <a:extLst xmlns:a="http://schemas.openxmlformats.org/drawingml/2006/main">
              <a:ext uri="{FF2B5EF4-FFF2-40B4-BE49-F238E27FC236}">
                <a16:creationId xmlns:a16="http://schemas.microsoft.com/office/drawing/2014/main" id="{99144DCB-BD75-4C4E-B43C-DDF95692CBF4}"/>
              </a:ext>
            </a:extLst>
          </p:cNvPr>
          <p:cNvSpPr>
            <a:spLocks xmlns:a="http://schemas.openxmlformats.org/drawingml/2006/main" noGrp="1"/>
          </p:cNvSpPr>
          <p:nvPr/>
        </p:nvSpPr>
        <p:spPr>
          <a:xfrm xmlns:a="http://schemas.openxmlformats.org/drawingml/2006/main">
            <a:off x="8267700" y="2800350"/>
            <a:ext cx="29527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100000"/>
          </a:bodyPr>
          <a:lstStyle xmlns:a="http://schemas.openxmlformats.org/drawingml/2006/main"/>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Notifications and reminders</a:t>
            </a:r>
          </a:p>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Catalog and support bot</a:t>
            </a:r>
          </a:p>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Scheduled briefings</a:t>
            </a:r>
          </a:p>
          <a:p xmlns:a="http://schemas.openxmlformats.org/drawingml/2006/main">
            <a:pPr algn="l">
              <a:defRPr sz="1200" b="0">
                <a:solidFill>
                  <a:srgbClr val="626262"/>
                </a:solidFill>
                <a:latin typeface="Helvetica Neue"/>
                <a:ea typeface="Helvetica Neue"/>
                <a:cs typeface="Helvetica Neue"/>
              </a:defRPr>
            </a:pPr>
            <a:r>
              <a:rPr sz="1200" b="0">
                <a:solidFill>
                  <a:srgbClr val="626262"/>
                </a:solidFill>
                <a:latin typeface="Helvetica Neue"/>
                <a:ea typeface="Helvetica Neue"/>
                <a:cs typeface="Helvetica Neue"/>
              </a:rPr>
              <a:t>Never final financial approval</a:t>
            </a:r>
          </a:p>
        </p:txBody>
      </p:sp>
      <p:sp>
        <p:nvSpPr>
          <p:cNvPr id="17" name="">
            <a:extLst xmlns:a="http://schemas.openxmlformats.org/drawingml/2006/main">
              <a:ext uri="{FF2B5EF4-FFF2-40B4-BE49-F238E27FC236}">
                <a16:creationId xmlns:a16="http://schemas.microsoft.com/office/drawing/2014/main" id="{E5035761-1202-4FF5-96D6-CEA5CE0CF66C}"/>
              </a:ext>
            </a:extLst>
          </p:cNvPr>
          <p:cNvSpPr>
            <a:spLocks xmlns:a="http://schemas.openxmlformats.org/drawingml/2006/main" noGrp="1"/>
          </p:cNvSpPr>
          <p:nvPr/>
        </p:nvSpPr>
        <p:spPr>
          <a:xfrm xmlns:a="http://schemas.openxmlformats.org/drawingml/2006/main">
            <a:off x="400050" y="4267200"/>
            <a:ext cx="3048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5926"/>
          </a:bodyPr>
          <a:lstStyle xmlns:a="http://schemas.openxmlformats.org/drawingml/2006/main"/>
          <a:p xmlns:a="http://schemas.openxmlformats.org/drawingml/2006/main">
            <a:pPr algn="l">
              <a:defRPr sz="1350" b="1">
                <a:solidFill>
                  <a:srgbClr val="101010"/>
                </a:solidFill>
                <a:latin typeface="Helvetica Neue"/>
                <a:ea typeface="Helvetica Neue"/>
                <a:cs typeface="Helvetica Neue"/>
              </a:defRPr>
            </a:pPr>
            <a:r>
              <a:rPr sz="1350" b="1">
                <a:solidFill>
                  <a:srgbClr val="101010"/>
                </a:solidFill>
                <a:latin typeface="Helvetica Neue"/>
                <a:ea typeface="Helvetica Neue"/>
                <a:cs typeface="Helvetica Neue"/>
              </a:rPr>
              <a:t>GO-LIVE ACCEPTANCE</a:t>
            </a:r>
          </a:p>
        </p:txBody>
      </p:sp>
      <p:sp>
        <p:nvSpPr>
          <p:cNvPr id="18" name="">
            <a:extLst xmlns:a="http://schemas.openxmlformats.org/drawingml/2006/main">
              <a:ext uri="{FF2B5EF4-FFF2-40B4-BE49-F238E27FC236}">
                <a16:creationId xmlns:a16="http://schemas.microsoft.com/office/drawing/2014/main" id="{1DC1A1AA-6337-4A7B-8F14-BCFAFF6FD69B}"/>
              </a:ext>
            </a:extLst>
          </p:cNvPr>
          <p:cNvSpPr>
            <a:spLocks xmlns:a="http://schemas.openxmlformats.org/drawingml/2006/main" noGrp="1"/>
          </p:cNvSpPr>
          <p:nvPr/>
        </p:nvSpPr>
        <p:spPr>
          <a:xfrm xmlns:a="http://schemas.openxmlformats.org/drawingml/2006/main">
            <a:off x="400050" y="4705350"/>
            <a:ext cx="20764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D9D9D5"/>
            </a:solidFill>
            <a:prstDash val="solid"/>
          </a:ln>
        </p:spPr>
      </p:sp>
      <p:sp>
        <p:nvSpPr>
          <p:cNvPr id="19" name="">
            <a:extLst xmlns:a="http://schemas.openxmlformats.org/drawingml/2006/main">
              <a:ext uri="{FF2B5EF4-FFF2-40B4-BE49-F238E27FC236}">
                <a16:creationId xmlns:a16="http://schemas.microsoft.com/office/drawing/2014/main" id="{2F80A3A1-68BB-4F4C-BCF9-8066B7B69008}"/>
              </a:ext>
            </a:extLst>
          </p:cNvPr>
          <p:cNvSpPr>
            <a:spLocks xmlns:a="http://schemas.openxmlformats.org/drawingml/2006/main" noGrp="1"/>
          </p:cNvSpPr>
          <p:nvPr/>
        </p:nvSpPr>
        <p:spPr>
          <a:xfrm xmlns:a="http://schemas.openxmlformats.org/drawingml/2006/main">
            <a:off x="552450" y="487680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3852"/>
          </a:bodyPr>
          <a:lstStyle xmlns:a="http://schemas.openxmlformats.org/drawingml/2006/main"/>
          <a:p xmlns:a="http://schemas.openxmlformats.org/drawingml/2006/main">
            <a:pPr algn="l">
              <a:defRPr sz="1500" b="1">
                <a:solidFill>
                  <a:srgbClr val="101010"/>
                </a:solidFill>
                <a:latin typeface="Helvetica Neue"/>
                <a:ea typeface="Helvetica Neue"/>
                <a:cs typeface="Helvetica Neue"/>
              </a:defRPr>
            </a:pPr>
            <a:r>
              <a:rPr sz="1500" b="1">
                <a:solidFill>
                  <a:srgbClr val="101010"/>
                </a:solidFill>
                <a:latin typeface="Helvetica Neue"/>
                <a:ea typeface="Helvetica Neue"/>
                <a:cs typeface="Helvetica Neue"/>
              </a:rPr>
              <a:t>✓</a:t>
            </a:r>
          </a:p>
        </p:txBody>
      </p:sp>
      <p:sp>
        <p:nvSpPr>
          <p:cNvPr id="20" name="">
            <a:extLst xmlns:a="http://schemas.openxmlformats.org/drawingml/2006/main">
              <a:ext uri="{FF2B5EF4-FFF2-40B4-BE49-F238E27FC236}">
                <a16:creationId xmlns:a16="http://schemas.microsoft.com/office/drawing/2014/main" id="{E9F20D24-89D8-45C7-8AFD-B61BD7419E3E}"/>
              </a:ext>
            </a:extLst>
          </p:cNvPr>
          <p:cNvSpPr>
            <a:spLocks xmlns:a="http://schemas.openxmlformats.org/drawingml/2006/main" noGrp="1"/>
          </p:cNvSpPr>
          <p:nvPr/>
        </p:nvSpPr>
        <p:spPr>
          <a:xfrm xmlns:a="http://schemas.openxmlformats.org/drawingml/2006/main">
            <a:off x="876300" y="4819650"/>
            <a:ext cx="146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p xmlns:a="http://schemas.openxmlformats.org/drawingml/2006/main">
            <a:pPr algn="l">
              <a:defRPr sz="1050" b="1">
                <a:solidFill>
                  <a:srgbClr val="626262"/>
                </a:solidFill>
                <a:latin typeface="Helvetica Neue"/>
                <a:ea typeface="Helvetica Neue"/>
                <a:cs typeface="Helvetica Neue"/>
              </a:defRPr>
            </a:pPr>
            <a:r>
              <a:rPr sz="1050" b="1">
                <a:solidFill>
                  <a:srgbClr val="626262"/>
                </a:solidFill>
                <a:latin typeface="Helvetica Neue"/>
                <a:ea typeface="Helvetica Neue"/>
                <a:cs typeface="Helvetica Neue"/>
              </a:rPr>
              <a:t>Production database + migrations</a:t>
            </a:r>
          </a:p>
        </p:txBody>
      </p:sp>
      <p:sp>
        <p:nvSpPr>
          <p:cNvPr id="21" name="">
            <a:extLst xmlns:a="http://schemas.openxmlformats.org/drawingml/2006/main">
              <a:ext uri="{FF2B5EF4-FFF2-40B4-BE49-F238E27FC236}">
                <a16:creationId xmlns:a16="http://schemas.microsoft.com/office/drawing/2014/main" id="{FB7E3802-332E-4DD5-AE54-796C31455309}"/>
              </a:ext>
            </a:extLst>
          </p:cNvPr>
          <p:cNvSpPr>
            <a:spLocks xmlns:a="http://schemas.openxmlformats.org/drawingml/2006/main" noGrp="1"/>
          </p:cNvSpPr>
          <p:nvPr/>
        </p:nvSpPr>
        <p:spPr>
          <a:xfrm xmlns:a="http://schemas.openxmlformats.org/drawingml/2006/main">
            <a:off x="2676525" y="4705350"/>
            <a:ext cx="20764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D9D9D5"/>
            </a:solidFill>
            <a:prstDash val="solid"/>
          </a:ln>
        </p:spPr>
      </p:sp>
      <p:sp>
        <p:nvSpPr>
          <p:cNvPr id="22" name="">
            <a:extLst xmlns:a="http://schemas.openxmlformats.org/drawingml/2006/main">
              <a:ext uri="{FF2B5EF4-FFF2-40B4-BE49-F238E27FC236}">
                <a16:creationId xmlns:a16="http://schemas.microsoft.com/office/drawing/2014/main" id="{A3150712-EB82-46C9-8B77-A4A265A548FB}"/>
              </a:ext>
            </a:extLst>
          </p:cNvPr>
          <p:cNvSpPr>
            <a:spLocks xmlns:a="http://schemas.openxmlformats.org/drawingml/2006/main" noGrp="1"/>
          </p:cNvSpPr>
          <p:nvPr/>
        </p:nvSpPr>
        <p:spPr>
          <a:xfrm xmlns:a="http://schemas.openxmlformats.org/drawingml/2006/main">
            <a:off x="2828925" y="487680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3852"/>
          </a:bodyPr>
          <a:lstStyle xmlns:a="http://schemas.openxmlformats.org/drawingml/2006/main"/>
          <a:p xmlns:a="http://schemas.openxmlformats.org/drawingml/2006/main">
            <a:pPr algn="l">
              <a:defRPr sz="1500" b="1">
                <a:solidFill>
                  <a:srgbClr val="101010"/>
                </a:solidFill>
                <a:latin typeface="Helvetica Neue"/>
                <a:ea typeface="Helvetica Neue"/>
                <a:cs typeface="Helvetica Neue"/>
              </a:defRPr>
            </a:pPr>
            <a:r>
              <a:rPr sz="1500" b="1">
                <a:solidFill>
                  <a:srgbClr val="101010"/>
                </a:solidFill>
                <a:latin typeface="Helvetica Neue"/>
                <a:ea typeface="Helvetica Neue"/>
                <a:cs typeface="Helvetica Neue"/>
              </a:rPr>
              <a:t>✓</a:t>
            </a:r>
          </a:p>
        </p:txBody>
      </p:sp>
      <p:sp>
        <p:nvSpPr>
          <p:cNvPr id="23" name="">
            <a:extLst xmlns:a="http://schemas.openxmlformats.org/drawingml/2006/main">
              <a:ext uri="{FF2B5EF4-FFF2-40B4-BE49-F238E27FC236}">
                <a16:creationId xmlns:a16="http://schemas.microsoft.com/office/drawing/2014/main" id="{42E27C90-3B54-4B9C-B1CE-BA77BE49E260}"/>
              </a:ext>
            </a:extLst>
          </p:cNvPr>
          <p:cNvSpPr>
            <a:spLocks xmlns:a="http://schemas.openxmlformats.org/drawingml/2006/main" noGrp="1"/>
          </p:cNvSpPr>
          <p:nvPr/>
        </p:nvSpPr>
        <p:spPr>
          <a:xfrm xmlns:a="http://schemas.openxmlformats.org/drawingml/2006/main">
            <a:off x="3152775" y="4819650"/>
            <a:ext cx="146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p xmlns:a="http://schemas.openxmlformats.org/drawingml/2006/main">
            <a:pPr algn="l">
              <a:defRPr sz="1050" b="1">
                <a:solidFill>
                  <a:srgbClr val="626262"/>
                </a:solidFill>
                <a:latin typeface="Helvetica Neue"/>
                <a:ea typeface="Helvetica Neue"/>
                <a:cs typeface="Helvetica Neue"/>
              </a:defRPr>
            </a:pPr>
            <a:r>
              <a:rPr sz="1050" b="1">
                <a:solidFill>
                  <a:srgbClr val="626262"/>
                </a:solidFill>
                <a:latin typeface="Helvetica Neue"/>
                <a:ea typeface="Helvetica Neue"/>
                <a:cs typeface="Helvetica Neue"/>
              </a:rPr>
              <a:t>Real admin hash and secrets</a:t>
            </a:r>
          </a:p>
        </p:txBody>
      </p:sp>
      <p:sp>
        <p:nvSpPr>
          <p:cNvPr id="24" name="">
            <a:extLst xmlns:a="http://schemas.openxmlformats.org/drawingml/2006/main">
              <a:ext uri="{FF2B5EF4-FFF2-40B4-BE49-F238E27FC236}">
                <a16:creationId xmlns:a16="http://schemas.microsoft.com/office/drawing/2014/main" id="{A6888FA3-D134-41E4-8B0E-637E127340FF}"/>
              </a:ext>
            </a:extLst>
          </p:cNvPr>
          <p:cNvSpPr>
            <a:spLocks xmlns:a="http://schemas.openxmlformats.org/drawingml/2006/main" noGrp="1"/>
          </p:cNvSpPr>
          <p:nvPr/>
        </p:nvSpPr>
        <p:spPr>
          <a:xfrm xmlns:a="http://schemas.openxmlformats.org/drawingml/2006/main">
            <a:off x="4953000" y="4705350"/>
            <a:ext cx="20764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D9D9D5"/>
            </a:solidFill>
            <a:prstDash val="solid"/>
          </a:ln>
        </p:spPr>
      </p:sp>
      <p:sp>
        <p:nvSpPr>
          <p:cNvPr id="25" name="">
            <a:extLst xmlns:a="http://schemas.openxmlformats.org/drawingml/2006/main">
              <a:ext uri="{FF2B5EF4-FFF2-40B4-BE49-F238E27FC236}">
                <a16:creationId xmlns:a16="http://schemas.microsoft.com/office/drawing/2014/main" id="{E9C63D96-1102-486B-AC6C-70243B84C622}"/>
              </a:ext>
            </a:extLst>
          </p:cNvPr>
          <p:cNvSpPr>
            <a:spLocks xmlns:a="http://schemas.openxmlformats.org/drawingml/2006/main" noGrp="1"/>
          </p:cNvSpPr>
          <p:nvPr/>
        </p:nvSpPr>
        <p:spPr>
          <a:xfrm xmlns:a="http://schemas.openxmlformats.org/drawingml/2006/main">
            <a:off x="5105400" y="487680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3852"/>
          </a:bodyPr>
          <a:lstStyle xmlns:a="http://schemas.openxmlformats.org/drawingml/2006/main"/>
          <a:p xmlns:a="http://schemas.openxmlformats.org/drawingml/2006/main">
            <a:pPr algn="l">
              <a:defRPr sz="1500" b="1">
                <a:solidFill>
                  <a:srgbClr val="101010"/>
                </a:solidFill>
                <a:latin typeface="Helvetica Neue"/>
                <a:ea typeface="Helvetica Neue"/>
                <a:cs typeface="Helvetica Neue"/>
              </a:defRPr>
            </a:pPr>
            <a:r>
              <a:rPr sz="1500" b="1">
                <a:solidFill>
                  <a:srgbClr val="101010"/>
                </a:solidFill>
                <a:latin typeface="Helvetica Neue"/>
                <a:ea typeface="Helvetica Neue"/>
                <a:cs typeface="Helvetica Neue"/>
              </a:rPr>
              <a:t>✓</a:t>
            </a:r>
          </a:p>
        </p:txBody>
      </p:sp>
      <p:sp>
        <p:nvSpPr>
          <p:cNvPr id="26" name="">
            <a:extLst xmlns:a="http://schemas.openxmlformats.org/drawingml/2006/main">
              <a:ext uri="{FF2B5EF4-FFF2-40B4-BE49-F238E27FC236}">
                <a16:creationId xmlns:a16="http://schemas.microsoft.com/office/drawing/2014/main" id="{22160335-D992-450D-B544-994E433A4187}"/>
              </a:ext>
            </a:extLst>
          </p:cNvPr>
          <p:cNvSpPr>
            <a:spLocks xmlns:a="http://schemas.openxmlformats.org/drawingml/2006/main" noGrp="1"/>
          </p:cNvSpPr>
          <p:nvPr/>
        </p:nvSpPr>
        <p:spPr>
          <a:xfrm xmlns:a="http://schemas.openxmlformats.org/drawingml/2006/main">
            <a:off x="5429250" y="4819650"/>
            <a:ext cx="146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p xmlns:a="http://schemas.openxmlformats.org/drawingml/2006/main">
            <a:pPr algn="l">
              <a:defRPr sz="1050" b="1">
                <a:solidFill>
                  <a:srgbClr val="626262"/>
                </a:solidFill>
                <a:latin typeface="Helvetica Neue"/>
                <a:ea typeface="Helvetica Neue"/>
                <a:cs typeface="Helvetica Neue"/>
              </a:defRPr>
            </a:pPr>
            <a:r>
              <a:rPr sz="1050" b="1">
                <a:solidFill>
                  <a:srgbClr val="626262"/>
                </a:solidFill>
                <a:latin typeface="Helvetica Neue"/>
                <a:ea typeface="Helvetica Neue"/>
                <a:cs typeface="Helvetica Neue"/>
              </a:rPr>
              <a:t>Telegram / n8n credentials</a:t>
            </a:r>
          </a:p>
        </p:txBody>
      </p:sp>
      <p:sp>
        <p:nvSpPr>
          <p:cNvPr id="27" name="">
            <a:extLst xmlns:a="http://schemas.openxmlformats.org/drawingml/2006/main">
              <a:ext uri="{FF2B5EF4-FFF2-40B4-BE49-F238E27FC236}">
                <a16:creationId xmlns:a16="http://schemas.microsoft.com/office/drawing/2014/main" id="{7DF3E361-1EDA-463D-BC01-F8E1EBC060E7}"/>
              </a:ext>
            </a:extLst>
          </p:cNvPr>
          <p:cNvSpPr>
            <a:spLocks xmlns:a="http://schemas.openxmlformats.org/drawingml/2006/main" noGrp="1"/>
          </p:cNvSpPr>
          <p:nvPr/>
        </p:nvSpPr>
        <p:spPr>
          <a:xfrm xmlns:a="http://schemas.openxmlformats.org/drawingml/2006/main">
            <a:off x="7229475" y="4705350"/>
            <a:ext cx="207645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9525">
            <a:solidFill>
              <a:srgbClr val="D9D9D5"/>
            </a:solidFill>
            <a:prstDash val="solid"/>
          </a:ln>
        </p:spPr>
      </p:sp>
      <p:sp>
        <p:nvSpPr>
          <p:cNvPr id="28" name="">
            <a:extLst xmlns:a="http://schemas.openxmlformats.org/drawingml/2006/main">
              <a:ext uri="{FF2B5EF4-FFF2-40B4-BE49-F238E27FC236}">
                <a16:creationId xmlns:a16="http://schemas.microsoft.com/office/drawing/2014/main" id="{3FDC2CC1-6A40-49D2-A10F-04DAAA7571BD}"/>
              </a:ext>
            </a:extLst>
          </p:cNvPr>
          <p:cNvSpPr>
            <a:spLocks xmlns:a="http://schemas.openxmlformats.org/drawingml/2006/main" noGrp="1"/>
          </p:cNvSpPr>
          <p:nvPr/>
        </p:nvSpPr>
        <p:spPr>
          <a:xfrm xmlns:a="http://schemas.openxmlformats.org/drawingml/2006/main">
            <a:off x="7381875" y="487680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3852"/>
          </a:bodyPr>
          <a:lstStyle xmlns:a="http://schemas.openxmlformats.org/drawingml/2006/main"/>
          <a:p xmlns:a="http://schemas.openxmlformats.org/drawingml/2006/main">
            <a:pPr algn="l">
              <a:defRPr sz="1500" b="1">
                <a:solidFill>
                  <a:srgbClr val="101010"/>
                </a:solidFill>
                <a:latin typeface="Helvetica Neue"/>
                <a:ea typeface="Helvetica Neue"/>
                <a:cs typeface="Helvetica Neue"/>
              </a:defRPr>
            </a:pPr>
            <a:r>
              <a:rPr sz="1500" b="1">
                <a:solidFill>
                  <a:srgbClr val="101010"/>
                </a:solidFill>
                <a:latin typeface="Helvetica Neue"/>
                <a:ea typeface="Helvetica Neue"/>
                <a:cs typeface="Helvetica Neue"/>
              </a:rPr>
              <a:t>✓</a:t>
            </a:r>
          </a:p>
        </p:txBody>
      </p:sp>
      <p:sp>
        <p:nvSpPr>
          <p:cNvPr id="29" name="">
            <a:extLst xmlns:a="http://schemas.openxmlformats.org/drawingml/2006/main">
              <a:ext uri="{FF2B5EF4-FFF2-40B4-BE49-F238E27FC236}">
                <a16:creationId xmlns:a16="http://schemas.microsoft.com/office/drawing/2014/main" id="{5BEDEAF1-E898-4133-9845-0B9C34738290}"/>
              </a:ext>
            </a:extLst>
          </p:cNvPr>
          <p:cNvSpPr>
            <a:spLocks xmlns:a="http://schemas.openxmlformats.org/drawingml/2006/main" noGrp="1"/>
          </p:cNvSpPr>
          <p:nvPr/>
        </p:nvSpPr>
        <p:spPr>
          <a:xfrm xmlns:a="http://schemas.openxmlformats.org/drawingml/2006/main">
            <a:off x="7705725" y="4819650"/>
            <a:ext cx="146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p xmlns:a="http://schemas.openxmlformats.org/drawingml/2006/main">
            <a:pPr algn="l">
              <a:defRPr sz="1050" b="1">
                <a:solidFill>
                  <a:srgbClr val="626262"/>
                </a:solidFill>
                <a:latin typeface="Helvetica Neue"/>
                <a:ea typeface="Helvetica Neue"/>
                <a:cs typeface="Helvetica Neue"/>
              </a:defRPr>
            </a:pPr>
            <a:r>
              <a:rPr sz="1050" b="1">
                <a:solidFill>
                  <a:srgbClr val="626262"/>
                </a:solidFill>
                <a:latin typeface="Helvetica Neue"/>
                <a:ea typeface="Helvetica Neue"/>
                <a:cs typeface="Helvetica Neue"/>
              </a:rPr>
              <a:t>Backup and retention policy</a:t>
            </a:r>
          </a:p>
        </p:txBody>
      </p:sp>
      <p:sp>
        <p:nvSpPr>
          <p:cNvPr id="30" name="">
            <a:extLst xmlns:a="http://schemas.openxmlformats.org/drawingml/2006/main">
              <a:ext uri="{FF2B5EF4-FFF2-40B4-BE49-F238E27FC236}">
                <a16:creationId xmlns:a16="http://schemas.microsoft.com/office/drawing/2014/main" id="{E5D45590-2DBD-4BC9-8D83-500B051841F8}"/>
              </a:ext>
            </a:extLst>
          </p:cNvPr>
          <p:cNvSpPr>
            <a:spLocks xmlns:a="http://schemas.openxmlformats.org/drawingml/2006/main" noGrp="1"/>
          </p:cNvSpPr>
          <p:nvPr/>
        </p:nvSpPr>
        <p:spPr>
          <a:xfrm xmlns:a="http://schemas.openxmlformats.org/drawingml/2006/main">
            <a:off x="9505950" y="4705350"/>
            <a:ext cx="2076450" cy="666750"/>
          </a:xfrm>
          <a:prstGeom xmlns:a="http://schemas.openxmlformats.org/drawingml/2006/main" prst="roundRect">
            <a:avLst>
              <a:gd name="adj" fmla="val 17143"/>
            </a:avLst>
          </a:prstGeom>
          <a:solidFill xmlns:a="http://schemas.openxmlformats.org/drawingml/2006/main">
            <a:srgbClr val="EFF8DD"/>
          </a:solidFill>
          <a:ln xmlns:a="http://schemas.openxmlformats.org/drawingml/2006/main" w="9525">
            <a:solidFill>
              <a:srgbClr val="D2E8A9"/>
            </a:solidFill>
            <a:prstDash val="solid"/>
          </a:ln>
        </p:spPr>
      </p:sp>
      <p:sp>
        <p:nvSpPr>
          <p:cNvPr id="31" name="">
            <a:extLst xmlns:a="http://schemas.openxmlformats.org/drawingml/2006/main">
              <a:ext uri="{FF2B5EF4-FFF2-40B4-BE49-F238E27FC236}">
                <a16:creationId xmlns:a16="http://schemas.microsoft.com/office/drawing/2014/main" id="{F4B0C2C0-D164-45AE-AE84-EE03854DDF0A}"/>
              </a:ext>
            </a:extLst>
          </p:cNvPr>
          <p:cNvSpPr>
            <a:spLocks xmlns:a="http://schemas.openxmlformats.org/drawingml/2006/main" noGrp="1"/>
          </p:cNvSpPr>
          <p:nvPr/>
        </p:nvSpPr>
        <p:spPr>
          <a:xfrm xmlns:a="http://schemas.openxmlformats.org/drawingml/2006/main">
            <a:off x="9658350" y="4876800"/>
            <a:ext cx="247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43852"/>
          </a:bodyPr>
          <a:lstStyle xmlns:a="http://schemas.openxmlformats.org/drawingml/2006/main"/>
          <a:p xmlns:a="http://schemas.openxmlformats.org/drawingml/2006/main">
            <a:pPr algn="l">
              <a:defRPr sz="1500" b="1">
                <a:solidFill>
                  <a:srgbClr val="2E7D32"/>
                </a:solidFill>
                <a:latin typeface="Helvetica Neue"/>
                <a:ea typeface="Helvetica Neue"/>
                <a:cs typeface="Helvetica Neue"/>
              </a:defRPr>
            </a:pPr>
            <a:r>
              <a:rPr sz="1500" b="1">
                <a:solidFill>
                  <a:srgbClr val="2E7D32"/>
                </a:solidFill>
                <a:latin typeface="Helvetica Neue"/>
                <a:ea typeface="Helvetica Neue"/>
                <a:cs typeface="Helvetica Neue"/>
              </a:rPr>
              <a:t>✓</a:t>
            </a:r>
          </a:p>
        </p:txBody>
      </p:sp>
      <p:sp>
        <p:nvSpPr>
          <p:cNvPr id="32" name="">
            <a:extLst xmlns:a="http://schemas.openxmlformats.org/drawingml/2006/main">
              <a:ext uri="{FF2B5EF4-FFF2-40B4-BE49-F238E27FC236}">
                <a16:creationId xmlns:a16="http://schemas.microsoft.com/office/drawing/2014/main" id="{1EBCEA03-BA94-44D6-9DD6-648393789AE8}"/>
              </a:ext>
            </a:extLst>
          </p:cNvPr>
          <p:cNvSpPr>
            <a:spLocks xmlns:a="http://schemas.openxmlformats.org/drawingml/2006/main" noGrp="1"/>
          </p:cNvSpPr>
          <p:nvPr/>
        </p:nvSpPr>
        <p:spPr>
          <a:xfrm xmlns:a="http://schemas.openxmlformats.org/drawingml/2006/main">
            <a:off x="9982200" y="4819650"/>
            <a:ext cx="14668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96428"/>
          </a:bodyPr>
          <a:lstStyle xmlns:a="http://schemas.openxmlformats.org/drawingml/2006/main"/>
          <a:p xmlns:a="http://schemas.openxmlformats.org/drawingml/2006/main">
            <a:pPr algn="l">
              <a:defRPr sz="1050" b="1">
                <a:solidFill>
                  <a:srgbClr val="626262"/>
                </a:solidFill>
                <a:latin typeface="Helvetica Neue"/>
                <a:ea typeface="Helvetica Neue"/>
                <a:cs typeface="Helvetica Neue"/>
              </a:defRPr>
            </a:pPr>
            <a:r>
              <a:rPr sz="1050" b="1">
                <a:solidFill>
                  <a:srgbClr val="626262"/>
                </a:solidFill>
                <a:latin typeface="Helvetica Neue"/>
                <a:ea typeface="Helvetica Neue"/>
                <a:cs typeface="Helvetica Neue"/>
              </a:rPr>
              <a:t>End-to-end acceptance test</a:t>
            </a:r>
          </a:p>
        </p:txBody>
      </p:sp>
      <p:sp>
        <p:nvSpPr>
          <p:cNvPr id="33" name="">
            <a:extLst xmlns:a="http://schemas.openxmlformats.org/drawingml/2006/main">
              <a:ext uri="{FF2B5EF4-FFF2-40B4-BE49-F238E27FC236}">
                <a16:creationId xmlns:a16="http://schemas.microsoft.com/office/drawing/2014/main" id="{CE118E31-F483-48B5-9150-0C503A1D57AA}"/>
              </a:ext>
            </a:extLst>
          </p:cNvPr>
          <p:cNvSpPr>
            <a:spLocks xmlns:a="http://schemas.openxmlformats.org/drawingml/2006/main" noGrp="1"/>
          </p:cNvSpPr>
          <p:nvPr/>
        </p:nvSpPr>
        <p:spPr>
          <a:xfrm xmlns:a="http://schemas.openxmlformats.org/drawingml/2006/main">
            <a:off x="400050" y="5810250"/>
            <a:ext cx="1095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normAutofit fontScale="76667"/>
          </a:bodyPr>
          <a:lstStyle xmlns:a="http://schemas.openxmlformats.org/drawingml/2006/main"/>
          <a:p xmlns:a="http://schemas.openxmlformats.org/drawingml/2006/main">
            <a:pPr algn="l">
              <a:defRPr sz="1500" b="1">
                <a:solidFill>
                  <a:srgbClr val="101010"/>
                </a:solidFill>
                <a:latin typeface="Helvetica Neue"/>
                <a:ea typeface="Helvetica Neue"/>
                <a:cs typeface="Helvetica Neue"/>
              </a:defRPr>
            </a:pPr>
            <a:r>
              <a:rPr sz="1500" b="1">
                <a:solidFill>
                  <a:srgbClr val="101010"/>
                </a:solidFill>
                <a:latin typeface="Helvetica Neue"/>
                <a:ea typeface="Helvetica Neue"/>
                <a:cs typeface="Helvetica Neue"/>
              </a:rPr>
              <a:t>Outcome: MH OP can operate sales, stock, customer service and finance from one controlled workflow.</a:t>
            </a:r>
          </a:p>
        </p:txBody>
      </p:sp>
    </p:spTree>
    <p:extLst>
      <p:ext uri="{BB962C8B-B14F-4D97-AF65-F5344CB8AC3E}">
        <p14:creationId xmlns:p14="http://schemas.microsoft.com/office/powerpoint/2010/main" val="21261072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2026-09-01T06:15:32.5280000Z</dcterms:created>
  <dcterms:modified xsi:type="dcterms:W3CDTF">2026-09-01T06:15:32.5280000Z</dcterms:modified>
</coreProperties>
</file>